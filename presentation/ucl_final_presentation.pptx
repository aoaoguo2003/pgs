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Good morning. I am Aoao Guo, and this is my project with Robin Freeman on identifying individual Humboldt penguins at ZSL London Zoo from photographs.
The archive I was given is 2,307 photographs of 81 birds, taken by volunteers across 335 separate photographic occasions.
The talk has a turn in it. I built a system that looked excellent, discovered it was measuring the wrong thing, rebuilt the evaluation, and ended up with a much smaller number and a much more useful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[0:40-1:30]  Identification is the foundation of colony management. Right now it is done with coloured flipper bands, read off a chart like the one on the right.
Two problems. Bands get obscured — by posture, by another bird, by the angle you happen to be standing at. And attached markers are not free: a ten-year study on king penguins found banded birds had lower survival and lower breeding success than electronically tagged controls.
Meanwhile the penguins already carry an identifier — the spot pattern on the belly. African penguins use those patterns to recognise each other. So the question is whether a camera can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[1:30-2:15]  Here is the raw material. 2,307 photographs of 81 birds — but look at the shape of it. One bird has 291 photographs; the tail has one each. An eighteen-fold spread across even the birds I could use.
This was never collected as an experiment. Volunteers photographed the penguins during husbandry, whenever it was convenient. Two inclusion thresholds — sixteen photographs, and three separate capture sessions — leave the 35 individuals and 1,743 photographs behind every number I am about to show you.
Hold on to one word from that sentence: session. It is going to matter more than anything else in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[2:15-3:05]  The system is retrieval, not classification. A photograph becomes a 512-dimensional vector from a ResNet18. That vector is compared by cosine similarity against one prototype per enrolled individual, held in a FAISS index. If the best score clears the threshold you get a name and a ranked shortlist; if it does not, you get "I don't know".
Two properties made me choose retrieval, and both paid off. First, enrolment without retraining — Smew and Skunk are searchable in the deployed gallery even though no model ever trained on them. Second, a classifier is structurally incapable of refusing: softmax must distribute probability over the names it has, so it will name something no matter what walks past.
That refusal mechanism turns out to matter enormously, and I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[3:05-3:30]  This is where the project nearly ended.
A ResNet18 classifier over 44 individuals scored 0.950 on its test set. The retrieval version scored 0.959. On a random split, with a conventional protocol, I had a finished system.
I did not believe it. Ninety-five per cent on hand-held zoo snapshots of birds that look, frankly, extremely similar, is not a number you should accept without asking what is in the test set.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[3:30-4:35]  Here is what was in it. The archive is full of camera bursts — seven consecutive frames from one moment, one angle, one light. A random split scatters those frames across training and test.
The audit used signals independent of the model: perceptual hash, pixel correlation, EXIF timestamps, frame numbers. Ninety-eight per cent of test photographs shared a capture session with a gallery photograph. Fourteen per cent had an outright near-duplicate. Nearly a third of the EXIF-stamped ones were within one second of their nearest training image.
So I re-split by whole session and retrained from scratch — same birds, same photographs, same per-bird counts, same recipe. Only the splitting rule changed.
0.920 became 0.389. An inflation of 0.53. The original number was not measuring identification; it was measuring whether two frames came from the same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[4:35-5:20]  So I rebuilt the evaluation around four rules.
One: the independent unit is the encounter, not the file. A session is one photographic occasion — recovered from filename prefixes and frame-number gaps, checked against EXIF. 335 of them across the colony.
Two: sessions get dealt into folds, never photographs. Five-fold cross-validation, so every one of the 1,743 photographs is tested exactly once by a model that never saw its session. Under a single split I could only test 261, and three birds were judged on a single photograph each.
Three: macro averaging. Medici's 291 photographs count exactly as much as Beau's nineteen — otherwise you are measuring which penguin gets photographed.
Four: confidence intervals resample sessions, not photographs, because photographs inside a burst are near-duplicates. Fixed epochs, no early stopping, no checkpoint selection.
All of it fixed before any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[5:20-6:05]  With an honest protocol, what actually helps? I ran the full two-by-two — softmax against ArcFace, basic against strong augmentation — so each change could be attributed rather than confounded.
Strong augmentation on its own is worth +0.141. ArcFace on its own +0.096. Augmentation, not metric learning, is the bigger lever — which is the opposite of what my earlier single-split reading suggested, and it is a useful correction.
They are sub-additive: once you have strong augmentation, ArcFace adds only +0.029, and that interval includes zero.
But look at the right panel. Against all 81 colony members the two lines stay apart — ArcFace still adds +0.116. Metric learning shapes the geometry of the whole embedding rather than the top-one decision, so it earns its keep exactly as the gallery grows. Which is the regime a real colony is in.
Best configuration: 0.559.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[6:05-6:55]  Two things 0.559 does not tell you.
First, how big is the line-up? That figure assumes 35 candidates. Add the other 46 colony members as distractors and it drops to 0.477. Notice ArcFace degrades least here — that is the same effect as the previous slide.
Second, and this is the one that matters: what if the bird in front of the camera is not enrolled at all? In use the system is asked about strangers constantly and must refuse them rather than pick the nearest name.
I used 564 photographs of 46 birds no model had ever trained on. At the threshold where real strangers are refused 99 times in 100, the system correctly names 0.123 of enrolled birds. Closed-set 0.559 becomes 0.123.
And an earlier version of this analysis simulated strangers by hiding a bird's own prototype. That claimed 0.230 — an 87% overestimate, because the bird had been in training and pushed away from every other identity. Realistic evaluation of unknowns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[6:55-7:45]  This is the finding I care most about.
Nicki: 53 photographs, three capture sessions, identified correctly 19% of the time. Gonzo: 52 photographs, thirteen sessions, 83%. Almost the same number of files. Four times the accuracy.
That is not a coincidence. Group the birds by session count and you get 0.186, 0.618, 0.717. And because session count and photograph count are themselves correlated, I separated them with partial correlations: controlling for photograph count, sessions still predict accuracy at rho 0.52, p equals 0.002. Controlling for sessions, photograph count does not predict anything — p equals 0.20.
Extra frames from an existing burst add nothing. A photograph on a new day, in new light, adds a great deal.
And metric learning cannot fix it: the three-session birds go from 0.081 to 0.186 and stay unusable. That gap needs a camera, not a loss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[7:45-8:25]  Which turns the result into a collection instruction.
The contrast between the three-session and four-to-six-session groups supports a provisional target of at least four separate capture occasions per bird. Provisional — I pooled four, five and six, and I did not assign sampling effort experimentally. It is a starting point for prospective validation.
Applied to the whole colony: 28 of 81 birds already reach four sessions. 53 do not. Closing that needs 116 further individual capture encounters — about eight outings at fifteen birds each.
And the crucial constraint: those outings must be on different days. More frames from an existing visit do nothing. Vary the light, the distance, the angle, the social context — and record a session ID at capture, so next time session independence is observable rather than reconstructed from filenames.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[8:25-9:00]  What I am actually handing over.
Cross-validation gives an estimate, not a shippable model, so the extractor is retrained with the identical recipe on every photograph of 79 birds, and the gallery enrols all 81 individuals — including Smew and Skunk, who have one and two photographs and were never trained on. That is the retrieval design earning its keep. Acceptance threshold 0.938.
What I have not measured, and want to be explicit about: the end-to-end chain. Every number in this talk is measured on the archive as photographed — there is no detector in the identification path. And once all 81 birds are enrolled, the realistic unknown is no longer an unenrolled bird; it is a blurred photograph, or a back, or something that is not a penguin. The threshold has never been calibrated for that.
Which is why the honest framing is decision support. A ranked shortlist a keeper confirms — not an identity written straight into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[9:00-9:50]  Three things to take away.
First, the methodological one, and it travels well beyond penguins. In an archive built from bursts, repeat visits or shared sampling conditions, the independent unit is the encounter, not the file. Ignoring that inflated my headline by 0.53.
Second, method and data are complementary, not alternatives. Better training took me from 0.390 to 0.559 — a real gain, worth having. But nothing in the loss function can rescue a bird photographed on three occasions. Only a camera does that.
Third, the moment the system has to say "I don't know" to a bird it has never seen, 0.559 becomes 0.123. That number, not the closed-set one, is what deployment readiness means — so it ships as a ranked suggestion for a keeper to confirm, and it says so out loud.
Thank you. The code and all the analysis are on GitHub,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C4A"/>
        </a:solidFill>
      </p:bgPr>
    </p:bg>
    <p:spTree>
      <p:nvGrpSpPr>
        <p:cNvPr id="1" name=""/>
        <p:cNvGrpSpPr/>
        <p:nvPr/>
      </p:nvGrpSpPr>
      <p:grpSpPr>
        <a:xfrm>
          <a:off x="0" y="0"/>
          <a:ext cx="0" cy="0"/>
          <a:chOff x="0" y="0"/>
          <a:chExt cx="0" cy="0"/>
        </a:xfrm>
      </p:grpSpPr>
      <p:pic>
        <p:nvPicPr>
          <p:cNvPr id="2" name="Image 0" descr="/tmp/claude-0/-home-user-pgs/4a5325c7-76e4-5bb8-8cfc-4bd4c3ab42b2/scratchpad/title_bg.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77240" y="987552"/>
            <a:ext cx="7863840" cy="274320"/>
          </a:xfrm>
          <a:prstGeom prst="rect">
            <a:avLst/>
          </a:prstGeom>
          <a:noFill/>
          <a:ln/>
        </p:spPr>
        <p:txBody>
          <a:bodyPr wrap="square" lIns="0" tIns="0" rIns="0" bIns="0" rtlCol="0" anchor="ctr"/>
          <a:lstStyle/>
          <a:p>
            <a:pPr indent="0" marL="0">
              <a:buNone/>
            </a:pPr>
            <a:r>
              <a:rPr lang="en-US" sz="1250" b="1" spc="180" kern="0" dirty="0">
                <a:solidFill>
                  <a:srgbClr val="AEC8E6"/>
                </a:solidFill>
                <a:latin typeface="Calibri" pitchFamily="34" charset="0"/>
                <a:ea typeface="Calibri" pitchFamily="34" charset="-122"/>
                <a:cs typeface="Calibri" pitchFamily="34" charset="-120"/>
              </a:rPr>
              <a:t>MSc Ecology and Data Science  ·  Research Project BIOS0057  ·  UCL</a:t>
            </a:r>
            <a:endParaRPr lang="en-US" sz="1250" dirty="0"/>
          </a:p>
        </p:txBody>
      </p:sp>
      <p:sp>
        <p:nvSpPr>
          <p:cNvPr id="4" name="Text 1"/>
          <p:cNvSpPr txBox="1"/>
          <p:nvPr/>
        </p:nvSpPr>
        <p:spPr>
          <a:xfrm>
            <a:off x="777240" y="1389888"/>
            <a:ext cx="7863840" cy="1783080"/>
          </a:xfrm>
          <a:prstGeom prst="rect">
            <a:avLst/>
          </a:prstGeom>
          <a:noFill/>
          <a:ln/>
        </p:spPr>
        <p:txBody>
          <a:bodyPr wrap="square" lIns="0" tIns="0" rIns="0" bIns="0" rtlCol="0" anchor="ctr"/>
          <a:lstStyle/>
          <a:p>
            <a:pPr indent="0" marL="0">
              <a:lnSpc>
                <a:spcPts val="6200"/>
              </a:lnSpc>
              <a:buNone/>
            </a:pPr>
            <a:r>
              <a:rPr lang="en-US" sz="5800" b="1" dirty="0">
                <a:solidFill>
                  <a:srgbClr val="FFFFFF"/>
                </a:solidFill>
                <a:latin typeface="Cambria" pitchFamily="34" charset="0"/>
                <a:ea typeface="Cambria" pitchFamily="34" charset="-122"/>
                <a:cs typeface="Cambria" pitchFamily="34" charset="-120"/>
              </a:rPr>
              <a:t>Which penguin</a:t>
            </a:r>
            <a:endParaRPr lang="en-US" sz="5800" dirty="0"/>
          </a:p>
          <a:p>
            <a:pPr indent="0" marL="0">
              <a:lnSpc>
                <a:spcPts val="6200"/>
              </a:lnSpc>
              <a:buNone/>
            </a:pPr>
            <a:r>
              <a:rPr lang="en-US" sz="5800" b="1" dirty="0">
                <a:solidFill>
                  <a:srgbClr val="FFFFFF"/>
                </a:solidFill>
                <a:latin typeface="Cambria" pitchFamily="34" charset="0"/>
                <a:ea typeface="Cambria" pitchFamily="34" charset="-122"/>
                <a:cs typeface="Cambria" pitchFamily="34" charset="-120"/>
              </a:rPr>
              <a:t>is this?</a:t>
            </a:r>
            <a:endParaRPr lang="en-US" sz="5800" dirty="0"/>
          </a:p>
        </p:txBody>
      </p:sp>
      <p:sp>
        <p:nvSpPr>
          <p:cNvPr id="5" name="Text 2"/>
          <p:cNvSpPr txBox="1"/>
          <p:nvPr/>
        </p:nvSpPr>
        <p:spPr>
          <a:xfrm>
            <a:off x="777240" y="3346704"/>
            <a:ext cx="7223760" cy="914400"/>
          </a:xfrm>
          <a:prstGeom prst="rect">
            <a:avLst/>
          </a:prstGeom>
          <a:noFill/>
          <a:ln/>
        </p:spPr>
        <p:txBody>
          <a:bodyPr wrap="square" lIns="0" tIns="0" rIns="0" bIns="0" rtlCol="0" anchor="t"/>
          <a:lstStyle/>
          <a:p>
            <a:pPr indent="0" marL="0">
              <a:lnSpc>
                <a:spcPts val="2700"/>
              </a:lnSpc>
              <a:buNone/>
            </a:pPr>
            <a:r>
              <a:rPr lang="en-US" sz="1900" dirty="0">
                <a:solidFill>
                  <a:srgbClr val="D6E4F5"/>
                </a:solidFill>
                <a:latin typeface="Calibri" pitchFamily="34" charset="0"/>
                <a:ea typeface="Calibri" pitchFamily="34" charset="-122"/>
                <a:cs typeface="Calibri" pitchFamily="34" charset="-120"/>
              </a:rPr>
              <a:t>Automatic identification of Humboldt penguins at ZSL London Zoo — and what an honest evaluation says it can really do.</a:t>
            </a:r>
            <a:endParaRPr lang="en-US" sz="1900" dirty="0"/>
          </a:p>
        </p:txBody>
      </p:sp>
      <p:sp>
        <p:nvSpPr>
          <p:cNvPr id="6" name="Text 3"/>
          <p:cNvSpPr txBox="1"/>
          <p:nvPr/>
        </p:nvSpPr>
        <p:spPr>
          <a:xfrm>
            <a:off x="777240" y="5138928"/>
            <a:ext cx="54864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Aoao Guo</a:t>
            </a:r>
            <a:endParaRPr lang="en-US" sz="2400" dirty="0"/>
          </a:p>
        </p:txBody>
      </p:sp>
      <p:sp>
        <p:nvSpPr>
          <p:cNvPr id="7" name="Text 4"/>
          <p:cNvSpPr txBox="1"/>
          <p:nvPr/>
        </p:nvSpPr>
        <p:spPr>
          <a:xfrm>
            <a:off x="777240" y="5541264"/>
            <a:ext cx="6858000" cy="292608"/>
          </a:xfrm>
          <a:prstGeom prst="rect">
            <a:avLst/>
          </a:prstGeom>
          <a:noFill/>
          <a:ln/>
        </p:spPr>
        <p:txBody>
          <a:bodyPr wrap="square" lIns="0" tIns="0" rIns="0" bIns="0" rtlCol="0" anchor="ctr"/>
          <a:lstStyle/>
          <a:p>
            <a:pPr indent="0" marL="0">
              <a:buNone/>
            </a:pPr>
            <a:r>
              <a:rPr lang="en-US" sz="1350" dirty="0">
                <a:solidFill>
                  <a:srgbClr val="AEC8E6"/>
                </a:solidFill>
                <a:latin typeface="Calibri" pitchFamily="34" charset="0"/>
                <a:ea typeface="Calibri" pitchFamily="34" charset="-122"/>
                <a:cs typeface="Calibri" pitchFamily="34" charset="-120"/>
              </a:rPr>
              <a:t>Supervisor: Robin Freeman  ·  Division of Biosciences, Faculty of Life Sciences</a:t>
            </a:r>
            <a:endParaRPr lang="en-US" sz="1350" dirty="0"/>
          </a:p>
        </p:txBody>
      </p:sp>
      <p:sp>
        <p:nvSpPr>
          <p:cNvPr id="8" name="Shape 5"/>
          <p:cNvSpPr/>
          <p:nvPr/>
        </p:nvSpPr>
        <p:spPr>
          <a:xfrm>
            <a:off x="9189720" y="2075688"/>
            <a:ext cx="137160" cy="137160"/>
          </a:xfrm>
          <a:prstGeom prst="ellipse">
            <a:avLst/>
          </a:prstGeom>
          <a:solidFill>
            <a:srgbClr val="EB6834"/>
          </a:solidFill>
          <a:ln/>
        </p:spPr>
      </p:sp>
      <p:sp>
        <p:nvSpPr>
          <p:cNvPr id="9" name="Text 6"/>
          <p:cNvSpPr txBox="1"/>
          <p:nvPr/>
        </p:nvSpPr>
        <p:spPr>
          <a:xfrm>
            <a:off x="9528048" y="1819656"/>
            <a:ext cx="219456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2,307</a:t>
            </a:r>
            <a:endParaRPr lang="en-US" sz="3400" dirty="0"/>
          </a:p>
        </p:txBody>
      </p:sp>
      <p:sp>
        <p:nvSpPr>
          <p:cNvPr id="10" name="Text 7"/>
          <p:cNvSpPr txBox="1"/>
          <p:nvPr/>
        </p:nvSpPr>
        <p:spPr>
          <a:xfrm>
            <a:off x="9528048" y="2368296"/>
            <a:ext cx="2194560" cy="274320"/>
          </a:xfrm>
          <a:prstGeom prst="rect">
            <a:avLst/>
          </a:prstGeom>
          <a:noFill/>
          <a:ln/>
        </p:spPr>
        <p:txBody>
          <a:bodyPr wrap="square" lIns="0" tIns="0" rIns="0" bIns="0" rtlCol="0" anchor="ctr"/>
          <a:lstStyle/>
          <a:p>
            <a:pPr indent="0" marL="0">
              <a:buNone/>
            </a:pPr>
            <a:r>
              <a:rPr lang="en-US" sz="1250" dirty="0">
                <a:solidFill>
                  <a:srgbClr val="AEC8E6"/>
                </a:solidFill>
                <a:latin typeface="Calibri" pitchFamily="34" charset="0"/>
                <a:ea typeface="Calibri" pitchFamily="34" charset="-122"/>
                <a:cs typeface="Calibri" pitchFamily="34" charset="-120"/>
              </a:rPr>
              <a:t>photographs</a:t>
            </a:r>
            <a:endParaRPr lang="en-US" sz="1250" dirty="0"/>
          </a:p>
        </p:txBody>
      </p:sp>
      <p:sp>
        <p:nvSpPr>
          <p:cNvPr id="11" name="Shape 8"/>
          <p:cNvSpPr/>
          <p:nvPr/>
        </p:nvSpPr>
        <p:spPr>
          <a:xfrm>
            <a:off x="9189720" y="3218688"/>
            <a:ext cx="137160" cy="137160"/>
          </a:xfrm>
          <a:prstGeom prst="ellipse">
            <a:avLst/>
          </a:prstGeom>
          <a:solidFill>
            <a:srgbClr val="EB6834"/>
          </a:solidFill>
          <a:ln/>
        </p:spPr>
      </p:sp>
      <p:sp>
        <p:nvSpPr>
          <p:cNvPr id="12" name="Text 9"/>
          <p:cNvSpPr txBox="1"/>
          <p:nvPr/>
        </p:nvSpPr>
        <p:spPr>
          <a:xfrm>
            <a:off x="9528048" y="2962656"/>
            <a:ext cx="219456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81</a:t>
            </a:r>
            <a:endParaRPr lang="en-US" sz="3400" dirty="0"/>
          </a:p>
        </p:txBody>
      </p:sp>
      <p:sp>
        <p:nvSpPr>
          <p:cNvPr id="13" name="Text 10"/>
          <p:cNvSpPr txBox="1"/>
          <p:nvPr/>
        </p:nvSpPr>
        <p:spPr>
          <a:xfrm>
            <a:off x="9528048" y="3511296"/>
            <a:ext cx="2194560" cy="274320"/>
          </a:xfrm>
          <a:prstGeom prst="rect">
            <a:avLst/>
          </a:prstGeom>
          <a:noFill/>
          <a:ln/>
        </p:spPr>
        <p:txBody>
          <a:bodyPr wrap="square" lIns="0" tIns="0" rIns="0" bIns="0" rtlCol="0" anchor="ctr"/>
          <a:lstStyle/>
          <a:p>
            <a:pPr indent="0" marL="0">
              <a:buNone/>
            </a:pPr>
            <a:r>
              <a:rPr lang="en-US" sz="1250" dirty="0">
                <a:solidFill>
                  <a:srgbClr val="AEC8E6"/>
                </a:solidFill>
                <a:latin typeface="Calibri" pitchFamily="34" charset="0"/>
                <a:ea typeface="Calibri" pitchFamily="34" charset="-122"/>
                <a:cs typeface="Calibri" pitchFamily="34" charset="-120"/>
              </a:rPr>
              <a:t>individuals</a:t>
            </a:r>
            <a:endParaRPr lang="en-US" sz="1250" dirty="0"/>
          </a:p>
        </p:txBody>
      </p:sp>
      <p:sp>
        <p:nvSpPr>
          <p:cNvPr id="14" name="Shape 11"/>
          <p:cNvSpPr/>
          <p:nvPr/>
        </p:nvSpPr>
        <p:spPr>
          <a:xfrm>
            <a:off x="9189720" y="4361688"/>
            <a:ext cx="137160" cy="137160"/>
          </a:xfrm>
          <a:prstGeom prst="ellipse">
            <a:avLst/>
          </a:prstGeom>
          <a:solidFill>
            <a:srgbClr val="EB6834"/>
          </a:solidFill>
          <a:ln/>
        </p:spPr>
      </p:sp>
      <p:sp>
        <p:nvSpPr>
          <p:cNvPr id="15" name="Text 12"/>
          <p:cNvSpPr txBox="1"/>
          <p:nvPr/>
        </p:nvSpPr>
        <p:spPr>
          <a:xfrm>
            <a:off x="9528048" y="4105656"/>
            <a:ext cx="219456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335</a:t>
            </a:r>
            <a:endParaRPr lang="en-US" sz="3400" dirty="0"/>
          </a:p>
        </p:txBody>
      </p:sp>
      <p:sp>
        <p:nvSpPr>
          <p:cNvPr id="16" name="Text 13"/>
          <p:cNvSpPr txBox="1"/>
          <p:nvPr/>
        </p:nvSpPr>
        <p:spPr>
          <a:xfrm>
            <a:off x="9528048" y="4654296"/>
            <a:ext cx="2194560" cy="274320"/>
          </a:xfrm>
          <a:prstGeom prst="rect">
            <a:avLst/>
          </a:prstGeom>
          <a:noFill/>
          <a:ln/>
        </p:spPr>
        <p:txBody>
          <a:bodyPr wrap="square" lIns="0" tIns="0" rIns="0" bIns="0" rtlCol="0" anchor="ctr"/>
          <a:lstStyle/>
          <a:p>
            <a:pPr indent="0" marL="0">
              <a:buNone/>
            </a:pPr>
            <a:r>
              <a:rPr lang="en-US" sz="1250" dirty="0">
                <a:solidFill>
                  <a:srgbClr val="AEC8E6"/>
                </a:solidFill>
                <a:latin typeface="Calibri" pitchFamily="34" charset="0"/>
                <a:ea typeface="Calibri" pitchFamily="34" charset="-122"/>
                <a:cs typeface="Calibri" pitchFamily="34" charset="-120"/>
              </a:rPr>
              <a:t>capture sessions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WHY BOTHER</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A penguin's name lives on a laminated sheet</a:t>
            </a:r>
            <a:endParaRPr lang="en-US" sz="3200" dirty="0"/>
          </a:p>
        </p:txBody>
      </p:sp>
      <p:sp>
        <p:nvSpPr>
          <p:cNvPr id="4" name="Text 2"/>
          <p:cNvSpPr txBox="1"/>
          <p:nvPr/>
        </p:nvSpPr>
        <p:spPr>
          <a:xfrm>
            <a:off x="777240" y="1517904"/>
            <a:ext cx="5760720" cy="868680"/>
          </a:xfrm>
          <a:prstGeom prst="rect">
            <a:avLst/>
          </a:prstGeom>
          <a:noFill/>
          <a:ln/>
        </p:spPr>
        <p:txBody>
          <a:bodyPr wrap="square" lIns="0" tIns="0" rIns="0" bIns="0" rtlCol="0" anchor="t"/>
          <a:lstStyle/>
          <a:p>
            <a:pPr indent="0" marL="0">
              <a:lnSpc>
                <a:spcPts val="2200"/>
              </a:lnSpc>
              <a:buNone/>
            </a:pPr>
            <a:r>
              <a:rPr lang="en-US" sz="1550" dirty="0">
                <a:solidFill>
                  <a:srgbClr val="24231F"/>
                </a:solidFill>
                <a:latin typeface="Calibri" pitchFamily="34" charset="0"/>
                <a:ea typeface="Calibri" pitchFamily="34" charset="-122"/>
                <a:cs typeface="Calibri" pitchFamily="34" charset="-120"/>
              </a:rPr>
              <a:t>ZSL London Zoo keeps 81 Humboldt penguins. A welfare note, a veterinary history or a breeding decision only means something once it is attached to the right bird.</a:t>
            </a:r>
            <a:endParaRPr lang="en-US" sz="1550" dirty="0"/>
          </a:p>
        </p:txBody>
      </p:sp>
      <p:sp>
        <p:nvSpPr>
          <p:cNvPr id="5" name="Shape 3"/>
          <p:cNvSpPr/>
          <p:nvPr/>
        </p:nvSpPr>
        <p:spPr>
          <a:xfrm>
            <a:off x="777240" y="2619756"/>
            <a:ext cx="118872" cy="118872"/>
          </a:xfrm>
          <a:prstGeom prst="ellipse">
            <a:avLst/>
          </a:prstGeom>
          <a:solidFill>
            <a:srgbClr val="2A78D6"/>
          </a:solidFill>
          <a:ln/>
        </p:spPr>
      </p:sp>
      <p:sp>
        <p:nvSpPr>
          <p:cNvPr id="6" name="Text 4"/>
          <p:cNvSpPr txBox="1"/>
          <p:nvPr/>
        </p:nvSpPr>
        <p:spPr>
          <a:xfrm>
            <a:off x="1088136" y="2496312"/>
            <a:ext cx="5449824" cy="1097280"/>
          </a:xfrm>
          <a:prstGeom prst="rect">
            <a:avLst/>
          </a:prstGeom>
          <a:noFill/>
          <a:ln/>
        </p:spPr>
        <p:txBody>
          <a:bodyPr wrap="square" lIns="0" tIns="0" rIns="0" bIns="0" rtlCol="0" anchor="t"/>
          <a:lstStyle/>
          <a:p>
            <a:pPr indent="0" marL="0">
              <a:lnSpc>
                <a:spcPts val="1792"/>
              </a:lnSpc>
              <a:buNone/>
            </a:pPr>
            <a:r>
              <a:rPr lang="en-US" sz="1400" dirty="0">
                <a:solidFill>
                  <a:srgbClr val="55534E"/>
                </a:solidFill>
                <a:latin typeface="Calibri" pitchFamily="34" charset="0"/>
                <a:ea typeface="Calibri" pitchFamily="34" charset="-122"/>
                <a:cs typeface="Calibri" pitchFamily="34" charset="-120"/>
              </a:rPr>
              <a:t>Coloured flipper bands are the current answer — and they are hidden by the bird's posture, by another penguin, or simply by the viewing angle.</a:t>
            </a:r>
            <a:endParaRPr lang="en-US" sz="1400" dirty="0"/>
          </a:p>
        </p:txBody>
      </p:sp>
      <p:sp>
        <p:nvSpPr>
          <p:cNvPr id="7" name="Shape 5"/>
          <p:cNvSpPr/>
          <p:nvPr/>
        </p:nvSpPr>
        <p:spPr>
          <a:xfrm>
            <a:off x="777240" y="3717036"/>
            <a:ext cx="118872" cy="118872"/>
          </a:xfrm>
          <a:prstGeom prst="ellipse">
            <a:avLst/>
          </a:prstGeom>
          <a:solidFill>
            <a:srgbClr val="2A78D6"/>
          </a:solidFill>
          <a:ln/>
        </p:spPr>
      </p:sp>
      <p:sp>
        <p:nvSpPr>
          <p:cNvPr id="8" name="Text 6"/>
          <p:cNvSpPr txBox="1"/>
          <p:nvPr/>
        </p:nvSpPr>
        <p:spPr>
          <a:xfrm>
            <a:off x="1088136" y="3593592"/>
            <a:ext cx="5449824" cy="1097280"/>
          </a:xfrm>
          <a:prstGeom prst="rect">
            <a:avLst/>
          </a:prstGeom>
          <a:noFill/>
          <a:ln/>
        </p:spPr>
        <p:txBody>
          <a:bodyPr wrap="square" lIns="0" tIns="0" rIns="0" bIns="0" rtlCol="0" anchor="t"/>
          <a:lstStyle/>
          <a:p>
            <a:pPr indent="0" marL="0">
              <a:lnSpc>
                <a:spcPts val="1792"/>
              </a:lnSpc>
              <a:buNone/>
            </a:pPr>
            <a:r>
              <a:rPr lang="en-US" sz="1400" dirty="0">
                <a:solidFill>
                  <a:srgbClr val="55534E"/>
                </a:solidFill>
                <a:latin typeface="Calibri" pitchFamily="34" charset="0"/>
                <a:ea typeface="Calibri" pitchFamily="34" charset="-122"/>
                <a:cs typeface="Calibri" pitchFamily="34" charset="-120"/>
              </a:rPr>
              <a:t>Over ten years, flipper-banded king penguins showed lower survival and breeding success than electronically tagged controls (Saraux et al., 2011). A marker is not automatically neutral.</a:t>
            </a:r>
            <a:endParaRPr lang="en-US" sz="1400" dirty="0"/>
          </a:p>
        </p:txBody>
      </p:sp>
      <p:sp>
        <p:nvSpPr>
          <p:cNvPr id="9" name="Shape 7"/>
          <p:cNvSpPr/>
          <p:nvPr/>
        </p:nvSpPr>
        <p:spPr>
          <a:xfrm>
            <a:off x="777240" y="4814316"/>
            <a:ext cx="118872" cy="118872"/>
          </a:xfrm>
          <a:prstGeom prst="ellipse">
            <a:avLst/>
          </a:prstGeom>
          <a:solidFill>
            <a:srgbClr val="2A78D6"/>
          </a:solidFill>
          <a:ln/>
        </p:spPr>
      </p:sp>
      <p:sp>
        <p:nvSpPr>
          <p:cNvPr id="10" name="Text 8"/>
          <p:cNvSpPr txBox="1"/>
          <p:nvPr/>
        </p:nvSpPr>
        <p:spPr>
          <a:xfrm>
            <a:off x="1088136" y="4690872"/>
            <a:ext cx="5449824" cy="1097280"/>
          </a:xfrm>
          <a:prstGeom prst="rect">
            <a:avLst/>
          </a:prstGeom>
          <a:noFill/>
          <a:ln/>
        </p:spPr>
        <p:txBody>
          <a:bodyPr wrap="square" lIns="0" tIns="0" rIns="0" bIns="0" rtlCol="0" anchor="t"/>
          <a:lstStyle/>
          <a:p>
            <a:pPr indent="0" marL="0">
              <a:lnSpc>
                <a:spcPts val="1792"/>
              </a:lnSpc>
              <a:buNone/>
            </a:pPr>
            <a:r>
              <a:rPr lang="en-US" sz="1400" dirty="0">
                <a:solidFill>
                  <a:srgbClr val="55534E"/>
                </a:solidFill>
                <a:latin typeface="Calibri" pitchFamily="34" charset="0"/>
                <a:ea typeface="Calibri" pitchFamily="34" charset="-122"/>
                <a:cs typeface="Calibri" pitchFamily="34" charset="-120"/>
              </a:rPr>
              <a:t>The birds already carry an identifier: the black spots on their white ventral plumage. African penguins use those same patterns to recognise each other (Baciadonna et al., 2024).</a:t>
            </a:r>
            <a:endParaRPr lang="en-US" sz="1400" dirty="0"/>
          </a:p>
        </p:txBody>
      </p:sp>
      <p:pic>
        <p:nvPicPr>
          <p:cNvPr id="11" name="Image 0" descr="/tmp/claude-0/-home-user-pgs/4a5325c7-76e4-5bb8-8cfc-4bd4c3ab42b2/scratchpad/bands.jpg">    </p:cNvPr>
          <p:cNvPicPr>
            <a:picLocks noChangeAspect="1"/>
          </p:cNvPicPr>
          <p:nvPr/>
        </p:nvPicPr>
        <p:blipFill>
          <a:blip r:embed="rId1"/>
          <a:stretch>
            <a:fillRect/>
          </a:stretch>
        </p:blipFill>
        <p:spPr>
          <a:xfrm>
            <a:off x="7818120" y="1554480"/>
            <a:ext cx="2697480" cy="4416552"/>
          </a:xfrm>
          <a:prstGeom prst="rect">
            <a:avLst/>
          </a:prstGeom>
        </p:spPr>
      </p:pic>
      <p:sp>
        <p:nvSpPr>
          <p:cNvPr id="12" name="Text 9"/>
          <p:cNvSpPr txBox="1"/>
          <p:nvPr/>
        </p:nvSpPr>
        <p:spPr>
          <a:xfrm>
            <a:off x="7178040" y="6089904"/>
            <a:ext cx="4206240" cy="457200"/>
          </a:xfrm>
          <a:prstGeom prst="rect">
            <a:avLst/>
          </a:prstGeom>
          <a:noFill/>
          <a:ln/>
        </p:spPr>
        <p:txBody>
          <a:bodyPr wrap="square" lIns="0" tIns="0" rIns="0" bIns="0" rtlCol="0" anchor="t"/>
          <a:lstStyle/>
          <a:p>
            <a:pPr algn="ctr" indent="0" marL="0">
              <a:buNone/>
            </a:pPr>
            <a:r>
              <a:rPr lang="en-US" sz="1100" i="1" dirty="0">
                <a:solidFill>
                  <a:srgbClr val="8A877F"/>
                </a:solidFill>
                <a:latin typeface="Calibri" pitchFamily="34" charset="0"/>
                <a:ea typeface="Calibri" pitchFamily="34" charset="-122"/>
                <a:cs typeface="Calibri" pitchFamily="34" charset="-120"/>
              </a:rPr>
              <a:t>The colony's own band chart — the system a photograph would complement.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THE DATA</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An archive, not an experiment</a:t>
            </a:r>
            <a:endParaRPr lang="en-US" sz="3200" dirty="0"/>
          </a:p>
        </p:txBody>
      </p:sp>
      <p:sp>
        <p:nvSpPr>
          <p:cNvPr id="4" name="Shape 2"/>
          <p:cNvSpPr/>
          <p:nvPr/>
        </p:nvSpPr>
        <p:spPr>
          <a:xfrm>
            <a:off x="777240" y="1444752"/>
            <a:ext cx="2542032" cy="1060704"/>
          </a:xfrm>
          <a:prstGeom prst="roundRect">
            <a:avLst>
              <a:gd name="adj" fmla="val 5172"/>
            </a:avLst>
          </a:prstGeom>
          <a:solidFill>
            <a:srgbClr val="F4F3EF"/>
          </a:solidFill>
          <a:ln/>
        </p:spPr>
      </p:sp>
      <p:sp>
        <p:nvSpPr>
          <p:cNvPr id="5" name="Shape 3"/>
          <p:cNvSpPr/>
          <p:nvPr/>
        </p:nvSpPr>
        <p:spPr>
          <a:xfrm>
            <a:off x="978408" y="1636776"/>
            <a:ext cx="100584" cy="100584"/>
          </a:xfrm>
          <a:prstGeom prst="ellipse">
            <a:avLst/>
          </a:prstGeom>
          <a:solidFill>
            <a:srgbClr val="2A78D6"/>
          </a:solidFill>
          <a:ln/>
        </p:spPr>
      </p:sp>
      <p:sp>
        <p:nvSpPr>
          <p:cNvPr id="6" name="Text 4"/>
          <p:cNvSpPr txBox="1"/>
          <p:nvPr/>
        </p:nvSpPr>
        <p:spPr>
          <a:xfrm>
            <a:off x="978408" y="1764792"/>
            <a:ext cx="2139696" cy="457200"/>
          </a:xfrm>
          <a:prstGeom prst="rect">
            <a:avLst/>
          </a:prstGeom>
          <a:noFill/>
          <a:ln/>
        </p:spPr>
        <p:txBody>
          <a:bodyPr wrap="square" lIns="0" tIns="0" rIns="0" bIns="0" rtlCol="0" anchor="ctr"/>
          <a:lstStyle/>
          <a:p>
            <a:pPr indent="0" marL="0">
              <a:buNone/>
            </a:pPr>
            <a:r>
              <a:rPr lang="en-US" sz="2700" b="1" dirty="0">
                <a:solidFill>
                  <a:srgbClr val="24231F"/>
                </a:solidFill>
                <a:latin typeface="Cambria" pitchFamily="34" charset="0"/>
                <a:ea typeface="Cambria" pitchFamily="34" charset="-122"/>
                <a:cs typeface="Cambria" pitchFamily="34" charset="-120"/>
              </a:rPr>
              <a:t>2,307</a:t>
            </a:r>
            <a:endParaRPr lang="en-US" sz="2700" dirty="0"/>
          </a:p>
        </p:txBody>
      </p:sp>
      <p:sp>
        <p:nvSpPr>
          <p:cNvPr id="7" name="Text 5"/>
          <p:cNvSpPr txBox="1"/>
          <p:nvPr/>
        </p:nvSpPr>
        <p:spPr>
          <a:xfrm>
            <a:off x="978408" y="2194560"/>
            <a:ext cx="2139696" cy="256032"/>
          </a:xfrm>
          <a:prstGeom prst="rect">
            <a:avLst/>
          </a:prstGeom>
          <a:noFill/>
          <a:ln/>
        </p:spPr>
        <p:txBody>
          <a:bodyPr wrap="square" lIns="0" tIns="0" rIns="0" bIns="0" rtlCol="0" anchor="ctr"/>
          <a:lstStyle/>
          <a:p>
            <a:pPr indent="0" marL="0">
              <a:buNone/>
            </a:pPr>
            <a:r>
              <a:rPr lang="en-US" sz="1200" dirty="0">
                <a:solidFill>
                  <a:srgbClr val="8A877F"/>
                </a:solidFill>
                <a:latin typeface="Calibri" pitchFamily="34" charset="0"/>
                <a:ea typeface="Calibri" pitchFamily="34" charset="-122"/>
                <a:cs typeface="Calibri" pitchFamily="34" charset="-120"/>
              </a:rPr>
              <a:t>photographs</a:t>
            </a:r>
            <a:endParaRPr lang="en-US" sz="1200" dirty="0"/>
          </a:p>
        </p:txBody>
      </p:sp>
      <p:sp>
        <p:nvSpPr>
          <p:cNvPr id="8" name="Shape 6"/>
          <p:cNvSpPr/>
          <p:nvPr/>
        </p:nvSpPr>
        <p:spPr>
          <a:xfrm>
            <a:off x="3520440" y="1444752"/>
            <a:ext cx="2542032" cy="1060704"/>
          </a:xfrm>
          <a:prstGeom prst="roundRect">
            <a:avLst>
              <a:gd name="adj" fmla="val 5172"/>
            </a:avLst>
          </a:prstGeom>
          <a:solidFill>
            <a:srgbClr val="F4F3EF"/>
          </a:solidFill>
          <a:ln/>
        </p:spPr>
      </p:sp>
      <p:sp>
        <p:nvSpPr>
          <p:cNvPr id="9" name="Shape 7"/>
          <p:cNvSpPr/>
          <p:nvPr/>
        </p:nvSpPr>
        <p:spPr>
          <a:xfrm>
            <a:off x="3721608" y="1636776"/>
            <a:ext cx="100584" cy="100584"/>
          </a:xfrm>
          <a:prstGeom prst="ellipse">
            <a:avLst/>
          </a:prstGeom>
          <a:solidFill>
            <a:srgbClr val="2A78D6"/>
          </a:solidFill>
          <a:ln/>
        </p:spPr>
      </p:sp>
      <p:sp>
        <p:nvSpPr>
          <p:cNvPr id="10" name="Text 8"/>
          <p:cNvSpPr txBox="1"/>
          <p:nvPr/>
        </p:nvSpPr>
        <p:spPr>
          <a:xfrm>
            <a:off x="3721608" y="1764792"/>
            <a:ext cx="2139696" cy="457200"/>
          </a:xfrm>
          <a:prstGeom prst="rect">
            <a:avLst/>
          </a:prstGeom>
          <a:noFill/>
          <a:ln/>
        </p:spPr>
        <p:txBody>
          <a:bodyPr wrap="square" lIns="0" tIns="0" rIns="0" bIns="0" rtlCol="0" anchor="ctr"/>
          <a:lstStyle/>
          <a:p>
            <a:pPr indent="0" marL="0">
              <a:buNone/>
            </a:pPr>
            <a:r>
              <a:rPr lang="en-US" sz="2700" b="1" dirty="0">
                <a:solidFill>
                  <a:srgbClr val="24231F"/>
                </a:solidFill>
                <a:latin typeface="Cambria" pitchFamily="34" charset="0"/>
                <a:ea typeface="Cambria" pitchFamily="34" charset="-122"/>
                <a:cs typeface="Cambria" pitchFamily="34" charset="-120"/>
              </a:rPr>
              <a:t>81</a:t>
            </a:r>
            <a:endParaRPr lang="en-US" sz="2700" dirty="0"/>
          </a:p>
        </p:txBody>
      </p:sp>
      <p:sp>
        <p:nvSpPr>
          <p:cNvPr id="11" name="Text 9"/>
          <p:cNvSpPr txBox="1"/>
          <p:nvPr/>
        </p:nvSpPr>
        <p:spPr>
          <a:xfrm>
            <a:off x="3721608" y="2194560"/>
            <a:ext cx="2139696" cy="256032"/>
          </a:xfrm>
          <a:prstGeom prst="rect">
            <a:avLst/>
          </a:prstGeom>
          <a:noFill/>
          <a:ln/>
        </p:spPr>
        <p:txBody>
          <a:bodyPr wrap="square" lIns="0" tIns="0" rIns="0" bIns="0" rtlCol="0" anchor="ctr"/>
          <a:lstStyle/>
          <a:p>
            <a:pPr indent="0" marL="0">
              <a:buNone/>
            </a:pPr>
            <a:r>
              <a:rPr lang="en-US" sz="1200" dirty="0">
                <a:solidFill>
                  <a:srgbClr val="8A877F"/>
                </a:solidFill>
                <a:latin typeface="Calibri" pitchFamily="34" charset="0"/>
                <a:ea typeface="Calibri" pitchFamily="34" charset="-122"/>
                <a:cs typeface="Calibri" pitchFamily="34" charset="-120"/>
              </a:rPr>
              <a:t>individuals</a:t>
            </a:r>
            <a:endParaRPr lang="en-US" sz="1200" dirty="0"/>
          </a:p>
        </p:txBody>
      </p:sp>
      <p:sp>
        <p:nvSpPr>
          <p:cNvPr id="12" name="Shape 10"/>
          <p:cNvSpPr/>
          <p:nvPr/>
        </p:nvSpPr>
        <p:spPr>
          <a:xfrm>
            <a:off x="6263640" y="1444752"/>
            <a:ext cx="2542032" cy="1060704"/>
          </a:xfrm>
          <a:prstGeom prst="roundRect">
            <a:avLst>
              <a:gd name="adj" fmla="val 5172"/>
            </a:avLst>
          </a:prstGeom>
          <a:solidFill>
            <a:srgbClr val="F4F3EF"/>
          </a:solidFill>
          <a:ln/>
        </p:spPr>
      </p:sp>
      <p:sp>
        <p:nvSpPr>
          <p:cNvPr id="13" name="Shape 11"/>
          <p:cNvSpPr/>
          <p:nvPr/>
        </p:nvSpPr>
        <p:spPr>
          <a:xfrm>
            <a:off x="6464808" y="1636776"/>
            <a:ext cx="100584" cy="100584"/>
          </a:xfrm>
          <a:prstGeom prst="ellipse">
            <a:avLst/>
          </a:prstGeom>
          <a:solidFill>
            <a:srgbClr val="EB6834"/>
          </a:solidFill>
          <a:ln/>
        </p:spPr>
      </p:sp>
      <p:sp>
        <p:nvSpPr>
          <p:cNvPr id="14" name="Text 12"/>
          <p:cNvSpPr txBox="1"/>
          <p:nvPr/>
        </p:nvSpPr>
        <p:spPr>
          <a:xfrm>
            <a:off x="6464808" y="1764792"/>
            <a:ext cx="2139696" cy="457200"/>
          </a:xfrm>
          <a:prstGeom prst="rect">
            <a:avLst/>
          </a:prstGeom>
          <a:noFill/>
          <a:ln/>
        </p:spPr>
        <p:txBody>
          <a:bodyPr wrap="square" lIns="0" tIns="0" rIns="0" bIns="0" rtlCol="0" anchor="ctr"/>
          <a:lstStyle/>
          <a:p>
            <a:pPr indent="0" marL="0">
              <a:buNone/>
            </a:pPr>
            <a:r>
              <a:rPr lang="en-US" sz="2700" b="1" dirty="0">
                <a:solidFill>
                  <a:srgbClr val="24231F"/>
                </a:solidFill>
                <a:latin typeface="Cambria" pitchFamily="34" charset="0"/>
                <a:ea typeface="Cambria" pitchFamily="34" charset="-122"/>
                <a:cs typeface="Cambria" pitchFamily="34" charset="-120"/>
              </a:rPr>
              <a:t>1 → 291</a:t>
            </a:r>
            <a:endParaRPr lang="en-US" sz="2700" dirty="0"/>
          </a:p>
        </p:txBody>
      </p:sp>
      <p:sp>
        <p:nvSpPr>
          <p:cNvPr id="15" name="Text 13"/>
          <p:cNvSpPr txBox="1"/>
          <p:nvPr/>
        </p:nvSpPr>
        <p:spPr>
          <a:xfrm>
            <a:off x="6464808" y="2194560"/>
            <a:ext cx="2139696" cy="256032"/>
          </a:xfrm>
          <a:prstGeom prst="rect">
            <a:avLst/>
          </a:prstGeom>
          <a:noFill/>
          <a:ln/>
        </p:spPr>
        <p:txBody>
          <a:bodyPr wrap="square" lIns="0" tIns="0" rIns="0" bIns="0" rtlCol="0" anchor="ctr"/>
          <a:lstStyle/>
          <a:p>
            <a:pPr indent="0" marL="0">
              <a:buNone/>
            </a:pPr>
            <a:r>
              <a:rPr lang="en-US" sz="1200" dirty="0">
                <a:solidFill>
                  <a:srgbClr val="8A877F"/>
                </a:solidFill>
                <a:latin typeface="Calibri" pitchFamily="34" charset="0"/>
                <a:ea typeface="Calibri" pitchFamily="34" charset="-122"/>
                <a:cs typeface="Calibri" pitchFamily="34" charset="-120"/>
              </a:rPr>
              <a:t>photographs per bird</a:t>
            </a:r>
            <a:endParaRPr lang="en-US" sz="1200" dirty="0"/>
          </a:p>
        </p:txBody>
      </p:sp>
      <p:sp>
        <p:nvSpPr>
          <p:cNvPr id="16" name="Shape 14"/>
          <p:cNvSpPr/>
          <p:nvPr/>
        </p:nvSpPr>
        <p:spPr>
          <a:xfrm>
            <a:off x="9006840" y="1444752"/>
            <a:ext cx="2542032" cy="1060704"/>
          </a:xfrm>
          <a:prstGeom prst="roundRect">
            <a:avLst>
              <a:gd name="adj" fmla="val 5172"/>
            </a:avLst>
          </a:prstGeom>
          <a:solidFill>
            <a:srgbClr val="F4F3EF"/>
          </a:solidFill>
          <a:ln/>
        </p:spPr>
      </p:sp>
      <p:sp>
        <p:nvSpPr>
          <p:cNvPr id="17" name="Shape 15"/>
          <p:cNvSpPr/>
          <p:nvPr/>
        </p:nvSpPr>
        <p:spPr>
          <a:xfrm>
            <a:off x="9208008" y="1636776"/>
            <a:ext cx="100584" cy="100584"/>
          </a:xfrm>
          <a:prstGeom prst="ellipse">
            <a:avLst/>
          </a:prstGeom>
          <a:solidFill>
            <a:srgbClr val="2A78D6"/>
          </a:solidFill>
          <a:ln/>
        </p:spPr>
      </p:sp>
      <p:sp>
        <p:nvSpPr>
          <p:cNvPr id="18" name="Text 16"/>
          <p:cNvSpPr txBox="1"/>
          <p:nvPr/>
        </p:nvSpPr>
        <p:spPr>
          <a:xfrm>
            <a:off x="9208008" y="1764792"/>
            <a:ext cx="2139696" cy="457200"/>
          </a:xfrm>
          <a:prstGeom prst="rect">
            <a:avLst/>
          </a:prstGeom>
          <a:noFill/>
          <a:ln/>
        </p:spPr>
        <p:txBody>
          <a:bodyPr wrap="square" lIns="0" tIns="0" rIns="0" bIns="0" rtlCol="0" anchor="ctr"/>
          <a:lstStyle/>
          <a:p>
            <a:pPr indent="0" marL="0">
              <a:buNone/>
            </a:pPr>
            <a:r>
              <a:rPr lang="en-US" sz="2700" b="1" dirty="0">
                <a:solidFill>
                  <a:srgbClr val="24231F"/>
                </a:solidFill>
                <a:latin typeface="Cambria" pitchFamily="34" charset="0"/>
                <a:ea typeface="Cambria" pitchFamily="34" charset="-122"/>
                <a:cs typeface="Cambria" pitchFamily="34" charset="-120"/>
              </a:rPr>
              <a:t>335</a:t>
            </a:r>
            <a:endParaRPr lang="en-US" sz="2700" dirty="0"/>
          </a:p>
        </p:txBody>
      </p:sp>
      <p:sp>
        <p:nvSpPr>
          <p:cNvPr id="19" name="Text 17"/>
          <p:cNvSpPr txBox="1"/>
          <p:nvPr/>
        </p:nvSpPr>
        <p:spPr>
          <a:xfrm>
            <a:off x="9208008" y="2194560"/>
            <a:ext cx="2139696" cy="256032"/>
          </a:xfrm>
          <a:prstGeom prst="rect">
            <a:avLst/>
          </a:prstGeom>
          <a:noFill/>
          <a:ln/>
        </p:spPr>
        <p:txBody>
          <a:bodyPr wrap="square" lIns="0" tIns="0" rIns="0" bIns="0" rtlCol="0" anchor="ctr"/>
          <a:lstStyle/>
          <a:p>
            <a:pPr indent="0" marL="0">
              <a:buNone/>
            </a:pPr>
            <a:r>
              <a:rPr lang="en-US" sz="1200" dirty="0">
                <a:solidFill>
                  <a:srgbClr val="8A877F"/>
                </a:solidFill>
                <a:latin typeface="Calibri" pitchFamily="34" charset="0"/>
                <a:ea typeface="Calibri" pitchFamily="34" charset="-122"/>
                <a:cs typeface="Calibri" pitchFamily="34" charset="-120"/>
              </a:rPr>
              <a:t>capture sessions</a:t>
            </a:r>
            <a:endParaRPr lang="en-US" sz="1200" dirty="0"/>
          </a:p>
        </p:txBody>
      </p:sp>
      <p:sp>
        <p:nvSpPr>
          <p:cNvPr id="20" name="Text 18"/>
          <p:cNvSpPr txBox="1"/>
          <p:nvPr/>
        </p:nvSpPr>
        <p:spPr>
          <a:xfrm>
            <a:off x="777240" y="2670048"/>
            <a:ext cx="10637215" cy="822960"/>
          </a:xfrm>
          <a:prstGeom prst="rect">
            <a:avLst/>
          </a:prstGeom>
          <a:noFill/>
          <a:ln/>
        </p:spPr>
        <p:txBody>
          <a:bodyPr wrap="square" lIns="0" tIns="0" rIns="0" bIns="0" rtlCol="0" anchor="t"/>
          <a:lstStyle/>
          <a:p>
            <a:pPr indent="0" marL="0">
              <a:lnSpc>
                <a:spcPts val="2100"/>
              </a:lnSpc>
              <a:buNone/>
            </a:pPr>
            <a:r>
              <a:rPr lang="en-US" sz="1450" dirty="0">
                <a:solidFill>
                  <a:srgbClr val="24231F"/>
                </a:solidFill>
                <a:latin typeface="Calibri" pitchFamily="34" charset="0"/>
                <a:ea typeface="Calibri" pitchFamily="34" charset="-122"/>
                <a:cs typeface="Calibri" pitchFamily="34" charset="-120"/>
              </a:rPr>
              <a:t>Taken by volunteers during routine husbandry — no protocol, no fixed viewpoint, no schedule. </a:t>
            </a:r>
            <a:pPr indent="0" marL="0">
              <a:lnSpc>
                <a:spcPts val="2100"/>
              </a:lnSpc>
              <a:buNone/>
            </a:pPr>
            <a:r>
              <a:rPr lang="en-US" sz="1450" dirty="0">
                <a:solidFill>
                  <a:srgbClr val="55534E"/>
                </a:solidFill>
                <a:latin typeface="Calibri" pitchFamily="34" charset="0"/>
                <a:ea typeface="Calibri" pitchFamily="34" charset="-122"/>
                <a:cs typeface="Calibri" pitchFamily="34" charset="-120"/>
              </a:rPr>
              <a:t>Two inclusion thresholds leave the </a:t>
            </a:r>
            <a:pPr indent="0" marL="0">
              <a:lnSpc>
                <a:spcPts val="2100"/>
              </a:lnSpc>
              <a:buNone/>
            </a:pPr>
            <a:r>
              <a:rPr lang="en-US" sz="1450" b="1" dirty="0">
                <a:solidFill>
                  <a:srgbClr val="24231F"/>
                </a:solidFill>
                <a:latin typeface="Calibri" pitchFamily="34" charset="0"/>
                <a:ea typeface="Calibri" pitchFamily="34" charset="-122"/>
                <a:cs typeface="Calibri" pitchFamily="34" charset="-120"/>
              </a:rPr>
              <a:t>35 individuals and 1,743 photographs</a:t>
            </a:r>
            <a:pPr indent="0" marL="0">
              <a:lnSpc>
                <a:spcPts val="2100"/>
              </a:lnSpc>
              <a:buNone/>
            </a:pPr>
            <a:r>
              <a:rPr lang="en-US" sz="1450" dirty="0">
                <a:solidFill>
                  <a:srgbClr val="55534E"/>
                </a:solidFill>
                <a:latin typeface="Calibri" pitchFamily="34" charset="0"/>
                <a:ea typeface="Calibri" pitchFamily="34" charset="-122"/>
                <a:cs typeface="Calibri" pitchFamily="34" charset="-120"/>
              </a:rPr>
              <a:t> behind every number here.</a:t>
            </a:r>
            <a:endParaRPr lang="en-US" sz="1450" dirty="0"/>
          </a:p>
        </p:txBody>
      </p:sp>
      <p:pic>
        <p:nvPicPr>
          <p:cNvPr id="21" name="Image 0" descr="/tmp/claude-0/-home-user-pgs/4a5325c7-76e4-5bb8-8cfc-4bd4c3ab42b2/scratchpad/fig/05_dataset_distribution.jpg">    </p:cNvPr>
          <p:cNvPicPr>
            <a:picLocks noChangeAspect="1"/>
          </p:cNvPicPr>
          <p:nvPr/>
        </p:nvPicPr>
        <p:blipFill>
          <a:blip r:embed="rId1"/>
          <a:stretch>
            <a:fillRect/>
          </a:stretch>
        </p:blipFill>
        <p:spPr>
          <a:xfrm>
            <a:off x="1889608" y="3529584"/>
            <a:ext cx="8412480" cy="28560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THE SYSTEM</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A photograph goes in; a name — or an honest refusal — comes out</a:t>
            </a:r>
            <a:endParaRPr lang="en-US" sz="3200" dirty="0"/>
          </a:p>
        </p:txBody>
      </p:sp>
      <p:sp>
        <p:nvSpPr>
          <p:cNvPr id="4" name="Shape 2"/>
          <p:cNvSpPr/>
          <p:nvPr/>
        </p:nvSpPr>
        <p:spPr>
          <a:xfrm>
            <a:off x="1374618" y="1572768"/>
            <a:ext cx="932688" cy="932688"/>
          </a:xfrm>
          <a:prstGeom prst="ellipse">
            <a:avLst/>
          </a:prstGeom>
          <a:solidFill>
            <a:srgbClr val="102C4A"/>
          </a:solidFill>
          <a:ln/>
        </p:spPr>
      </p:sp>
      <p:sp>
        <p:nvSpPr>
          <p:cNvPr id="5" name="Text 3"/>
          <p:cNvSpPr txBox="1"/>
          <p:nvPr/>
        </p:nvSpPr>
        <p:spPr>
          <a:xfrm>
            <a:off x="1374618" y="1572768"/>
            <a:ext cx="932688" cy="9326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868680" y="2651760"/>
            <a:ext cx="1944563" cy="329184"/>
          </a:xfrm>
          <a:prstGeom prst="rect">
            <a:avLst/>
          </a:prstGeom>
          <a:noFill/>
          <a:ln/>
        </p:spPr>
        <p:txBody>
          <a:bodyPr wrap="square" lIns="0" tIns="0" rIns="0" bIns="0" rtlCol="0" anchor="ctr"/>
          <a:lstStyle/>
          <a:p>
            <a:pPr algn="ctr" indent="0" marL="0">
              <a:buNone/>
            </a:pPr>
            <a:r>
              <a:rPr lang="en-US" sz="1450" b="1" dirty="0">
                <a:solidFill>
                  <a:srgbClr val="24231F"/>
                </a:solidFill>
                <a:latin typeface="Calibri" pitchFamily="34" charset="0"/>
                <a:ea typeface="Calibri" pitchFamily="34" charset="-122"/>
                <a:cs typeface="Calibri" pitchFamily="34" charset="-120"/>
              </a:rPr>
              <a:t>Photograph</a:t>
            </a:r>
            <a:endParaRPr lang="en-US" sz="1450" dirty="0"/>
          </a:p>
        </p:txBody>
      </p:sp>
      <p:sp>
        <p:nvSpPr>
          <p:cNvPr id="7" name="Text 5"/>
          <p:cNvSpPr txBox="1"/>
          <p:nvPr/>
        </p:nvSpPr>
        <p:spPr>
          <a:xfrm>
            <a:off x="868680" y="2962656"/>
            <a:ext cx="1944563" cy="603504"/>
          </a:xfrm>
          <a:prstGeom prst="rect">
            <a:avLst/>
          </a:prstGeom>
          <a:noFill/>
          <a:ln/>
        </p:spPr>
        <p:txBody>
          <a:bodyPr wrap="square" lIns="0" tIns="0" rIns="0" bIns="0" rtlCol="0" anchor="t"/>
          <a:lstStyle/>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frontal, full body,</a:t>
            </a:r>
            <a:endParaRPr lang="en-US" sz="1150" dirty="0"/>
          </a:p>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as taken</a:t>
            </a:r>
            <a:endParaRPr lang="en-US" sz="1150" dirty="0"/>
          </a:p>
        </p:txBody>
      </p:sp>
      <p:sp>
        <p:nvSpPr>
          <p:cNvPr id="8" name="Shape 6"/>
          <p:cNvSpPr/>
          <p:nvPr/>
        </p:nvSpPr>
        <p:spPr>
          <a:xfrm>
            <a:off x="2717231" y="2002536"/>
            <a:ext cx="64008" cy="64008"/>
          </a:xfrm>
          <a:prstGeom prst="ellipse">
            <a:avLst/>
          </a:prstGeom>
          <a:solidFill>
            <a:srgbClr val="E1E0D9"/>
          </a:solidFill>
          <a:ln/>
        </p:spPr>
      </p:sp>
      <p:sp>
        <p:nvSpPr>
          <p:cNvPr id="9" name="Shape 7"/>
          <p:cNvSpPr/>
          <p:nvPr/>
        </p:nvSpPr>
        <p:spPr>
          <a:xfrm>
            <a:off x="2872679" y="2002536"/>
            <a:ext cx="64008" cy="64008"/>
          </a:xfrm>
          <a:prstGeom prst="ellipse">
            <a:avLst/>
          </a:prstGeom>
          <a:solidFill>
            <a:srgbClr val="E1E0D9"/>
          </a:solidFill>
          <a:ln/>
        </p:spPr>
      </p:sp>
      <p:sp>
        <p:nvSpPr>
          <p:cNvPr id="10" name="Shape 8"/>
          <p:cNvSpPr/>
          <p:nvPr/>
        </p:nvSpPr>
        <p:spPr>
          <a:xfrm>
            <a:off x="3028127" y="2002536"/>
            <a:ext cx="64008" cy="64008"/>
          </a:xfrm>
          <a:prstGeom prst="ellipse">
            <a:avLst/>
          </a:prstGeom>
          <a:solidFill>
            <a:srgbClr val="E1E0D9"/>
          </a:solidFill>
          <a:ln/>
        </p:spPr>
      </p:sp>
      <p:sp>
        <p:nvSpPr>
          <p:cNvPr id="11" name="Shape 9"/>
          <p:cNvSpPr/>
          <p:nvPr/>
        </p:nvSpPr>
        <p:spPr>
          <a:xfrm>
            <a:off x="3502061" y="1572768"/>
            <a:ext cx="932688" cy="932688"/>
          </a:xfrm>
          <a:prstGeom prst="ellipse">
            <a:avLst/>
          </a:prstGeom>
          <a:solidFill>
            <a:srgbClr val="102C4A"/>
          </a:solidFill>
          <a:ln/>
        </p:spPr>
      </p:sp>
      <p:sp>
        <p:nvSpPr>
          <p:cNvPr id="12" name="Text 10"/>
          <p:cNvSpPr txBox="1"/>
          <p:nvPr/>
        </p:nvSpPr>
        <p:spPr>
          <a:xfrm>
            <a:off x="3502061" y="1572768"/>
            <a:ext cx="932688" cy="9326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2996123" y="2651760"/>
            <a:ext cx="1944563" cy="329184"/>
          </a:xfrm>
          <a:prstGeom prst="rect">
            <a:avLst/>
          </a:prstGeom>
          <a:noFill/>
          <a:ln/>
        </p:spPr>
        <p:txBody>
          <a:bodyPr wrap="square" lIns="0" tIns="0" rIns="0" bIns="0" rtlCol="0" anchor="ctr"/>
          <a:lstStyle/>
          <a:p>
            <a:pPr algn="ctr" indent="0" marL="0">
              <a:buNone/>
            </a:pPr>
            <a:r>
              <a:rPr lang="en-US" sz="1450" b="1" dirty="0">
                <a:solidFill>
                  <a:srgbClr val="24231F"/>
                </a:solidFill>
                <a:latin typeface="Calibri" pitchFamily="34" charset="0"/>
                <a:ea typeface="Calibri" pitchFamily="34" charset="-122"/>
                <a:cs typeface="Calibri" pitchFamily="34" charset="-120"/>
              </a:rPr>
              <a:t>Embedding</a:t>
            </a:r>
            <a:endParaRPr lang="en-US" sz="1450" dirty="0"/>
          </a:p>
        </p:txBody>
      </p:sp>
      <p:sp>
        <p:nvSpPr>
          <p:cNvPr id="14" name="Text 12"/>
          <p:cNvSpPr txBox="1"/>
          <p:nvPr/>
        </p:nvSpPr>
        <p:spPr>
          <a:xfrm>
            <a:off x="2996123" y="2962656"/>
            <a:ext cx="1944563" cy="603504"/>
          </a:xfrm>
          <a:prstGeom prst="rect">
            <a:avLst/>
          </a:prstGeom>
          <a:noFill/>
          <a:ln/>
        </p:spPr>
        <p:txBody>
          <a:bodyPr wrap="square" lIns="0" tIns="0" rIns="0" bIns="0" rtlCol="0" anchor="t"/>
          <a:lstStyle/>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ResNet18, 512-d,</a:t>
            </a:r>
            <a:endParaRPr lang="en-US" sz="1150" dirty="0"/>
          </a:p>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L2-normalised</a:t>
            </a:r>
            <a:endParaRPr lang="en-US" sz="1150" dirty="0"/>
          </a:p>
        </p:txBody>
      </p:sp>
      <p:sp>
        <p:nvSpPr>
          <p:cNvPr id="15" name="Shape 13"/>
          <p:cNvSpPr/>
          <p:nvPr/>
        </p:nvSpPr>
        <p:spPr>
          <a:xfrm>
            <a:off x="4844674" y="2002536"/>
            <a:ext cx="64008" cy="64008"/>
          </a:xfrm>
          <a:prstGeom prst="ellipse">
            <a:avLst/>
          </a:prstGeom>
          <a:solidFill>
            <a:srgbClr val="E1E0D9"/>
          </a:solidFill>
          <a:ln/>
        </p:spPr>
      </p:sp>
      <p:sp>
        <p:nvSpPr>
          <p:cNvPr id="16" name="Shape 14"/>
          <p:cNvSpPr/>
          <p:nvPr/>
        </p:nvSpPr>
        <p:spPr>
          <a:xfrm>
            <a:off x="5000122" y="2002536"/>
            <a:ext cx="64008" cy="64008"/>
          </a:xfrm>
          <a:prstGeom prst="ellipse">
            <a:avLst/>
          </a:prstGeom>
          <a:solidFill>
            <a:srgbClr val="E1E0D9"/>
          </a:solidFill>
          <a:ln/>
        </p:spPr>
      </p:sp>
      <p:sp>
        <p:nvSpPr>
          <p:cNvPr id="17" name="Shape 15"/>
          <p:cNvSpPr/>
          <p:nvPr/>
        </p:nvSpPr>
        <p:spPr>
          <a:xfrm>
            <a:off x="5155570" y="2002536"/>
            <a:ext cx="64008" cy="64008"/>
          </a:xfrm>
          <a:prstGeom prst="ellipse">
            <a:avLst/>
          </a:prstGeom>
          <a:solidFill>
            <a:srgbClr val="E1E0D9"/>
          </a:solidFill>
          <a:ln/>
        </p:spPr>
      </p:sp>
      <p:sp>
        <p:nvSpPr>
          <p:cNvPr id="18" name="Shape 16"/>
          <p:cNvSpPr/>
          <p:nvPr/>
        </p:nvSpPr>
        <p:spPr>
          <a:xfrm>
            <a:off x="5629504" y="1572768"/>
            <a:ext cx="932688" cy="932688"/>
          </a:xfrm>
          <a:prstGeom prst="ellipse">
            <a:avLst/>
          </a:prstGeom>
          <a:solidFill>
            <a:srgbClr val="102C4A"/>
          </a:solidFill>
          <a:ln/>
        </p:spPr>
      </p:sp>
      <p:sp>
        <p:nvSpPr>
          <p:cNvPr id="19" name="Text 17"/>
          <p:cNvSpPr txBox="1"/>
          <p:nvPr/>
        </p:nvSpPr>
        <p:spPr>
          <a:xfrm>
            <a:off x="5629504" y="1572768"/>
            <a:ext cx="932688" cy="9326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20" name="Text 18"/>
          <p:cNvSpPr txBox="1"/>
          <p:nvPr/>
        </p:nvSpPr>
        <p:spPr>
          <a:xfrm>
            <a:off x="5123566" y="2651760"/>
            <a:ext cx="1944563" cy="329184"/>
          </a:xfrm>
          <a:prstGeom prst="rect">
            <a:avLst/>
          </a:prstGeom>
          <a:noFill/>
          <a:ln/>
        </p:spPr>
        <p:txBody>
          <a:bodyPr wrap="square" lIns="0" tIns="0" rIns="0" bIns="0" rtlCol="0" anchor="ctr"/>
          <a:lstStyle/>
          <a:p>
            <a:pPr algn="ctr" indent="0" marL="0">
              <a:buNone/>
            </a:pPr>
            <a:r>
              <a:rPr lang="en-US" sz="1450" b="1" dirty="0">
                <a:solidFill>
                  <a:srgbClr val="24231F"/>
                </a:solidFill>
                <a:latin typeface="Calibri" pitchFamily="34" charset="0"/>
                <a:ea typeface="Calibri" pitchFamily="34" charset="-122"/>
                <a:cs typeface="Calibri" pitchFamily="34" charset="-120"/>
              </a:rPr>
              <a:t>Gallery search</a:t>
            </a:r>
            <a:endParaRPr lang="en-US" sz="1450" dirty="0"/>
          </a:p>
        </p:txBody>
      </p:sp>
      <p:sp>
        <p:nvSpPr>
          <p:cNvPr id="21" name="Text 19"/>
          <p:cNvSpPr txBox="1"/>
          <p:nvPr/>
        </p:nvSpPr>
        <p:spPr>
          <a:xfrm>
            <a:off x="5123566" y="2962656"/>
            <a:ext cx="1944563" cy="603504"/>
          </a:xfrm>
          <a:prstGeom prst="rect">
            <a:avLst/>
          </a:prstGeom>
          <a:noFill/>
          <a:ln/>
        </p:spPr>
        <p:txBody>
          <a:bodyPr wrap="square" lIns="0" tIns="0" rIns="0" bIns="0" rtlCol="0" anchor="t"/>
          <a:lstStyle/>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FAISS, cosine over</a:t>
            </a:r>
            <a:endParaRPr lang="en-US" sz="1150" dirty="0"/>
          </a:p>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81 prototypes</a:t>
            </a:r>
            <a:endParaRPr lang="en-US" sz="1150" dirty="0"/>
          </a:p>
        </p:txBody>
      </p:sp>
      <p:sp>
        <p:nvSpPr>
          <p:cNvPr id="22" name="Shape 20"/>
          <p:cNvSpPr/>
          <p:nvPr/>
        </p:nvSpPr>
        <p:spPr>
          <a:xfrm>
            <a:off x="6972117" y="2002536"/>
            <a:ext cx="64008" cy="64008"/>
          </a:xfrm>
          <a:prstGeom prst="ellipse">
            <a:avLst/>
          </a:prstGeom>
          <a:solidFill>
            <a:srgbClr val="E1E0D9"/>
          </a:solidFill>
          <a:ln/>
        </p:spPr>
      </p:sp>
      <p:sp>
        <p:nvSpPr>
          <p:cNvPr id="23" name="Shape 21"/>
          <p:cNvSpPr/>
          <p:nvPr/>
        </p:nvSpPr>
        <p:spPr>
          <a:xfrm>
            <a:off x="7127565" y="2002536"/>
            <a:ext cx="64008" cy="64008"/>
          </a:xfrm>
          <a:prstGeom prst="ellipse">
            <a:avLst/>
          </a:prstGeom>
          <a:solidFill>
            <a:srgbClr val="E1E0D9"/>
          </a:solidFill>
          <a:ln/>
        </p:spPr>
      </p:sp>
      <p:sp>
        <p:nvSpPr>
          <p:cNvPr id="24" name="Shape 22"/>
          <p:cNvSpPr/>
          <p:nvPr/>
        </p:nvSpPr>
        <p:spPr>
          <a:xfrm>
            <a:off x="7283013" y="2002536"/>
            <a:ext cx="64008" cy="64008"/>
          </a:xfrm>
          <a:prstGeom prst="ellipse">
            <a:avLst/>
          </a:prstGeom>
          <a:solidFill>
            <a:srgbClr val="E1E0D9"/>
          </a:solidFill>
          <a:ln/>
        </p:spPr>
      </p:sp>
      <p:sp>
        <p:nvSpPr>
          <p:cNvPr id="25" name="Shape 23"/>
          <p:cNvSpPr/>
          <p:nvPr/>
        </p:nvSpPr>
        <p:spPr>
          <a:xfrm>
            <a:off x="7756947" y="1572768"/>
            <a:ext cx="932688" cy="932688"/>
          </a:xfrm>
          <a:prstGeom prst="ellipse">
            <a:avLst/>
          </a:prstGeom>
          <a:solidFill>
            <a:srgbClr val="EB6834"/>
          </a:solidFill>
          <a:ln/>
        </p:spPr>
      </p:sp>
      <p:sp>
        <p:nvSpPr>
          <p:cNvPr id="26" name="Text 24"/>
          <p:cNvSpPr txBox="1"/>
          <p:nvPr/>
        </p:nvSpPr>
        <p:spPr>
          <a:xfrm>
            <a:off x="7756947" y="1572768"/>
            <a:ext cx="932688" cy="9326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7" name="Text 25"/>
          <p:cNvSpPr txBox="1"/>
          <p:nvPr/>
        </p:nvSpPr>
        <p:spPr>
          <a:xfrm>
            <a:off x="7251009" y="2651760"/>
            <a:ext cx="1944563" cy="329184"/>
          </a:xfrm>
          <a:prstGeom prst="rect">
            <a:avLst/>
          </a:prstGeom>
          <a:noFill/>
          <a:ln/>
        </p:spPr>
        <p:txBody>
          <a:bodyPr wrap="square" lIns="0" tIns="0" rIns="0" bIns="0" rtlCol="0" anchor="ctr"/>
          <a:lstStyle/>
          <a:p>
            <a:pPr algn="ctr" indent="0" marL="0">
              <a:buNone/>
            </a:pPr>
            <a:r>
              <a:rPr lang="en-US" sz="1450" b="1" dirty="0">
                <a:solidFill>
                  <a:srgbClr val="24231F"/>
                </a:solidFill>
                <a:latin typeface="Calibri" pitchFamily="34" charset="0"/>
                <a:ea typeface="Calibri" pitchFamily="34" charset="-122"/>
                <a:cs typeface="Calibri" pitchFamily="34" charset="-120"/>
              </a:rPr>
              <a:t>Threshold 0.938</a:t>
            </a:r>
            <a:endParaRPr lang="en-US" sz="1450" dirty="0"/>
          </a:p>
        </p:txBody>
      </p:sp>
      <p:sp>
        <p:nvSpPr>
          <p:cNvPr id="28" name="Text 26"/>
          <p:cNvSpPr txBox="1"/>
          <p:nvPr/>
        </p:nvSpPr>
        <p:spPr>
          <a:xfrm>
            <a:off x="7251009" y="2962656"/>
            <a:ext cx="1944563" cy="603504"/>
          </a:xfrm>
          <a:prstGeom prst="rect">
            <a:avLst/>
          </a:prstGeom>
          <a:noFill/>
          <a:ln/>
        </p:spPr>
        <p:txBody>
          <a:bodyPr wrap="square" lIns="0" tIns="0" rIns="0" bIns="0" rtlCol="0" anchor="t"/>
          <a:lstStyle/>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accept, or decline</a:t>
            </a:r>
            <a:endParaRPr lang="en-US" sz="1150" dirty="0"/>
          </a:p>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to identify</a:t>
            </a:r>
            <a:endParaRPr lang="en-US" sz="1150" dirty="0"/>
          </a:p>
        </p:txBody>
      </p:sp>
      <p:sp>
        <p:nvSpPr>
          <p:cNvPr id="29" name="Shape 27"/>
          <p:cNvSpPr/>
          <p:nvPr/>
        </p:nvSpPr>
        <p:spPr>
          <a:xfrm>
            <a:off x="9099560" y="2002536"/>
            <a:ext cx="64008" cy="64008"/>
          </a:xfrm>
          <a:prstGeom prst="ellipse">
            <a:avLst/>
          </a:prstGeom>
          <a:solidFill>
            <a:srgbClr val="E1E0D9"/>
          </a:solidFill>
          <a:ln/>
        </p:spPr>
      </p:sp>
      <p:sp>
        <p:nvSpPr>
          <p:cNvPr id="30" name="Shape 28"/>
          <p:cNvSpPr/>
          <p:nvPr/>
        </p:nvSpPr>
        <p:spPr>
          <a:xfrm>
            <a:off x="9255008" y="2002536"/>
            <a:ext cx="64008" cy="64008"/>
          </a:xfrm>
          <a:prstGeom prst="ellipse">
            <a:avLst/>
          </a:prstGeom>
          <a:solidFill>
            <a:srgbClr val="E1E0D9"/>
          </a:solidFill>
          <a:ln/>
        </p:spPr>
      </p:sp>
      <p:sp>
        <p:nvSpPr>
          <p:cNvPr id="31" name="Shape 29"/>
          <p:cNvSpPr/>
          <p:nvPr/>
        </p:nvSpPr>
        <p:spPr>
          <a:xfrm>
            <a:off x="9410456" y="2002536"/>
            <a:ext cx="64008" cy="64008"/>
          </a:xfrm>
          <a:prstGeom prst="ellipse">
            <a:avLst/>
          </a:prstGeom>
          <a:solidFill>
            <a:srgbClr val="E1E0D9"/>
          </a:solidFill>
          <a:ln/>
        </p:spPr>
      </p:sp>
      <p:sp>
        <p:nvSpPr>
          <p:cNvPr id="32" name="Shape 30"/>
          <p:cNvSpPr/>
          <p:nvPr/>
        </p:nvSpPr>
        <p:spPr>
          <a:xfrm>
            <a:off x="9884390" y="1572768"/>
            <a:ext cx="932688" cy="932688"/>
          </a:xfrm>
          <a:prstGeom prst="ellipse">
            <a:avLst/>
          </a:prstGeom>
          <a:solidFill>
            <a:srgbClr val="102C4A"/>
          </a:solidFill>
          <a:ln/>
        </p:spPr>
      </p:sp>
      <p:sp>
        <p:nvSpPr>
          <p:cNvPr id="33" name="Text 31"/>
          <p:cNvSpPr txBox="1"/>
          <p:nvPr/>
        </p:nvSpPr>
        <p:spPr>
          <a:xfrm>
            <a:off x="9884390" y="1572768"/>
            <a:ext cx="932688" cy="9326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34" name="Text 32"/>
          <p:cNvSpPr txBox="1"/>
          <p:nvPr/>
        </p:nvSpPr>
        <p:spPr>
          <a:xfrm>
            <a:off x="9378452" y="2651760"/>
            <a:ext cx="1944563" cy="329184"/>
          </a:xfrm>
          <a:prstGeom prst="rect">
            <a:avLst/>
          </a:prstGeom>
          <a:noFill/>
          <a:ln/>
        </p:spPr>
        <p:txBody>
          <a:bodyPr wrap="square" lIns="0" tIns="0" rIns="0" bIns="0" rtlCol="0" anchor="ctr"/>
          <a:lstStyle/>
          <a:p>
            <a:pPr algn="ctr" indent="0" marL="0">
              <a:buNone/>
            </a:pPr>
            <a:r>
              <a:rPr lang="en-US" sz="1450" b="1" dirty="0">
                <a:solidFill>
                  <a:srgbClr val="24231F"/>
                </a:solidFill>
                <a:latin typeface="Calibri" pitchFamily="34" charset="0"/>
                <a:ea typeface="Calibri" pitchFamily="34" charset="-122"/>
                <a:cs typeface="Calibri" pitchFamily="34" charset="-120"/>
              </a:rPr>
              <a:t>Decision</a:t>
            </a:r>
            <a:endParaRPr lang="en-US" sz="1450" dirty="0"/>
          </a:p>
        </p:txBody>
      </p:sp>
      <p:sp>
        <p:nvSpPr>
          <p:cNvPr id="35" name="Text 33"/>
          <p:cNvSpPr txBox="1"/>
          <p:nvPr/>
        </p:nvSpPr>
        <p:spPr>
          <a:xfrm>
            <a:off x="9378452" y="2962656"/>
            <a:ext cx="1944563" cy="603504"/>
          </a:xfrm>
          <a:prstGeom prst="rect">
            <a:avLst/>
          </a:prstGeom>
          <a:noFill/>
          <a:ln/>
        </p:spPr>
        <p:txBody>
          <a:bodyPr wrap="square" lIns="0" tIns="0" rIns="0" bIns="0" rtlCol="0" anchor="t"/>
          <a:lstStyle/>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identity + ranked</a:t>
            </a:r>
            <a:endParaRPr lang="en-US" sz="1150" dirty="0"/>
          </a:p>
          <a:p>
            <a:pPr algn="ctr" indent="0" marL="0">
              <a:lnSpc>
                <a:spcPts val="1500"/>
              </a:lnSpc>
              <a:buNone/>
            </a:pPr>
            <a:r>
              <a:rPr lang="en-US" sz="1150" dirty="0">
                <a:solidFill>
                  <a:srgbClr val="8A877F"/>
                </a:solidFill>
                <a:latin typeface="Calibri" pitchFamily="34" charset="0"/>
                <a:ea typeface="Calibri" pitchFamily="34" charset="-122"/>
                <a:cs typeface="Calibri" pitchFamily="34" charset="-120"/>
              </a:rPr>
              <a:t>alternatives</a:t>
            </a:r>
            <a:endParaRPr lang="en-US" sz="1150" dirty="0"/>
          </a:p>
        </p:txBody>
      </p:sp>
      <p:sp>
        <p:nvSpPr>
          <p:cNvPr id="36" name="Shape 34"/>
          <p:cNvSpPr/>
          <p:nvPr/>
        </p:nvSpPr>
        <p:spPr>
          <a:xfrm>
            <a:off x="777240" y="3913632"/>
            <a:ext cx="5394960" cy="2084832"/>
          </a:xfrm>
          <a:prstGeom prst="roundRect">
            <a:avLst>
              <a:gd name="adj" fmla="val 2193"/>
            </a:avLst>
          </a:prstGeom>
          <a:solidFill>
            <a:srgbClr val="F4F3EF"/>
          </a:solidFill>
          <a:ln/>
        </p:spPr>
      </p:sp>
      <p:sp>
        <p:nvSpPr>
          <p:cNvPr id="37" name="Shape 35"/>
          <p:cNvSpPr/>
          <p:nvPr/>
        </p:nvSpPr>
        <p:spPr>
          <a:xfrm>
            <a:off x="1088136" y="4261104"/>
            <a:ext cx="118872" cy="118872"/>
          </a:xfrm>
          <a:prstGeom prst="ellipse">
            <a:avLst/>
          </a:prstGeom>
          <a:solidFill>
            <a:srgbClr val="2A78D6"/>
          </a:solidFill>
          <a:ln/>
        </p:spPr>
      </p:sp>
      <p:sp>
        <p:nvSpPr>
          <p:cNvPr id="38" name="Text 36"/>
          <p:cNvSpPr txBox="1"/>
          <p:nvPr/>
        </p:nvSpPr>
        <p:spPr>
          <a:xfrm>
            <a:off x="1399032" y="4142232"/>
            <a:ext cx="4572000" cy="329184"/>
          </a:xfrm>
          <a:prstGeom prst="rect">
            <a:avLst/>
          </a:prstGeom>
          <a:noFill/>
          <a:ln/>
        </p:spPr>
        <p:txBody>
          <a:bodyPr wrap="square" lIns="0" tIns="0" rIns="0" bIns="0" rtlCol="0" anchor="ctr"/>
          <a:lstStyle/>
          <a:p>
            <a:pPr indent="0" marL="0">
              <a:buNone/>
            </a:pPr>
            <a:r>
              <a:rPr lang="en-US" sz="1500" b="1" dirty="0">
                <a:solidFill>
                  <a:srgbClr val="24231F"/>
                </a:solidFill>
                <a:latin typeface="Calibri" pitchFamily="34" charset="0"/>
                <a:ea typeface="Calibri" pitchFamily="34" charset="-122"/>
                <a:cs typeface="Calibri" pitchFamily="34" charset="-120"/>
              </a:rPr>
              <a:t>Enrolment, not retraining</a:t>
            </a:r>
            <a:endParaRPr lang="en-US" sz="1500" dirty="0"/>
          </a:p>
        </p:txBody>
      </p:sp>
      <p:sp>
        <p:nvSpPr>
          <p:cNvPr id="39" name="Text 37"/>
          <p:cNvSpPr txBox="1"/>
          <p:nvPr/>
        </p:nvSpPr>
        <p:spPr>
          <a:xfrm>
            <a:off x="1088136" y="4590288"/>
            <a:ext cx="4773168" cy="1207008"/>
          </a:xfrm>
          <a:prstGeom prst="rect">
            <a:avLst/>
          </a:prstGeom>
          <a:noFill/>
          <a:ln/>
        </p:spPr>
        <p:txBody>
          <a:bodyPr wrap="square" lIns="0" tIns="0" rIns="0" bIns="0" rtlCol="0" anchor="t"/>
          <a:lstStyle/>
          <a:p>
            <a:pPr indent="0" marL="0">
              <a:lnSpc>
                <a:spcPts val="1850"/>
              </a:lnSpc>
              <a:buNone/>
            </a:pPr>
            <a:r>
              <a:rPr lang="en-US" sz="1300" dirty="0">
                <a:solidFill>
                  <a:srgbClr val="55534E"/>
                </a:solidFill>
                <a:latin typeface="Calibri" pitchFamily="34" charset="0"/>
                <a:ea typeface="Calibri" pitchFamily="34" charset="-122"/>
                <a:cs typeface="Calibri" pitchFamily="34" charset="-120"/>
              </a:rPr>
              <a:t>A new bird is a stored vector. Smew and Skunk are searchable in the deployed gallery although no model was ever trained on them. A softmax head would need a new output layer and a full retrain for every arrival.</a:t>
            </a:r>
            <a:endParaRPr lang="en-US" sz="1300" dirty="0"/>
          </a:p>
        </p:txBody>
      </p:sp>
      <p:sp>
        <p:nvSpPr>
          <p:cNvPr id="40" name="Shape 38"/>
          <p:cNvSpPr/>
          <p:nvPr/>
        </p:nvSpPr>
        <p:spPr>
          <a:xfrm>
            <a:off x="6501384" y="3913632"/>
            <a:ext cx="5394960" cy="2084832"/>
          </a:xfrm>
          <a:prstGeom prst="roundRect">
            <a:avLst>
              <a:gd name="adj" fmla="val 2193"/>
            </a:avLst>
          </a:prstGeom>
          <a:solidFill>
            <a:srgbClr val="F4F3EF"/>
          </a:solidFill>
          <a:ln/>
        </p:spPr>
      </p:sp>
      <p:sp>
        <p:nvSpPr>
          <p:cNvPr id="41" name="Shape 39"/>
          <p:cNvSpPr/>
          <p:nvPr/>
        </p:nvSpPr>
        <p:spPr>
          <a:xfrm>
            <a:off x="6812280" y="4261104"/>
            <a:ext cx="118872" cy="118872"/>
          </a:xfrm>
          <a:prstGeom prst="ellipse">
            <a:avLst/>
          </a:prstGeom>
          <a:solidFill>
            <a:srgbClr val="2A78D6"/>
          </a:solidFill>
          <a:ln/>
        </p:spPr>
      </p:sp>
      <p:sp>
        <p:nvSpPr>
          <p:cNvPr id="42" name="Text 40"/>
          <p:cNvSpPr txBox="1"/>
          <p:nvPr/>
        </p:nvSpPr>
        <p:spPr>
          <a:xfrm>
            <a:off x="7123176" y="4142232"/>
            <a:ext cx="4572000" cy="329184"/>
          </a:xfrm>
          <a:prstGeom prst="rect">
            <a:avLst/>
          </a:prstGeom>
          <a:noFill/>
          <a:ln/>
        </p:spPr>
        <p:txBody>
          <a:bodyPr wrap="square" lIns="0" tIns="0" rIns="0" bIns="0" rtlCol="0" anchor="ctr"/>
          <a:lstStyle/>
          <a:p>
            <a:pPr indent="0" marL="0">
              <a:buNone/>
            </a:pPr>
            <a:r>
              <a:rPr lang="en-US" sz="1500" b="1" dirty="0">
                <a:solidFill>
                  <a:srgbClr val="24231F"/>
                </a:solidFill>
                <a:latin typeface="Calibri" pitchFamily="34" charset="0"/>
                <a:ea typeface="Calibri" pitchFamily="34" charset="-122"/>
                <a:cs typeface="Calibri" pitchFamily="34" charset="-120"/>
              </a:rPr>
              <a:t>A principled way to refuse</a:t>
            </a:r>
            <a:endParaRPr lang="en-US" sz="1500" dirty="0"/>
          </a:p>
        </p:txBody>
      </p:sp>
      <p:sp>
        <p:nvSpPr>
          <p:cNvPr id="43" name="Text 41"/>
          <p:cNvSpPr txBox="1"/>
          <p:nvPr/>
        </p:nvSpPr>
        <p:spPr>
          <a:xfrm>
            <a:off x="6812280" y="4590288"/>
            <a:ext cx="4773168" cy="1207008"/>
          </a:xfrm>
          <a:prstGeom prst="rect">
            <a:avLst/>
          </a:prstGeom>
          <a:noFill/>
          <a:ln/>
        </p:spPr>
        <p:txBody>
          <a:bodyPr wrap="square" lIns="0" tIns="0" rIns="0" bIns="0" rtlCol="0" anchor="t"/>
          <a:lstStyle/>
          <a:p>
            <a:pPr indent="0" marL="0">
              <a:lnSpc>
                <a:spcPts val="1850"/>
              </a:lnSpc>
              <a:buNone/>
            </a:pPr>
            <a:r>
              <a:rPr lang="en-US" sz="1300" dirty="0">
                <a:solidFill>
                  <a:srgbClr val="55534E"/>
                </a:solidFill>
                <a:latin typeface="Calibri" pitchFamily="34" charset="0"/>
                <a:ea typeface="Calibri" pitchFamily="34" charset="-122"/>
                <a:cs typeface="Calibri" pitchFamily="34" charset="-120"/>
              </a:rPr>
              <a:t>Cosine similarity to a prototype carries a threshold. A classifier must spread probability across the names it knows, so it names something — whatever walks past the camera.</a:t>
            </a:r>
            <a:endParaRPr lang="en-US" sz="1300" dirty="0"/>
          </a:p>
        </p:txBody>
      </p:sp>
      <p:sp>
        <p:nvSpPr>
          <p:cNvPr id="44" name="Text 42"/>
          <p:cNvSpPr txBox="1"/>
          <p:nvPr/>
        </p:nvSpPr>
        <p:spPr>
          <a:xfrm>
            <a:off x="777240" y="3602736"/>
            <a:ext cx="5486400" cy="274320"/>
          </a:xfrm>
          <a:prstGeom prst="rect">
            <a:avLst/>
          </a:prstGeom>
          <a:noFill/>
          <a:ln/>
        </p:spPr>
        <p:txBody>
          <a:bodyPr wrap="square" lIns="0" tIns="0" rIns="0" bIns="0" rtlCol="0" anchor="ctr"/>
          <a:lstStyle/>
          <a:p>
            <a:pPr indent="0" marL="0">
              <a:buNone/>
            </a:pPr>
            <a:r>
              <a:rPr lang="en-US" sz="1150" b="1" spc="120" kern="0" dirty="0">
                <a:solidFill>
                  <a:srgbClr val="2A78D6"/>
                </a:solidFill>
                <a:latin typeface="Calibri" pitchFamily="34" charset="0"/>
                <a:ea typeface="Calibri" pitchFamily="34" charset="-122"/>
                <a:cs typeface="Calibri" pitchFamily="34" charset="-120"/>
              </a:rPr>
              <a:t>Why retrieval rather than an 81-way classifier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C4A"/>
        </a:solidFill>
      </p:bgPr>
    </p:bg>
    <p:spTree>
      <p:nvGrpSpPr>
        <p:cNvPr id="1" name=""/>
        <p:cNvGrpSpPr/>
        <p:nvPr/>
      </p:nvGrpSpPr>
      <p:grpSpPr>
        <a:xfrm>
          <a:off x="0" y="0"/>
          <a:ext cx="0" cy="0"/>
          <a:chOff x="0" y="0"/>
          <a:chExt cx="0" cy="0"/>
        </a:xfrm>
      </p:grpSpPr>
      <p:sp>
        <p:nvSpPr>
          <p:cNvPr id="2" name="Shape 0"/>
          <p:cNvSpPr/>
          <p:nvPr/>
        </p:nvSpPr>
        <p:spPr>
          <a:xfrm>
            <a:off x="1005840" y="914400"/>
            <a:ext cx="91440" cy="91440"/>
          </a:xfrm>
          <a:prstGeom prst="ellipse">
            <a:avLst/>
          </a:prstGeom>
          <a:solidFill>
            <a:srgbClr val="AEC8E6">
              <a:alpha val="45000"/>
            </a:srgbClr>
          </a:solidFill>
          <a:ln/>
        </p:spPr>
      </p:sp>
      <p:sp>
        <p:nvSpPr>
          <p:cNvPr id="3" name="Shape 1"/>
          <p:cNvSpPr/>
          <p:nvPr/>
        </p:nvSpPr>
        <p:spPr>
          <a:xfrm>
            <a:off x="2194560" y="640080"/>
            <a:ext cx="54864" cy="54864"/>
          </a:xfrm>
          <a:prstGeom prst="ellipse">
            <a:avLst/>
          </a:prstGeom>
          <a:solidFill>
            <a:srgbClr val="AEC8E6">
              <a:alpha val="45000"/>
            </a:srgbClr>
          </a:solidFill>
          <a:ln/>
        </p:spPr>
      </p:sp>
      <p:sp>
        <p:nvSpPr>
          <p:cNvPr id="4" name="Shape 2"/>
          <p:cNvSpPr/>
          <p:nvPr/>
        </p:nvSpPr>
        <p:spPr>
          <a:xfrm>
            <a:off x="10607040" y="1097280"/>
            <a:ext cx="109728" cy="109728"/>
          </a:xfrm>
          <a:prstGeom prst="ellipse">
            <a:avLst/>
          </a:prstGeom>
          <a:solidFill>
            <a:srgbClr val="AEC8E6">
              <a:alpha val="45000"/>
            </a:srgbClr>
          </a:solidFill>
          <a:ln/>
        </p:spPr>
      </p:sp>
      <p:sp>
        <p:nvSpPr>
          <p:cNvPr id="5" name="Shape 3"/>
          <p:cNvSpPr/>
          <p:nvPr/>
        </p:nvSpPr>
        <p:spPr>
          <a:xfrm>
            <a:off x="11338560" y="2194560"/>
            <a:ext cx="64008" cy="64008"/>
          </a:xfrm>
          <a:prstGeom prst="ellipse">
            <a:avLst/>
          </a:prstGeom>
          <a:solidFill>
            <a:srgbClr val="AEC8E6">
              <a:alpha val="45000"/>
            </a:srgbClr>
          </a:solidFill>
          <a:ln/>
        </p:spPr>
      </p:sp>
      <p:sp>
        <p:nvSpPr>
          <p:cNvPr id="6" name="Shape 4"/>
          <p:cNvSpPr/>
          <p:nvPr/>
        </p:nvSpPr>
        <p:spPr>
          <a:xfrm>
            <a:off x="822960" y="5760720"/>
            <a:ext cx="73152" cy="73152"/>
          </a:xfrm>
          <a:prstGeom prst="ellipse">
            <a:avLst/>
          </a:prstGeom>
          <a:solidFill>
            <a:srgbClr val="AEC8E6">
              <a:alpha val="45000"/>
            </a:srgbClr>
          </a:solidFill>
          <a:ln/>
        </p:spPr>
      </p:sp>
      <p:sp>
        <p:nvSpPr>
          <p:cNvPr id="7" name="Shape 5"/>
          <p:cNvSpPr/>
          <p:nvPr/>
        </p:nvSpPr>
        <p:spPr>
          <a:xfrm>
            <a:off x="10972800" y="5486400"/>
            <a:ext cx="91440" cy="91440"/>
          </a:xfrm>
          <a:prstGeom prst="ellipse">
            <a:avLst/>
          </a:prstGeom>
          <a:solidFill>
            <a:srgbClr val="AEC8E6">
              <a:alpha val="45000"/>
            </a:srgbClr>
          </a:solidFill>
          <a:ln/>
        </p:spPr>
      </p:sp>
      <p:sp>
        <p:nvSpPr>
          <p:cNvPr id="8" name="Shape 6"/>
          <p:cNvSpPr/>
          <p:nvPr/>
        </p:nvSpPr>
        <p:spPr>
          <a:xfrm>
            <a:off x="2743200" y="6126480"/>
            <a:ext cx="54864" cy="54864"/>
          </a:xfrm>
          <a:prstGeom prst="ellipse">
            <a:avLst/>
          </a:prstGeom>
          <a:solidFill>
            <a:srgbClr val="AEC8E6">
              <a:alpha val="45000"/>
            </a:srgbClr>
          </a:solidFill>
          <a:ln/>
        </p:spPr>
      </p:sp>
      <p:sp>
        <p:nvSpPr>
          <p:cNvPr id="9" name="Shape 7"/>
          <p:cNvSpPr/>
          <p:nvPr/>
        </p:nvSpPr>
        <p:spPr>
          <a:xfrm>
            <a:off x="9692640" y="731520"/>
            <a:ext cx="54864" cy="54864"/>
          </a:xfrm>
          <a:prstGeom prst="ellipse">
            <a:avLst/>
          </a:prstGeom>
          <a:solidFill>
            <a:srgbClr val="AEC8E6">
              <a:alpha val="45000"/>
            </a:srgbClr>
          </a:solidFill>
          <a:ln/>
        </p:spPr>
      </p:sp>
      <p:sp>
        <p:nvSpPr>
          <p:cNvPr id="10" name="Text 8"/>
          <p:cNvSpPr txBox="1"/>
          <p:nvPr/>
        </p:nvSpPr>
        <p:spPr>
          <a:xfrm>
            <a:off x="0" y="1207008"/>
            <a:ext cx="12191695" cy="310896"/>
          </a:xfrm>
          <a:prstGeom prst="rect">
            <a:avLst/>
          </a:prstGeom>
          <a:noFill/>
          <a:ln/>
        </p:spPr>
        <p:txBody>
          <a:bodyPr wrap="square" lIns="0" tIns="0" rIns="0" bIns="0" rtlCol="0" anchor="ctr"/>
          <a:lstStyle/>
          <a:p>
            <a:pPr algn="ctr" indent="0" marL="0">
              <a:buNone/>
            </a:pPr>
            <a:r>
              <a:rPr lang="en-US" sz="1300" b="1" spc="260" kern="0" dirty="0">
                <a:solidFill>
                  <a:srgbClr val="AEC8E6"/>
                </a:solidFill>
                <a:latin typeface="Calibri" pitchFamily="34" charset="0"/>
                <a:ea typeface="Calibri" pitchFamily="34" charset="-122"/>
                <a:cs typeface="Calibri" pitchFamily="34" charset="-120"/>
              </a:rPr>
              <a:t>WHERE THIS PROJECT NEARLY ENDED</a:t>
            </a:r>
            <a:endParaRPr lang="en-US" sz="1300" dirty="0"/>
          </a:p>
        </p:txBody>
      </p:sp>
      <p:sp>
        <p:nvSpPr>
          <p:cNvPr id="11" name="Text 9"/>
          <p:cNvSpPr txBox="1"/>
          <p:nvPr/>
        </p:nvSpPr>
        <p:spPr>
          <a:xfrm>
            <a:off x="0" y="1737360"/>
            <a:ext cx="12191695" cy="1920240"/>
          </a:xfrm>
          <a:prstGeom prst="rect">
            <a:avLst/>
          </a:prstGeom>
          <a:noFill/>
          <a:ln/>
        </p:spPr>
        <p:txBody>
          <a:bodyPr wrap="square" lIns="0" tIns="0" rIns="0" bIns="0" rtlCol="0" anchor="ctr"/>
          <a:lstStyle/>
          <a:p>
            <a:pPr algn="ctr" indent="0" marL="0">
              <a:buNone/>
            </a:pPr>
            <a:r>
              <a:rPr lang="en-US" sz="15000" b="1" dirty="0">
                <a:solidFill>
                  <a:srgbClr val="FFFFFF"/>
                </a:solidFill>
                <a:latin typeface="Cambria" pitchFamily="34" charset="0"/>
                <a:ea typeface="Cambria" pitchFamily="34" charset="-122"/>
                <a:cs typeface="Cambria" pitchFamily="34" charset="-120"/>
              </a:rPr>
              <a:t>0.950</a:t>
            </a:r>
            <a:endParaRPr lang="en-US" sz="15000" dirty="0"/>
          </a:p>
        </p:txBody>
      </p:sp>
      <p:sp>
        <p:nvSpPr>
          <p:cNvPr id="12" name="Text 10"/>
          <p:cNvSpPr txBox="1"/>
          <p:nvPr/>
        </p:nvSpPr>
        <p:spPr>
          <a:xfrm>
            <a:off x="0" y="3794760"/>
            <a:ext cx="12191695" cy="365760"/>
          </a:xfrm>
          <a:prstGeom prst="rect">
            <a:avLst/>
          </a:prstGeom>
          <a:noFill/>
          <a:ln/>
        </p:spPr>
        <p:txBody>
          <a:bodyPr wrap="square" lIns="0" tIns="0" rIns="0" bIns="0" rtlCol="0" anchor="ctr"/>
          <a:lstStyle/>
          <a:p>
            <a:pPr algn="ctr" indent="0" marL="0">
              <a:buNone/>
            </a:pPr>
            <a:r>
              <a:rPr lang="en-US" sz="1900" dirty="0">
                <a:solidFill>
                  <a:srgbClr val="D6E4F5"/>
                </a:solidFill>
                <a:latin typeface="Calibri" pitchFamily="34" charset="0"/>
                <a:ea typeface="Calibri" pitchFamily="34" charset="-122"/>
                <a:cs typeface="Calibri" pitchFamily="34" charset="-120"/>
              </a:rPr>
              <a:t>Test accuracy. ResNet18 over 44 individuals, random 70:15:15 split.</a:t>
            </a:r>
            <a:endParaRPr lang="en-US" sz="1900" dirty="0"/>
          </a:p>
        </p:txBody>
      </p:sp>
      <p:sp>
        <p:nvSpPr>
          <p:cNvPr id="13" name="Text 11"/>
          <p:cNvSpPr txBox="1"/>
          <p:nvPr/>
        </p:nvSpPr>
        <p:spPr>
          <a:xfrm>
            <a:off x="0" y="4187952"/>
            <a:ext cx="12191695" cy="365760"/>
          </a:xfrm>
          <a:prstGeom prst="rect">
            <a:avLst/>
          </a:prstGeom>
          <a:noFill/>
          <a:ln/>
        </p:spPr>
        <p:txBody>
          <a:bodyPr wrap="square" lIns="0" tIns="0" rIns="0" bIns="0" rtlCol="0" anchor="ctr"/>
          <a:lstStyle/>
          <a:p>
            <a:pPr algn="ctr" indent="0" marL="0">
              <a:buNone/>
            </a:pPr>
            <a:r>
              <a:rPr lang="en-US" sz="1600" dirty="0">
                <a:solidFill>
                  <a:srgbClr val="AEC8E6"/>
                </a:solidFill>
                <a:latin typeface="Calibri" pitchFamily="34" charset="0"/>
                <a:ea typeface="Calibri" pitchFamily="34" charset="-122"/>
                <a:cs typeface="Calibri" pitchFamily="34" charset="-120"/>
              </a:rPr>
              <a:t>Frozen features plus FAISS retrieval scored 0.959. Both looked like a finished system.</a:t>
            </a:r>
            <a:endParaRPr lang="en-US" sz="1600" dirty="0"/>
          </a:p>
        </p:txBody>
      </p:sp>
      <p:sp>
        <p:nvSpPr>
          <p:cNvPr id="14" name="Text 12"/>
          <p:cNvSpPr txBox="1"/>
          <p:nvPr/>
        </p:nvSpPr>
        <p:spPr>
          <a:xfrm>
            <a:off x="0" y="5138928"/>
            <a:ext cx="12191695" cy="548640"/>
          </a:xfrm>
          <a:prstGeom prst="rect">
            <a:avLst/>
          </a:prstGeom>
          <a:noFill/>
          <a:ln/>
        </p:spPr>
        <p:txBody>
          <a:bodyPr wrap="square" lIns="0" tIns="0" rIns="0" bIns="0" rtlCol="0" anchor="ctr"/>
          <a:lstStyle/>
          <a:p>
            <a:pPr algn="ctr" indent="0" marL="0">
              <a:buNone/>
            </a:pPr>
            <a:r>
              <a:rPr lang="en-US" sz="3000" b="1" i="1" dirty="0">
                <a:solidFill>
                  <a:srgbClr val="EB6834"/>
                </a:solidFill>
                <a:latin typeface="Cambria" pitchFamily="34" charset="0"/>
                <a:ea typeface="Cambria" pitchFamily="34" charset="-122"/>
                <a:cs typeface="Cambria" pitchFamily="34" charset="-120"/>
              </a:rPr>
              <a:t>It was not.</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THE AUDIT</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Then I looked at what was in the test set</a:t>
            </a:r>
            <a:endParaRPr lang="en-US" sz="3200" dirty="0"/>
          </a:p>
        </p:txBody>
      </p:sp>
      <p:sp>
        <p:nvSpPr>
          <p:cNvPr id="4" name="Text 2"/>
          <p:cNvSpPr txBox="1"/>
          <p:nvPr/>
        </p:nvSpPr>
        <p:spPr>
          <a:xfrm>
            <a:off x="777240" y="1499616"/>
            <a:ext cx="5074920" cy="868680"/>
          </a:xfrm>
          <a:prstGeom prst="rect">
            <a:avLst/>
          </a:prstGeom>
          <a:noFill/>
          <a:ln/>
        </p:spPr>
        <p:txBody>
          <a:bodyPr wrap="square" lIns="0" tIns="0" rIns="0" bIns="0" rtlCol="0" anchor="t"/>
          <a:lstStyle/>
          <a:p>
            <a:pPr indent="0" marL="0">
              <a:lnSpc>
                <a:spcPts val="2100"/>
              </a:lnSpc>
              <a:buNone/>
            </a:pPr>
            <a:r>
              <a:rPr lang="en-US" sz="1500" dirty="0">
                <a:solidFill>
                  <a:srgbClr val="24231F"/>
                </a:solidFill>
                <a:latin typeface="Calibri" pitchFamily="34" charset="0"/>
                <a:ea typeface="Calibri" pitchFamily="34" charset="-122"/>
                <a:cs typeface="Calibri" pitchFamily="34" charset="-120"/>
              </a:rPr>
              <a:t>The archive is full of bursts — DSC_2743 … 2749: one camera, one moment, seven frames. A random split scatters those frames across train and test.</a:t>
            </a:r>
            <a:endParaRPr lang="en-US" sz="1500" dirty="0"/>
          </a:p>
        </p:txBody>
      </p:sp>
      <p:sp>
        <p:nvSpPr>
          <p:cNvPr id="5" name="Shape 3"/>
          <p:cNvSpPr/>
          <p:nvPr/>
        </p:nvSpPr>
        <p:spPr>
          <a:xfrm>
            <a:off x="777240" y="2601468"/>
            <a:ext cx="118872" cy="118872"/>
          </a:xfrm>
          <a:prstGeom prst="ellipse">
            <a:avLst/>
          </a:prstGeom>
          <a:solidFill>
            <a:srgbClr val="EB6834"/>
          </a:solidFill>
          <a:ln/>
        </p:spPr>
      </p:sp>
      <p:sp>
        <p:nvSpPr>
          <p:cNvPr id="6" name="Text 4"/>
          <p:cNvSpPr txBox="1"/>
          <p:nvPr/>
        </p:nvSpPr>
        <p:spPr>
          <a:xfrm>
            <a:off x="1088136" y="2478024"/>
            <a:ext cx="4764024" cy="713232"/>
          </a:xfrm>
          <a:prstGeom prst="rect">
            <a:avLst/>
          </a:prstGeom>
          <a:noFill/>
          <a:ln/>
        </p:spPr>
        <p:txBody>
          <a:bodyPr wrap="square" lIns="0" tIns="0" rIns="0" bIns="0" rtlCol="0" anchor="t"/>
          <a:lstStyle/>
          <a:p>
            <a:pPr indent="0" marL="0">
              <a:lnSpc>
                <a:spcPts val="1792"/>
              </a:lnSpc>
              <a:buNone/>
            </a:pPr>
            <a:r>
              <a:rPr lang="en-US" sz="1400" dirty="0">
                <a:solidFill>
                  <a:srgbClr val="55534E"/>
                </a:solidFill>
                <a:latin typeface="Calibri" pitchFamily="34" charset="0"/>
                <a:ea typeface="Calibri" pitchFamily="34" charset="-122"/>
                <a:cs typeface="Calibri" pitchFamily="34" charset="-120"/>
              </a:rPr>
              <a:t>97.8% of test photographs shared a capture session with a photograph in the gallery.</a:t>
            </a:r>
            <a:endParaRPr lang="en-US" sz="1400" dirty="0"/>
          </a:p>
        </p:txBody>
      </p:sp>
      <p:sp>
        <p:nvSpPr>
          <p:cNvPr id="7" name="Shape 5"/>
          <p:cNvSpPr/>
          <p:nvPr/>
        </p:nvSpPr>
        <p:spPr>
          <a:xfrm>
            <a:off x="777240" y="3314700"/>
            <a:ext cx="118872" cy="118872"/>
          </a:xfrm>
          <a:prstGeom prst="ellipse">
            <a:avLst/>
          </a:prstGeom>
          <a:solidFill>
            <a:srgbClr val="EB6834"/>
          </a:solidFill>
          <a:ln/>
        </p:spPr>
      </p:sp>
      <p:sp>
        <p:nvSpPr>
          <p:cNvPr id="8" name="Text 6"/>
          <p:cNvSpPr txBox="1"/>
          <p:nvPr/>
        </p:nvSpPr>
        <p:spPr>
          <a:xfrm>
            <a:off x="1088136" y="3191256"/>
            <a:ext cx="4764024" cy="713232"/>
          </a:xfrm>
          <a:prstGeom prst="rect">
            <a:avLst/>
          </a:prstGeom>
          <a:noFill/>
          <a:ln/>
        </p:spPr>
        <p:txBody>
          <a:bodyPr wrap="square" lIns="0" tIns="0" rIns="0" bIns="0" rtlCol="0" anchor="t"/>
          <a:lstStyle/>
          <a:p>
            <a:pPr indent="0" marL="0">
              <a:lnSpc>
                <a:spcPts val="1792"/>
              </a:lnSpc>
              <a:buNone/>
            </a:pPr>
            <a:r>
              <a:rPr lang="en-US" sz="1400" dirty="0">
                <a:solidFill>
                  <a:srgbClr val="55534E"/>
                </a:solidFill>
                <a:latin typeface="Calibri" pitchFamily="34" charset="0"/>
                <a:ea typeface="Calibri" pitchFamily="34" charset="-122"/>
                <a:cs typeface="Calibri" pitchFamily="34" charset="-120"/>
              </a:rPr>
              <a:t>13.8% had an outright near-duplicate, by perceptual hash and pixel correlation.</a:t>
            </a:r>
            <a:endParaRPr lang="en-US" sz="1400" dirty="0"/>
          </a:p>
        </p:txBody>
      </p:sp>
      <p:sp>
        <p:nvSpPr>
          <p:cNvPr id="9" name="Shape 7"/>
          <p:cNvSpPr/>
          <p:nvPr/>
        </p:nvSpPr>
        <p:spPr>
          <a:xfrm>
            <a:off x="777240" y="4027932"/>
            <a:ext cx="118872" cy="118872"/>
          </a:xfrm>
          <a:prstGeom prst="ellipse">
            <a:avLst/>
          </a:prstGeom>
          <a:solidFill>
            <a:srgbClr val="EB6834"/>
          </a:solidFill>
          <a:ln/>
        </p:spPr>
      </p:sp>
      <p:sp>
        <p:nvSpPr>
          <p:cNvPr id="10" name="Text 8"/>
          <p:cNvSpPr txBox="1"/>
          <p:nvPr/>
        </p:nvSpPr>
        <p:spPr>
          <a:xfrm>
            <a:off x="1088136" y="3904488"/>
            <a:ext cx="4764024" cy="713232"/>
          </a:xfrm>
          <a:prstGeom prst="rect">
            <a:avLst/>
          </a:prstGeom>
          <a:noFill/>
          <a:ln/>
        </p:spPr>
        <p:txBody>
          <a:bodyPr wrap="square" lIns="0" tIns="0" rIns="0" bIns="0" rtlCol="0" anchor="t"/>
          <a:lstStyle/>
          <a:p>
            <a:pPr indent="0" marL="0">
              <a:lnSpc>
                <a:spcPts val="1792"/>
              </a:lnSpc>
              <a:buNone/>
            </a:pPr>
            <a:r>
              <a:rPr lang="en-US" sz="1400" dirty="0">
                <a:solidFill>
                  <a:srgbClr val="55534E"/>
                </a:solidFill>
                <a:latin typeface="Calibri" pitchFamily="34" charset="0"/>
                <a:ea typeface="Calibri" pitchFamily="34" charset="-122"/>
                <a:cs typeface="Calibri" pitchFamily="34" charset="-120"/>
              </a:rPr>
              <a:t>Of the EXIF-stamped photographs, ~29% were within one second of their nearest training image.</a:t>
            </a:r>
            <a:endParaRPr lang="en-US" sz="1400" dirty="0"/>
          </a:p>
        </p:txBody>
      </p:sp>
      <p:sp>
        <p:nvSpPr>
          <p:cNvPr id="11" name="Shape 9"/>
          <p:cNvSpPr/>
          <p:nvPr/>
        </p:nvSpPr>
        <p:spPr>
          <a:xfrm>
            <a:off x="777240" y="4700016"/>
            <a:ext cx="5074920" cy="1481328"/>
          </a:xfrm>
          <a:prstGeom prst="roundRect">
            <a:avLst>
              <a:gd name="adj" fmla="val 3086"/>
            </a:avLst>
          </a:prstGeom>
          <a:solidFill>
            <a:srgbClr val="102C4A"/>
          </a:solidFill>
          <a:ln/>
        </p:spPr>
      </p:sp>
      <p:sp>
        <p:nvSpPr>
          <p:cNvPr id="12" name="Text 10"/>
          <p:cNvSpPr txBox="1"/>
          <p:nvPr/>
        </p:nvSpPr>
        <p:spPr>
          <a:xfrm>
            <a:off x="1069848" y="4901184"/>
            <a:ext cx="4526280" cy="749808"/>
          </a:xfrm>
          <a:prstGeom prst="rect">
            <a:avLst/>
          </a:prstGeom>
          <a:noFill/>
          <a:ln/>
        </p:spPr>
        <p:txBody>
          <a:bodyPr wrap="square" lIns="0" tIns="0" rIns="0" bIns="0" rtlCol="0" anchor="t"/>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Same 35 birds. Same 1,743 photographs. Same per-bird partition sizes. Same training recipe. Only the splitting rule changed.</a:t>
            </a:r>
            <a:endParaRPr lang="en-US" sz="1400" dirty="0"/>
          </a:p>
        </p:txBody>
      </p:sp>
      <p:sp>
        <p:nvSpPr>
          <p:cNvPr id="13" name="Text 11"/>
          <p:cNvSpPr txBox="1"/>
          <p:nvPr/>
        </p:nvSpPr>
        <p:spPr>
          <a:xfrm>
            <a:off x="1069848" y="5632704"/>
            <a:ext cx="4526280" cy="365760"/>
          </a:xfrm>
          <a:prstGeom prst="rect">
            <a:avLst/>
          </a:prstGeom>
          <a:noFill/>
          <a:ln/>
        </p:spPr>
        <p:txBody>
          <a:bodyPr wrap="square" lIns="0" tIns="0" rIns="0" bIns="0" rtlCol="0" anchor="ctr"/>
          <a:lstStyle/>
          <a:p>
            <a:pPr indent="0" marL="0">
              <a:buNone/>
            </a:pPr>
            <a:r>
              <a:rPr lang="en-US" sz="1300" dirty="0">
                <a:solidFill>
                  <a:srgbClr val="AEC8E6"/>
                </a:solidFill>
                <a:latin typeface="Calibri" pitchFamily="34" charset="0"/>
                <a:ea typeface="Calibri" pitchFamily="34" charset="-122"/>
                <a:cs typeface="Calibri" pitchFamily="34" charset="-120"/>
              </a:rPr>
              <a:t>Absolute inflation:  </a:t>
            </a:r>
            <a:pPr indent="0" marL="0">
              <a:buNone/>
            </a:pPr>
            <a:r>
              <a:rPr lang="en-US" sz="2000" b="1" dirty="0">
                <a:solidFill>
                  <a:srgbClr val="EB6834"/>
                </a:solidFill>
                <a:latin typeface="Cambria" pitchFamily="34" charset="0"/>
                <a:ea typeface="Cambria" pitchFamily="34" charset="-122"/>
                <a:cs typeface="Cambria" pitchFamily="34" charset="-120"/>
              </a:rPr>
              <a:t>0.531</a:t>
            </a:r>
            <a:endParaRPr lang="en-US" sz="1300" dirty="0"/>
          </a:p>
        </p:txBody>
      </p:sp>
      <p:pic>
        <p:nvPicPr>
          <p:cNvPr id="14" name="Image 0" descr="/tmp/claude-0/-home-user-pgs/4a5325c7-76e4-5bb8-8cfc-4bd4c3ab42b2/scratchpad/fig/06_leakage_random_vs_session.jpg">    </p:cNvPr>
          <p:cNvPicPr>
            <a:picLocks noChangeAspect="1"/>
          </p:cNvPicPr>
          <p:nvPr/>
        </p:nvPicPr>
        <p:blipFill>
          <a:blip r:embed="rId1"/>
          <a:stretch>
            <a:fillRect/>
          </a:stretch>
        </p:blipFill>
        <p:spPr>
          <a:xfrm>
            <a:off x="6263640" y="1499616"/>
            <a:ext cx="5623560" cy="3956737"/>
          </a:xfrm>
          <a:prstGeom prst="rect">
            <a:avLst/>
          </a:prstGeom>
        </p:spPr>
      </p:pic>
      <p:sp>
        <p:nvSpPr>
          <p:cNvPr id="15" name="Text 12"/>
          <p:cNvSpPr txBox="1"/>
          <p:nvPr/>
        </p:nvSpPr>
        <p:spPr>
          <a:xfrm>
            <a:off x="6263640" y="5541264"/>
            <a:ext cx="5623560" cy="365760"/>
          </a:xfrm>
          <a:prstGeom prst="rect">
            <a:avLst/>
          </a:prstGeom>
          <a:noFill/>
          <a:ln/>
        </p:spPr>
        <p:txBody>
          <a:bodyPr wrap="square" lIns="0" tIns="0" rIns="0" bIns="0" rtlCol="0" anchor="t"/>
          <a:lstStyle/>
          <a:p>
            <a:pPr algn="ctr" indent="0" marL="0">
              <a:buNone/>
            </a:pPr>
            <a:r>
              <a:rPr lang="en-US" sz="1100" i="1" dirty="0">
                <a:solidFill>
                  <a:srgbClr val="8A877F"/>
                </a:solidFill>
                <a:latin typeface="Calibri" pitchFamily="34" charset="0"/>
                <a:ea typeface="Calibri" pitchFamily="34" charset="-122"/>
                <a:cs typeface="Calibri" pitchFamily="34" charset="-120"/>
              </a:rPr>
              <a:t>Macro accuracy: each individual weighted equally, whatever its photograph count.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THE PROTOCOL</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An evaluation that cannot flatter itself</a:t>
            </a:r>
            <a:endParaRPr lang="en-US" sz="3200" dirty="0"/>
          </a:p>
        </p:txBody>
      </p:sp>
      <p:sp>
        <p:nvSpPr>
          <p:cNvPr id="4" name="Shape 2"/>
          <p:cNvSpPr/>
          <p:nvPr/>
        </p:nvSpPr>
        <p:spPr>
          <a:xfrm>
            <a:off x="777240" y="1481328"/>
            <a:ext cx="5394960" cy="1874520"/>
          </a:xfrm>
          <a:prstGeom prst="roundRect">
            <a:avLst>
              <a:gd name="adj" fmla="val 2439"/>
            </a:avLst>
          </a:prstGeom>
          <a:solidFill>
            <a:srgbClr val="F4F3EF"/>
          </a:solidFill>
          <a:ln/>
        </p:spPr>
      </p:sp>
      <p:sp>
        <p:nvSpPr>
          <p:cNvPr id="5" name="Shape 3"/>
          <p:cNvSpPr/>
          <p:nvPr/>
        </p:nvSpPr>
        <p:spPr>
          <a:xfrm>
            <a:off x="1069848" y="1755648"/>
            <a:ext cx="402336" cy="402336"/>
          </a:xfrm>
          <a:prstGeom prst="ellipse">
            <a:avLst/>
          </a:prstGeom>
          <a:solidFill>
            <a:srgbClr val="2A78D6"/>
          </a:solidFill>
          <a:ln/>
        </p:spPr>
      </p:sp>
      <p:sp>
        <p:nvSpPr>
          <p:cNvPr id="6" name="Text 4"/>
          <p:cNvSpPr txBox="1"/>
          <p:nvPr/>
        </p:nvSpPr>
        <p:spPr>
          <a:xfrm>
            <a:off x="1069848" y="1755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618488" y="1737360"/>
            <a:ext cx="4261104" cy="438912"/>
          </a:xfrm>
          <a:prstGeom prst="rect">
            <a:avLst/>
          </a:prstGeom>
          <a:noFill/>
          <a:ln/>
        </p:spPr>
        <p:txBody>
          <a:bodyPr wrap="square" lIns="0" tIns="0" rIns="0" bIns="0" rtlCol="0" anchor="ctr"/>
          <a:lstStyle/>
          <a:p>
            <a:pPr indent="0" marL="0">
              <a:lnSpc>
                <a:spcPts val="1900"/>
              </a:lnSpc>
              <a:buNone/>
            </a:pPr>
            <a:r>
              <a:rPr lang="en-US" sz="1500" b="1" dirty="0">
                <a:solidFill>
                  <a:srgbClr val="24231F"/>
                </a:solidFill>
                <a:latin typeface="Calibri" pitchFamily="34" charset="0"/>
                <a:ea typeface="Calibri" pitchFamily="34" charset="-122"/>
                <a:cs typeface="Calibri" pitchFamily="34" charset="-120"/>
              </a:rPr>
              <a:t>The unit is the encounter</a:t>
            </a:r>
            <a:endParaRPr lang="en-US" sz="1500" dirty="0"/>
          </a:p>
        </p:txBody>
      </p:sp>
      <p:sp>
        <p:nvSpPr>
          <p:cNvPr id="8" name="Text 6"/>
          <p:cNvSpPr txBox="1"/>
          <p:nvPr/>
        </p:nvSpPr>
        <p:spPr>
          <a:xfrm>
            <a:off x="1069848" y="2286000"/>
            <a:ext cx="4809744" cy="914400"/>
          </a:xfrm>
          <a:prstGeom prst="rect">
            <a:avLst/>
          </a:prstGeom>
          <a:noFill/>
          <a:ln/>
        </p:spPr>
        <p:txBody>
          <a:bodyPr wrap="square" lIns="0" tIns="0" rIns="0" bIns="0" rtlCol="0" anchor="t"/>
          <a:lstStyle/>
          <a:p>
            <a:pPr indent="0" marL="0">
              <a:lnSpc>
                <a:spcPts val="1750"/>
              </a:lnSpc>
              <a:buNone/>
            </a:pPr>
            <a:r>
              <a:rPr lang="en-US" sz="1250" dirty="0">
                <a:solidFill>
                  <a:srgbClr val="55534E"/>
                </a:solidFill>
                <a:latin typeface="Calibri" pitchFamily="34" charset="0"/>
                <a:ea typeface="Calibri" pitchFamily="34" charset="-122"/>
                <a:cs typeface="Calibri" pitchFamily="34" charset="-120"/>
              </a:rPr>
              <a:t>A capture session is one photographic occasion, inferred from filename prefix and a frame-number gap above 50, cross-checked against EXIF. 335 sessions across the colony.</a:t>
            </a:r>
            <a:endParaRPr lang="en-US" sz="1250" dirty="0"/>
          </a:p>
        </p:txBody>
      </p:sp>
      <p:sp>
        <p:nvSpPr>
          <p:cNvPr id="9" name="Shape 7"/>
          <p:cNvSpPr/>
          <p:nvPr/>
        </p:nvSpPr>
        <p:spPr>
          <a:xfrm>
            <a:off x="6501384" y="1481328"/>
            <a:ext cx="5394960" cy="1874520"/>
          </a:xfrm>
          <a:prstGeom prst="roundRect">
            <a:avLst>
              <a:gd name="adj" fmla="val 2439"/>
            </a:avLst>
          </a:prstGeom>
          <a:solidFill>
            <a:srgbClr val="F4F3EF"/>
          </a:solidFill>
          <a:ln/>
        </p:spPr>
      </p:sp>
      <p:sp>
        <p:nvSpPr>
          <p:cNvPr id="10" name="Shape 8"/>
          <p:cNvSpPr/>
          <p:nvPr/>
        </p:nvSpPr>
        <p:spPr>
          <a:xfrm>
            <a:off x="6793992" y="1755648"/>
            <a:ext cx="402336" cy="402336"/>
          </a:xfrm>
          <a:prstGeom prst="ellipse">
            <a:avLst/>
          </a:prstGeom>
          <a:solidFill>
            <a:srgbClr val="2A78D6"/>
          </a:solidFill>
          <a:ln/>
        </p:spPr>
      </p:sp>
      <p:sp>
        <p:nvSpPr>
          <p:cNvPr id="11" name="Text 9"/>
          <p:cNvSpPr txBox="1"/>
          <p:nvPr/>
        </p:nvSpPr>
        <p:spPr>
          <a:xfrm>
            <a:off x="6793992" y="1755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342632" y="1737360"/>
            <a:ext cx="4261104" cy="438912"/>
          </a:xfrm>
          <a:prstGeom prst="rect">
            <a:avLst/>
          </a:prstGeom>
          <a:noFill/>
          <a:ln/>
        </p:spPr>
        <p:txBody>
          <a:bodyPr wrap="square" lIns="0" tIns="0" rIns="0" bIns="0" rtlCol="0" anchor="ctr"/>
          <a:lstStyle/>
          <a:p>
            <a:pPr indent="0" marL="0">
              <a:lnSpc>
                <a:spcPts val="1900"/>
              </a:lnSpc>
              <a:buNone/>
            </a:pPr>
            <a:r>
              <a:rPr lang="en-US" sz="1500" b="1" dirty="0">
                <a:solidFill>
                  <a:srgbClr val="24231F"/>
                </a:solidFill>
                <a:latin typeface="Calibri" pitchFamily="34" charset="0"/>
                <a:ea typeface="Calibri" pitchFamily="34" charset="-122"/>
                <a:cs typeface="Calibri" pitchFamily="34" charset="-120"/>
              </a:rPr>
              <a:t>Sessions are dealt into folds, never photographs</a:t>
            </a:r>
            <a:endParaRPr lang="en-US" sz="1500" dirty="0"/>
          </a:p>
        </p:txBody>
      </p:sp>
      <p:sp>
        <p:nvSpPr>
          <p:cNvPr id="13" name="Text 11"/>
          <p:cNvSpPr txBox="1"/>
          <p:nvPr/>
        </p:nvSpPr>
        <p:spPr>
          <a:xfrm>
            <a:off x="6793992" y="2286000"/>
            <a:ext cx="4809744" cy="914400"/>
          </a:xfrm>
          <a:prstGeom prst="rect">
            <a:avLst/>
          </a:prstGeom>
          <a:noFill/>
          <a:ln/>
        </p:spPr>
        <p:txBody>
          <a:bodyPr wrap="square" lIns="0" tIns="0" rIns="0" bIns="0" rtlCol="0" anchor="t"/>
          <a:lstStyle/>
          <a:p>
            <a:pPr indent="0" marL="0">
              <a:lnSpc>
                <a:spcPts val="1750"/>
              </a:lnSpc>
              <a:buNone/>
            </a:pPr>
            <a:r>
              <a:rPr lang="en-US" sz="1250" dirty="0">
                <a:solidFill>
                  <a:srgbClr val="55534E"/>
                </a:solidFill>
                <a:latin typeface="Calibri" pitchFamily="34" charset="0"/>
                <a:ea typeface="Calibri" pitchFamily="34" charset="-122"/>
                <a:cs typeface="Calibri" pitchFamily="34" charset="-120"/>
              </a:rPr>
              <a:t>Session-wise five-fold cross-validation. All 1,743 photographs are tested exactly once, each by a model that never saw its own session — against 261 under a single split.</a:t>
            </a:r>
            <a:endParaRPr lang="en-US" sz="1250" dirty="0"/>
          </a:p>
        </p:txBody>
      </p:sp>
      <p:sp>
        <p:nvSpPr>
          <p:cNvPr id="14" name="Shape 12"/>
          <p:cNvSpPr/>
          <p:nvPr/>
        </p:nvSpPr>
        <p:spPr>
          <a:xfrm>
            <a:off x="777240" y="3630168"/>
            <a:ext cx="5394960" cy="1874520"/>
          </a:xfrm>
          <a:prstGeom prst="roundRect">
            <a:avLst>
              <a:gd name="adj" fmla="val 2439"/>
            </a:avLst>
          </a:prstGeom>
          <a:solidFill>
            <a:srgbClr val="F4F3EF"/>
          </a:solidFill>
          <a:ln/>
        </p:spPr>
      </p:sp>
      <p:sp>
        <p:nvSpPr>
          <p:cNvPr id="15" name="Shape 13"/>
          <p:cNvSpPr/>
          <p:nvPr/>
        </p:nvSpPr>
        <p:spPr>
          <a:xfrm>
            <a:off x="1069848" y="3904488"/>
            <a:ext cx="402336" cy="402336"/>
          </a:xfrm>
          <a:prstGeom prst="ellipse">
            <a:avLst/>
          </a:prstGeom>
          <a:solidFill>
            <a:srgbClr val="2A78D6"/>
          </a:solidFill>
          <a:ln/>
        </p:spPr>
      </p:sp>
      <p:sp>
        <p:nvSpPr>
          <p:cNvPr id="16" name="Text 14"/>
          <p:cNvSpPr txBox="1"/>
          <p:nvPr/>
        </p:nvSpPr>
        <p:spPr>
          <a:xfrm>
            <a:off x="1069848" y="3904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618488" y="3886200"/>
            <a:ext cx="4261104" cy="438912"/>
          </a:xfrm>
          <a:prstGeom prst="rect">
            <a:avLst/>
          </a:prstGeom>
          <a:noFill/>
          <a:ln/>
        </p:spPr>
        <p:txBody>
          <a:bodyPr wrap="square" lIns="0" tIns="0" rIns="0" bIns="0" rtlCol="0" anchor="ctr"/>
          <a:lstStyle/>
          <a:p>
            <a:pPr indent="0" marL="0">
              <a:lnSpc>
                <a:spcPts val="1900"/>
              </a:lnSpc>
              <a:buNone/>
            </a:pPr>
            <a:r>
              <a:rPr lang="en-US" sz="1500" b="1" dirty="0">
                <a:solidFill>
                  <a:srgbClr val="24231F"/>
                </a:solidFill>
                <a:latin typeface="Calibri" pitchFamily="34" charset="0"/>
                <a:ea typeface="Calibri" pitchFamily="34" charset="-122"/>
                <a:cs typeface="Calibri" pitchFamily="34" charset="-120"/>
              </a:rPr>
              <a:t>Every bird counts once</a:t>
            </a:r>
            <a:endParaRPr lang="en-US" sz="1500" dirty="0"/>
          </a:p>
        </p:txBody>
      </p:sp>
      <p:sp>
        <p:nvSpPr>
          <p:cNvPr id="18" name="Text 16"/>
          <p:cNvSpPr txBox="1"/>
          <p:nvPr/>
        </p:nvSpPr>
        <p:spPr>
          <a:xfrm>
            <a:off x="1069848" y="4434840"/>
            <a:ext cx="4809744" cy="914400"/>
          </a:xfrm>
          <a:prstGeom prst="rect">
            <a:avLst/>
          </a:prstGeom>
          <a:noFill/>
          <a:ln/>
        </p:spPr>
        <p:txBody>
          <a:bodyPr wrap="square" lIns="0" tIns="0" rIns="0" bIns="0" rtlCol="0" anchor="t"/>
          <a:lstStyle/>
          <a:p>
            <a:pPr indent="0" marL="0">
              <a:lnSpc>
                <a:spcPts val="1750"/>
              </a:lnSpc>
              <a:buNone/>
            </a:pPr>
            <a:r>
              <a:rPr lang="en-US" sz="1250" dirty="0">
                <a:solidFill>
                  <a:srgbClr val="55534E"/>
                </a:solidFill>
                <a:latin typeface="Calibri" pitchFamily="34" charset="0"/>
                <a:ea typeface="Calibri" pitchFamily="34" charset="-122"/>
                <a:cs typeface="Calibri" pitchFamily="34" charset="-120"/>
              </a:rPr>
              <a:t>Macro averaging throughout: Medici's 291 photographs weigh exactly as much as Beau's 19. Per-image accuracy silently adopts a prior over which penguin gets photographed.</a:t>
            </a:r>
            <a:endParaRPr lang="en-US" sz="1250" dirty="0"/>
          </a:p>
        </p:txBody>
      </p:sp>
      <p:sp>
        <p:nvSpPr>
          <p:cNvPr id="19" name="Shape 17"/>
          <p:cNvSpPr/>
          <p:nvPr/>
        </p:nvSpPr>
        <p:spPr>
          <a:xfrm>
            <a:off x="6501384" y="3630168"/>
            <a:ext cx="5394960" cy="1874520"/>
          </a:xfrm>
          <a:prstGeom prst="roundRect">
            <a:avLst>
              <a:gd name="adj" fmla="val 2439"/>
            </a:avLst>
          </a:prstGeom>
          <a:solidFill>
            <a:srgbClr val="F4F3EF"/>
          </a:solidFill>
          <a:ln/>
        </p:spPr>
      </p:sp>
      <p:sp>
        <p:nvSpPr>
          <p:cNvPr id="20" name="Shape 18"/>
          <p:cNvSpPr/>
          <p:nvPr/>
        </p:nvSpPr>
        <p:spPr>
          <a:xfrm>
            <a:off x="6793992" y="3904488"/>
            <a:ext cx="402336" cy="402336"/>
          </a:xfrm>
          <a:prstGeom prst="ellipse">
            <a:avLst/>
          </a:prstGeom>
          <a:solidFill>
            <a:srgbClr val="2A78D6"/>
          </a:solidFill>
          <a:ln/>
        </p:spPr>
      </p:sp>
      <p:sp>
        <p:nvSpPr>
          <p:cNvPr id="21" name="Text 19"/>
          <p:cNvSpPr txBox="1"/>
          <p:nvPr/>
        </p:nvSpPr>
        <p:spPr>
          <a:xfrm>
            <a:off x="6793992" y="3904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342632" y="3886200"/>
            <a:ext cx="4261104" cy="438912"/>
          </a:xfrm>
          <a:prstGeom prst="rect">
            <a:avLst/>
          </a:prstGeom>
          <a:noFill/>
          <a:ln/>
        </p:spPr>
        <p:txBody>
          <a:bodyPr wrap="square" lIns="0" tIns="0" rIns="0" bIns="0" rtlCol="0" anchor="ctr"/>
          <a:lstStyle/>
          <a:p>
            <a:pPr indent="0" marL="0">
              <a:lnSpc>
                <a:spcPts val="1900"/>
              </a:lnSpc>
              <a:buNone/>
            </a:pPr>
            <a:r>
              <a:rPr lang="en-US" sz="1500" b="1" dirty="0">
                <a:solidFill>
                  <a:srgbClr val="24231F"/>
                </a:solidFill>
                <a:latin typeface="Calibri" pitchFamily="34" charset="0"/>
                <a:ea typeface="Calibri" pitchFamily="34" charset="-122"/>
                <a:cs typeface="Calibri" pitchFamily="34" charset="-120"/>
              </a:rPr>
              <a:t>Uncertainty respects the bursts</a:t>
            </a:r>
            <a:endParaRPr lang="en-US" sz="1500" dirty="0"/>
          </a:p>
        </p:txBody>
      </p:sp>
      <p:sp>
        <p:nvSpPr>
          <p:cNvPr id="23" name="Text 21"/>
          <p:cNvSpPr txBox="1"/>
          <p:nvPr/>
        </p:nvSpPr>
        <p:spPr>
          <a:xfrm>
            <a:off x="6793992" y="4434840"/>
            <a:ext cx="4809744" cy="914400"/>
          </a:xfrm>
          <a:prstGeom prst="rect">
            <a:avLst/>
          </a:prstGeom>
          <a:noFill/>
          <a:ln/>
        </p:spPr>
        <p:txBody>
          <a:bodyPr wrap="square" lIns="0" tIns="0" rIns="0" bIns="0" rtlCol="0" anchor="t"/>
          <a:lstStyle/>
          <a:p>
            <a:pPr indent="0" marL="0">
              <a:lnSpc>
                <a:spcPts val="1750"/>
              </a:lnSpc>
              <a:buNone/>
            </a:pPr>
            <a:r>
              <a:rPr lang="en-US" sz="1250" dirty="0">
                <a:solidFill>
                  <a:srgbClr val="55534E"/>
                </a:solidFill>
                <a:latin typeface="Calibri" pitchFamily="34" charset="0"/>
                <a:ea typeface="Calibri" pitchFamily="34" charset="-122"/>
                <a:cs typeface="Calibri" pitchFamily="34" charset="-120"/>
              </a:rPr>
              <a:t>95% intervals resample capture sessions, not photographs. Fixed 80 epochs, no validation split, no early stopping, no checkpoint selection — so nothing is tuned per configuration.</a:t>
            </a:r>
            <a:endParaRPr lang="en-US" sz="1250" dirty="0"/>
          </a:p>
        </p:txBody>
      </p:sp>
      <p:sp>
        <p:nvSpPr>
          <p:cNvPr id="24" name="Text 22"/>
          <p:cNvSpPr txBox="1"/>
          <p:nvPr/>
        </p:nvSpPr>
        <p:spPr>
          <a:xfrm>
            <a:off x="777240" y="5742432"/>
            <a:ext cx="10637215" cy="384048"/>
          </a:xfrm>
          <a:prstGeom prst="rect">
            <a:avLst/>
          </a:prstGeom>
          <a:noFill/>
          <a:ln/>
        </p:spPr>
        <p:txBody>
          <a:bodyPr wrap="square" lIns="0" tIns="0" rIns="0" bIns="0" rtlCol="0" anchor="ctr"/>
          <a:lstStyle/>
          <a:p>
            <a:pPr algn="ctr" indent="0" marL="0">
              <a:buNone/>
            </a:pPr>
            <a:r>
              <a:rPr lang="en-US" sz="1350" i="1" dirty="0">
                <a:solidFill>
                  <a:srgbClr val="8A877F"/>
                </a:solidFill>
                <a:latin typeface="Calibri" pitchFamily="34" charset="0"/>
                <a:ea typeface="Calibri" pitchFamily="34" charset="-122"/>
                <a:cs typeface="Calibri" pitchFamily="34" charset="-120"/>
              </a:rPr>
              <a:t>Pre-registered before any run and held identical for every configuration compared — so the comparisons below measure the change, not the tuning.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WHAT HELPED</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Which change actually did the work</a:t>
            </a:r>
            <a:endParaRPr lang="en-US" sz="3200" dirty="0"/>
          </a:p>
        </p:txBody>
      </p:sp>
      <p:pic>
        <p:nvPicPr>
          <p:cNvPr id="4" name="Image 0" descr="/tmp/claude-0/-home-user-pgs/4a5325c7-76e4-5bb8-8cfc-4bd4c3ab42b2/scratchpad/fig/12_loss_x_augmentation.jpg">    </p:cNvPr>
          <p:cNvPicPr>
            <a:picLocks noChangeAspect="1"/>
          </p:cNvPicPr>
          <p:nvPr/>
        </p:nvPicPr>
        <p:blipFill>
          <a:blip r:embed="rId1"/>
          <a:stretch>
            <a:fillRect/>
          </a:stretch>
        </p:blipFill>
        <p:spPr>
          <a:xfrm>
            <a:off x="3977640" y="1517904"/>
            <a:ext cx="7571232" cy="3469139"/>
          </a:xfrm>
          <a:prstGeom prst="rect">
            <a:avLst/>
          </a:prstGeom>
        </p:spPr>
      </p:pic>
      <p:sp>
        <p:nvSpPr>
          <p:cNvPr id="5" name="Shape 2"/>
          <p:cNvSpPr/>
          <p:nvPr/>
        </p:nvSpPr>
        <p:spPr>
          <a:xfrm>
            <a:off x="777240" y="1668780"/>
            <a:ext cx="118872" cy="118872"/>
          </a:xfrm>
          <a:prstGeom prst="ellipse">
            <a:avLst/>
          </a:prstGeom>
          <a:solidFill>
            <a:srgbClr val="2A78D6"/>
          </a:solidFill>
          <a:ln/>
        </p:spPr>
      </p:sp>
      <p:sp>
        <p:nvSpPr>
          <p:cNvPr id="6" name="Text 3"/>
          <p:cNvSpPr txBox="1"/>
          <p:nvPr/>
        </p:nvSpPr>
        <p:spPr>
          <a:xfrm>
            <a:off x="1088136" y="1545336"/>
            <a:ext cx="2706624" cy="914400"/>
          </a:xfrm>
          <a:prstGeom prst="rect">
            <a:avLst/>
          </a:prstGeom>
          <a:noFill/>
          <a:ln/>
        </p:spPr>
        <p:txBody>
          <a:bodyPr wrap="square" lIns="0" tIns="0" rIns="0" bIns="0" rtlCol="0" anchor="t"/>
          <a:lstStyle/>
          <a:p>
            <a:pPr indent="0" marL="0">
              <a:lnSpc>
                <a:spcPts val="1664"/>
              </a:lnSpc>
              <a:buNone/>
            </a:pPr>
            <a:r>
              <a:rPr lang="en-US" sz="1300" dirty="0">
                <a:solidFill>
                  <a:srgbClr val="55534E"/>
                </a:solidFill>
                <a:latin typeface="Calibri" pitchFamily="34" charset="0"/>
                <a:ea typeface="Calibri" pitchFamily="34" charset="-122"/>
                <a:cs typeface="Calibri" pitchFamily="34" charset="-120"/>
              </a:rPr>
              <a:t>Strong augmentation alone</a:t>
            </a:r>
            <a:endParaRPr lang="en-US" sz="1300" dirty="0"/>
          </a:p>
          <a:p>
            <a:pPr indent="0" marL="0">
              <a:lnSpc>
                <a:spcPts val="1664"/>
              </a:lnSpc>
              <a:buNone/>
            </a:pPr>
            <a:r>
              <a:rPr lang="en-US" sz="1300" dirty="0">
                <a:solidFill>
                  <a:srgbClr val="55534E"/>
                </a:solidFill>
                <a:latin typeface="Calibri" pitchFamily="34" charset="0"/>
                <a:ea typeface="Calibri" pitchFamily="34" charset="-122"/>
                <a:cs typeface="Calibri" pitchFamily="34" charset="-120"/>
              </a:rPr>
              <a:t>+0.141  [+0.105, +0.179]</a:t>
            </a:r>
            <a:endParaRPr lang="en-US" sz="1300" dirty="0"/>
          </a:p>
        </p:txBody>
      </p:sp>
      <p:sp>
        <p:nvSpPr>
          <p:cNvPr id="7" name="Shape 4"/>
          <p:cNvSpPr/>
          <p:nvPr/>
        </p:nvSpPr>
        <p:spPr>
          <a:xfrm>
            <a:off x="777240" y="2583180"/>
            <a:ext cx="118872" cy="118872"/>
          </a:xfrm>
          <a:prstGeom prst="ellipse">
            <a:avLst/>
          </a:prstGeom>
          <a:solidFill>
            <a:srgbClr val="2A78D6"/>
          </a:solidFill>
          <a:ln/>
        </p:spPr>
      </p:sp>
      <p:sp>
        <p:nvSpPr>
          <p:cNvPr id="8" name="Text 5"/>
          <p:cNvSpPr txBox="1"/>
          <p:nvPr/>
        </p:nvSpPr>
        <p:spPr>
          <a:xfrm>
            <a:off x="1088136" y="2459736"/>
            <a:ext cx="2706624" cy="914400"/>
          </a:xfrm>
          <a:prstGeom prst="rect">
            <a:avLst/>
          </a:prstGeom>
          <a:noFill/>
          <a:ln/>
        </p:spPr>
        <p:txBody>
          <a:bodyPr wrap="square" lIns="0" tIns="0" rIns="0" bIns="0" rtlCol="0" anchor="t"/>
          <a:lstStyle/>
          <a:p>
            <a:pPr indent="0" marL="0">
              <a:lnSpc>
                <a:spcPts val="1664"/>
              </a:lnSpc>
              <a:buNone/>
            </a:pPr>
            <a:r>
              <a:rPr lang="en-US" sz="1300" dirty="0">
                <a:solidFill>
                  <a:srgbClr val="55534E"/>
                </a:solidFill>
                <a:latin typeface="Calibri" pitchFamily="34" charset="0"/>
                <a:ea typeface="Calibri" pitchFamily="34" charset="-122"/>
                <a:cs typeface="Calibri" pitchFamily="34" charset="-120"/>
              </a:rPr>
              <a:t>ArcFace alone</a:t>
            </a:r>
            <a:endParaRPr lang="en-US" sz="1300" dirty="0"/>
          </a:p>
          <a:p>
            <a:pPr indent="0" marL="0">
              <a:lnSpc>
                <a:spcPts val="1664"/>
              </a:lnSpc>
              <a:buNone/>
            </a:pPr>
            <a:r>
              <a:rPr lang="en-US" sz="1300" dirty="0">
                <a:solidFill>
                  <a:srgbClr val="55534E"/>
                </a:solidFill>
                <a:latin typeface="Calibri" pitchFamily="34" charset="0"/>
                <a:ea typeface="Calibri" pitchFamily="34" charset="-122"/>
                <a:cs typeface="Calibri" pitchFamily="34" charset="-120"/>
              </a:rPr>
              <a:t>+0.096  [+0.061, +0.139]</a:t>
            </a:r>
            <a:endParaRPr lang="en-US" sz="1300" dirty="0"/>
          </a:p>
        </p:txBody>
      </p:sp>
      <p:sp>
        <p:nvSpPr>
          <p:cNvPr id="9" name="Shape 6"/>
          <p:cNvSpPr/>
          <p:nvPr/>
        </p:nvSpPr>
        <p:spPr>
          <a:xfrm>
            <a:off x="777240" y="3497580"/>
            <a:ext cx="118872" cy="118872"/>
          </a:xfrm>
          <a:prstGeom prst="ellipse">
            <a:avLst/>
          </a:prstGeom>
          <a:solidFill>
            <a:srgbClr val="2A78D6"/>
          </a:solidFill>
          <a:ln/>
        </p:spPr>
      </p:sp>
      <p:sp>
        <p:nvSpPr>
          <p:cNvPr id="10" name="Text 7"/>
          <p:cNvSpPr txBox="1"/>
          <p:nvPr/>
        </p:nvSpPr>
        <p:spPr>
          <a:xfrm>
            <a:off x="1088136" y="3374136"/>
            <a:ext cx="2706624" cy="914400"/>
          </a:xfrm>
          <a:prstGeom prst="rect">
            <a:avLst/>
          </a:prstGeom>
          <a:noFill/>
          <a:ln/>
        </p:spPr>
        <p:txBody>
          <a:bodyPr wrap="square" lIns="0" tIns="0" rIns="0" bIns="0" rtlCol="0" anchor="t"/>
          <a:lstStyle/>
          <a:p>
            <a:pPr indent="0" marL="0">
              <a:lnSpc>
                <a:spcPts val="1664"/>
              </a:lnSpc>
              <a:buNone/>
            </a:pPr>
            <a:r>
              <a:rPr lang="en-US" sz="1300" dirty="0">
                <a:solidFill>
                  <a:srgbClr val="55534E"/>
                </a:solidFill>
                <a:latin typeface="Calibri" pitchFamily="34" charset="0"/>
                <a:ea typeface="Calibri" pitchFamily="34" charset="-122"/>
                <a:cs typeface="Calibri" pitchFamily="34" charset="-120"/>
              </a:rPr>
              <a:t>ArcFace given strong aug.</a:t>
            </a:r>
            <a:endParaRPr lang="en-US" sz="1300" dirty="0"/>
          </a:p>
          <a:p>
            <a:pPr indent="0" marL="0">
              <a:lnSpc>
                <a:spcPts val="1664"/>
              </a:lnSpc>
              <a:buNone/>
            </a:pPr>
            <a:r>
              <a:rPr lang="en-US" sz="1300" dirty="0">
                <a:solidFill>
                  <a:srgbClr val="55534E"/>
                </a:solidFill>
                <a:latin typeface="Calibri" pitchFamily="34" charset="0"/>
                <a:ea typeface="Calibri" pitchFamily="34" charset="-122"/>
                <a:cs typeface="Calibri" pitchFamily="34" charset="-120"/>
              </a:rPr>
              <a:t>+0.029  [−0.005, +0.060]  n.s.</a:t>
            </a:r>
            <a:endParaRPr lang="en-US" sz="1300" dirty="0"/>
          </a:p>
        </p:txBody>
      </p:sp>
      <p:sp>
        <p:nvSpPr>
          <p:cNvPr id="11" name="Shape 8"/>
          <p:cNvSpPr/>
          <p:nvPr/>
        </p:nvSpPr>
        <p:spPr>
          <a:xfrm>
            <a:off x="777240" y="4370832"/>
            <a:ext cx="3017520" cy="1481328"/>
          </a:xfrm>
          <a:prstGeom prst="roundRect">
            <a:avLst>
              <a:gd name="adj" fmla="val 3086"/>
            </a:avLst>
          </a:prstGeom>
          <a:solidFill>
            <a:srgbClr val="102C4A"/>
          </a:solidFill>
          <a:ln/>
        </p:spPr>
      </p:sp>
      <p:sp>
        <p:nvSpPr>
          <p:cNvPr id="12" name="Text 9"/>
          <p:cNvSpPr txBox="1"/>
          <p:nvPr/>
        </p:nvSpPr>
        <p:spPr>
          <a:xfrm>
            <a:off x="1014984" y="4517136"/>
            <a:ext cx="2560320" cy="274320"/>
          </a:xfrm>
          <a:prstGeom prst="rect">
            <a:avLst/>
          </a:prstGeom>
          <a:noFill/>
          <a:ln/>
        </p:spPr>
        <p:txBody>
          <a:bodyPr wrap="square" lIns="0" tIns="0" rIns="0" bIns="0" rtlCol="0" anchor="ctr"/>
          <a:lstStyle/>
          <a:p>
            <a:pPr indent="0" marL="0">
              <a:buNone/>
            </a:pPr>
            <a:r>
              <a:rPr lang="en-US" sz="1150" b="1" spc="120" kern="0" dirty="0">
                <a:solidFill>
                  <a:srgbClr val="AEC8E6"/>
                </a:solidFill>
                <a:latin typeface="Calibri" pitchFamily="34" charset="0"/>
                <a:ea typeface="Calibri" pitchFamily="34" charset="-122"/>
                <a:cs typeface="Calibri" pitchFamily="34" charset="-120"/>
              </a:rPr>
              <a:t>Best configuration</a:t>
            </a:r>
            <a:endParaRPr lang="en-US" sz="1150" dirty="0"/>
          </a:p>
        </p:txBody>
      </p:sp>
      <p:sp>
        <p:nvSpPr>
          <p:cNvPr id="13" name="Text 10"/>
          <p:cNvSpPr txBox="1"/>
          <p:nvPr/>
        </p:nvSpPr>
        <p:spPr>
          <a:xfrm>
            <a:off x="1014984" y="4791456"/>
            <a:ext cx="2560320" cy="603504"/>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0.559</a:t>
            </a:r>
            <a:endParaRPr lang="en-US" sz="4000" dirty="0"/>
          </a:p>
        </p:txBody>
      </p:sp>
      <p:sp>
        <p:nvSpPr>
          <p:cNvPr id="14" name="Text 11"/>
          <p:cNvSpPr txBox="1"/>
          <p:nvPr/>
        </p:nvSpPr>
        <p:spPr>
          <a:xfrm>
            <a:off x="1014984" y="5376672"/>
            <a:ext cx="2560320" cy="402336"/>
          </a:xfrm>
          <a:prstGeom prst="rect">
            <a:avLst/>
          </a:prstGeom>
          <a:noFill/>
          <a:ln/>
        </p:spPr>
        <p:txBody>
          <a:bodyPr wrap="square" lIns="0" tIns="0" rIns="0" bIns="0" rtlCol="0" anchor="t"/>
          <a:lstStyle/>
          <a:p>
            <a:pPr indent="0" marL="0">
              <a:lnSpc>
                <a:spcPts val="1400"/>
              </a:lnSpc>
              <a:buNone/>
            </a:pPr>
            <a:r>
              <a:rPr lang="en-US" sz="1100" dirty="0">
                <a:solidFill>
                  <a:srgbClr val="AEC8E6"/>
                </a:solidFill>
                <a:latin typeface="Calibri" pitchFamily="34" charset="0"/>
                <a:ea typeface="Calibri" pitchFamily="34" charset="-122"/>
                <a:cs typeface="Calibri" pitchFamily="34" charset="-120"/>
              </a:rPr>
              <a:t>ArcFace + strong augmentation,</a:t>
            </a:r>
            <a:endParaRPr lang="en-US" sz="1100" dirty="0"/>
          </a:p>
          <a:p>
            <a:pPr indent="0" marL="0">
              <a:lnSpc>
                <a:spcPts val="1400"/>
              </a:lnSpc>
              <a:buNone/>
            </a:pPr>
            <a:r>
              <a:rPr lang="en-US" sz="1100" dirty="0">
                <a:solidFill>
                  <a:srgbClr val="AEC8E6"/>
                </a:solidFill>
                <a:latin typeface="Calibri" pitchFamily="34" charset="0"/>
                <a:ea typeface="Calibri" pitchFamily="34" charset="-122"/>
                <a:cs typeface="Calibri" pitchFamily="34" charset="-120"/>
              </a:rPr>
              <a:t>macro rank-1 over 35 individuals</a:t>
            </a:r>
            <a:endParaRPr lang="en-US" sz="1100" dirty="0"/>
          </a:p>
        </p:txBody>
      </p:sp>
      <p:sp>
        <p:nvSpPr>
          <p:cNvPr id="15" name="Text 12"/>
          <p:cNvSpPr txBox="1"/>
          <p:nvPr/>
        </p:nvSpPr>
        <p:spPr>
          <a:xfrm>
            <a:off x="3977640" y="5138928"/>
            <a:ext cx="7571232" cy="822960"/>
          </a:xfrm>
          <a:prstGeom prst="rect">
            <a:avLst/>
          </a:prstGeom>
          <a:noFill/>
          <a:ln/>
        </p:spPr>
        <p:txBody>
          <a:bodyPr wrap="square" lIns="0" tIns="0" rIns="0" bIns="0" rtlCol="0" anchor="t"/>
          <a:lstStyle/>
          <a:p>
            <a:pPr indent="0" marL="0">
              <a:lnSpc>
                <a:spcPts val="1850"/>
              </a:lnSpc>
              <a:buNone/>
            </a:pPr>
            <a:r>
              <a:rPr lang="en-US" sz="1300" b="1" dirty="0">
                <a:solidFill>
                  <a:srgbClr val="24231F"/>
                </a:solidFill>
                <a:latin typeface="Calibri" pitchFamily="34" charset="0"/>
                <a:ea typeface="Calibri" pitchFamily="34" charset="-122"/>
                <a:cs typeface="Calibri" pitchFamily="34" charset="-120"/>
              </a:rPr>
              <a:t>Augmentation is the larger single lever</a:t>
            </a:r>
            <a:pPr indent="0" marL="0">
              <a:lnSpc>
                <a:spcPts val="1850"/>
              </a:lnSpc>
              <a:buNone/>
            </a:pPr>
            <a:r>
              <a:rPr lang="en-US" sz="1300" dirty="0">
                <a:solidFill>
                  <a:srgbClr val="55534E"/>
                </a:solidFill>
                <a:latin typeface="Calibri" pitchFamily="34" charset="0"/>
                <a:ea typeface="Calibri" pitchFamily="34" charset="-122"/>
                <a:cs typeface="Calibri" pitchFamily="34" charset="-120"/>
              </a:rPr>
              <a:t> — and the two are sub-additive, interaction −0.068. But ArcFace's marginal value grows with the gallery: invisible at 35 candidates, +0.116 against all 81. Metric learning shapes the embedding geometry, not the top-1 call.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TWO HARDER QUESTIONS</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0.559 is the friendliest number in this talk</a:t>
            </a:r>
            <a:endParaRPr lang="en-US" sz="3200" dirty="0"/>
          </a:p>
        </p:txBody>
      </p:sp>
      <p:sp>
        <p:nvSpPr>
          <p:cNvPr id="4" name="Shape 2"/>
          <p:cNvSpPr/>
          <p:nvPr/>
        </p:nvSpPr>
        <p:spPr>
          <a:xfrm>
            <a:off x="777240" y="1563624"/>
            <a:ext cx="137160" cy="137160"/>
          </a:xfrm>
          <a:prstGeom prst="ellipse">
            <a:avLst/>
          </a:prstGeom>
          <a:solidFill>
            <a:srgbClr val="2A78D6"/>
          </a:solidFill>
          <a:ln/>
        </p:spPr>
      </p:sp>
      <p:sp>
        <p:nvSpPr>
          <p:cNvPr id="5" name="Text 3"/>
          <p:cNvSpPr txBox="1"/>
          <p:nvPr/>
        </p:nvSpPr>
        <p:spPr>
          <a:xfrm>
            <a:off x="1124712" y="1444752"/>
            <a:ext cx="4754880" cy="329184"/>
          </a:xfrm>
          <a:prstGeom prst="rect">
            <a:avLst/>
          </a:prstGeom>
          <a:noFill/>
          <a:ln/>
        </p:spPr>
        <p:txBody>
          <a:bodyPr wrap="square" lIns="0" tIns="0" rIns="0" bIns="0" rtlCol="0" anchor="ctr"/>
          <a:lstStyle/>
          <a:p>
            <a:pPr indent="0" marL="0">
              <a:buNone/>
            </a:pPr>
            <a:r>
              <a:rPr lang="en-US" sz="1550" b="1" dirty="0">
                <a:solidFill>
                  <a:srgbClr val="24231F"/>
                </a:solidFill>
                <a:latin typeface="Calibri" pitchFamily="34" charset="0"/>
                <a:ea typeface="Calibri" pitchFamily="34" charset="-122"/>
                <a:cs typeface="Calibri" pitchFamily="34" charset="-120"/>
              </a:rPr>
              <a:t>How big is the line-up?</a:t>
            </a:r>
            <a:endParaRPr lang="en-US" sz="1550" dirty="0"/>
          </a:p>
        </p:txBody>
      </p:sp>
      <p:sp>
        <p:nvSpPr>
          <p:cNvPr id="6" name="Text 4"/>
          <p:cNvSpPr txBox="1"/>
          <p:nvPr/>
        </p:nvSpPr>
        <p:spPr>
          <a:xfrm>
            <a:off x="1124712" y="1847088"/>
            <a:ext cx="4617720" cy="1280160"/>
          </a:xfrm>
          <a:prstGeom prst="rect">
            <a:avLst/>
          </a:prstGeom>
          <a:noFill/>
          <a:ln/>
        </p:spPr>
        <p:txBody>
          <a:bodyPr wrap="square" lIns="0" tIns="0" rIns="0" bIns="0" rtlCol="0" anchor="t"/>
          <a:lstStyle/>
          <a:p>
            <a:pPr indent="0" marL="0">
              <a:lnSpc>
                <a:spcPts val="1900"/>
              </a:lnSpc>
              <a:buNone/>
            </a:pPr>
            <a:r>
              <a:rPr lang="en-US" sz="1350" dirty="0">
                <a:solidFill>
                  <a:srgbClr val="55534E"/>
                </a:solidFill>
                <a:latin typeface="Calibri" pitchFamily="34" charset="0"/>
                <a:ea typeface="Calibri" pitchFamily="34" charset="-122"/>
                <a:cs typeface="Calibri" pitchFamily="34" charset="-120"/>
              </a:rPr>
              <a:t>0.559 assumes 35 candidates. Add the other 46 colony members as distractors — no retraining, same queries — and it falls to 0.477. ArcFace degrades least: −0.082, against the baseline's −0.166.</a:t>
            </a:r>
            <a:endParaRPr lang="en-US" sz="1350" dirty="0"/>
          </a:p>
        </p:txBody>
      </p:sp>
      <p:sp>
        <p:nvSpPr>
          <p:cNvPr id="7" name="Shape 5"/>
          <p:cNvSpPr/>
          <p:nvPr/>
        </p:nvSpPr>
        <p:spPr>
          <a:xfrm>
            <a:off x="777240" y="3392424"/>
            <a:ext cx="137160" cy="137160"/>
          </a:xfrm>
          <a:prstGeom prst="ellipse">
            <a:avLst/>
          </a:prstGeom>
          <a:solidFill>
            <a:srgbClr val="EB6834"/>
          </a:solidFill>
          <a:ln/>
        </p:spPr>
      </p:sp>
      <p:sp>
        <p:nvSpPr>
          <p:cNvPr id="8" name="Text 6"/>
          <p:cNvSpPr txBox="1"/>
          <p:nvPr/>
        </p:nvSpPr>
        <p:spPr>
          <a:xfrm>
            <a:off x="1124712" y="3273552"/>
            <a:ext cx="4754880" cy="329184"/>
          </a:xfrm>
          <a:prstGeom prst="rect">
            <a:avLst/>
          </a:prstGeom>
          <a:noFill/>
          <a:ln/>
        </p:spPr>
        <p:txBody>
          <a:bodyPr wrap="square" lIns="0" tIns="0" rIns="0" bIns="0" rtlCol="0" anchor="ctr"/>
          <a:lstStyle/>
          <a:p>
            <a:pPr indent="0" marL="0">
              <a:buNone/>
            </a:pPr>
            <a:r>
              <a:rPr lang="en-US" sz="1550" b="1" dirty="0">
                <a:solidFill>
                  <a:srgbClr val="24231F"/>
                </a:solidFill>
                <a:latin typeface="Calibri" pitchFamily="34" charset="0"/>
                <a:ea typeface="Calibri" pitchFamily="34" charset="-122"/>
                <a:cs typeface="Calibri" pitchFamily="34" charset="-120"/>
              </a:rPr>
              <a:t>What if the bird is not enrolled?</a:t>
            </a:r>
            <a:endParaRPr lang="en-US" sz="1550" dirty="0"/>
          </a:p>
        </p:txBody>
      </p:sp>
      <p:sp>
        <p:nvSpPr>
          <p:cNvPr id="9" name="Text 7"/>
          <p:cNvSpPr txBox="1"/>
          <p:nvPr/>
        </p:nvSpPr>
        <p:spPr>
          <a:xfrm>
            <a:off x="1124712" y="3675888"/>
            <a:ext cx="4617720" cy="1280160"/>
          </a:xfrm>
          <a:prstGeom prst="rect">
            <a:avLst/>
          </a:prstGeom>
          <a:noFill/>
          <a:ln/>
        </p:spPr>
        <p:txBody>
          <a:bodyPr wrap="square" lIns="0" tIns="0" rIns="0" bIns="0" rtlCol="0" anchor="t"/>
          <a:lstStyle/>
          <a:p>
            <a:pPr indent="0" marL="0">
              <a:lnSpc>
                <a:spcPts val="1900"/>
              </a:lnSpc>
              <a:buNone/>
            </a:pPr>
            <a:r>
              <a:rPr lang="en-US" sz="1350" dirty="0">
                <a:solidFill>
                  <a:srgbClr val="55534E"/>
                </a:solidFill>
                <a:latin typeface="Calibri" pitchFamily="34" charset="0"/>
                <a:ea typeface="Calibri" pitchFamily="34" charset="-122"/>
                <a:cs typeface="Calibri" pitchFamily="34" charset="-120"/>
              </a:rPr>
              <a:t>564 photographs of 46 birds no model ever trained on. Required to refuse those strangers 99% of the time, the system still correctly names only 0.123 of enrolled birds.</a:t>
            </a:r>
            <a:endParaRPr lang="en-US" sz="1350" dirty="0"/>
          </a:p>
        </p:txBody>
      </p:sp>
      <p:sp>
        <p:nvSpPr>
          <p:cNvPr id="10" name="Shape 8"/>
          <p:cNvSpPr/>
          <p:nvPr/>
        </p:nvSpPr>
        <p:spPr>
          <a:xfrm>
            <a:off x="777240" y="5029200"/>
            <a:ext cx="5120640" cy="1325880"/>
          </a:xfrm>
          <a:prstGeom prst="roundRect">
            <a:avLst>
              <a:gd name="adj" fmla="val 3448"/>
            </a:avLst>
          </a:prstGeom>
          <a:solidFill>
            <a:srgbClr val="102C4A"/>
          </a:solidFill>
          <a:ln/>
        </p:spPr>
      </p:sp>
      <p:sp>
        <p:nvSpPr>
          <p:cNvPr id="11" name="Text 9"/>
          <p:cNvSpPr txBox="1"/>
          <p:nvPr/>
        </p:nvSpPr>
        <p:spPr>
          <a:xfrm>
            <a:off x="1069848" y="5212080"/>
            <a:ext cx="4535424" cy="969264"/>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Simulating strangers instead claimed 0.230</a:t>
            </a:r>
            <a:pPr indent="0" marL="0">
              <a:lnSpc>
                <a:spcPts val="1800"/>
              </a:lnSpc>
              <a:buNone/>
            </a:pPr>
            <a:r>
              <a:rPr lang="en-US" sz="1300" dirty="0">
                <a:solidFill>
                  <a:srgbClr val="AEC8E6"/>
                </a:solidFill>
                <a:latin typeface="Calibri" pitchFamily="34" charset="0"/>
                <a:ea typeface="Calibri" pitchFamily="34" charset="-122"/>
                <a:cs typeface="Calibri" pitchFamily="34" charset="-120"/>
              </a:rPr>
              <a:t> — an 87% overestimate. The earlier 0.80 threshold, tuned that way, actually accepts 29.7% of real strangers.</a:t>
            </a:r>
            <a:endParaRPr lang="en-US" sz="1300" dirty="0"/>
          </a:p>
        </p:txBody>
      </p:sp>
      <p:pic>
        <p:nvPicPr>
          <p:cNvPr id="12" name="Image 0" descr="/tmp/claude-0/-home-user-pgs/4a5325c7-76e4-5bb8-8cfc-4bd4c3ab42b2/scratchpad/fig/10_open_set_dir_far.jpg">    </p:cNvPr>
          <p:cNvPicPr>
            <a:picLocks noChangeAspect="1"/>
          </p:cNvPicPr>
          <p:nvPr/>
        </p:nvPicPr>
        <p:blipFill>
          <a:blip r:embed="rId1"/>
          <a:stretch>
            <a:fillRect/>
          </a:stretch>
        </p:blipFill>
        <p:spPr>
          <a:xfrm>
            <a:off x="6217920" y="1481328"/>
            <a:ext cx="5623560" cy="3690742"/>
          </a:xfrm>
          <a:prstGeom prst="rect">
            <a:avLst/>
          </a:prstGeom>
        </p:spPr>
      </p:pic>
      <p:sp>
        <p:nvSpPr>
          <p:cNvPr id="13" name="Text 10"/>
          <p:cNvSpPr txBox="1"/>
          <p:nvPr/>
        </p:nvSpPr>
        <p:spPr>
          <a:xfrm>
            <a:off x="6217920" y="5358384"/>
            <a:ext cx="5623560" cy="365760"/>
          </a:xfrm>
          <a:prstGeom prst="rect">
            <a:avLst/>
          </a:prstGeom>
          <a:noFill/>
          <a:ln/>
        </p:spPr>
        <p:txBody>
          <a:bodyPr wrap="square" lIns="0" tIns="0" rIns="0" bIns="0" rtlCol="0" anchor="t"/>
          <a:lstStyle/>
          <a:p>
            <a:pPr algn="ctr" indent="0" marL="0">
              <a:buNone/>
            </a:pPr>
            <a:r>
              <a:rPr lang="en-US" sz="1100" i="1" dirty="0">
                <a:solidFill>
                  <a:srgbClr val="8A877F"/>
                </a:solidFill>
                <a:latin typeface="Calibri" pitchFamily="34" charset="0"/>
                <a:ea typeface="Calibri" pitchFamily="34" charset="-122"/>
                <a:cs typeface="Calibri" pitchFamily="34" charset="-120"/>
              </a:rPr>
              <a:t>Strangers are real: 46 colony members the cross-validated models never trained 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THE CENTRAL FINDING</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Nicki and Gonzo</a:t>
            </a:r>
            <a:endParaRPr lang="en-US" sz="3200" dirty="0"/>
          </a:p>
        </p:txBody>
      </p:sp>
      <p:sp>
        <p:nvSpPr>
          <p:cNvPr id="4" name="Shape 2"/>
          <p:cNvSpPr/>
          <p:nvPr/>
        </p:nvSpPr>
        <p:spPr>
          <a:xfrm>
            <a:off x="777240" y="1499616"/>
            <a:ext cx="4800600" cy="969264"/>
          </a:xfrm>
          <a:prstGeom prst="roundRect">
            <a:avLst>
              <a:gd name="adj" fmla="val 4717"/>
            </a:avLst>
          </a:prstGeom>
          <a:solidFill>
            <a:srgbClr val="F4F3EF"/>
          </a:solidFill>
          <a:ln/>
        </p:spPr>
      </p:sp>
      <p:sp>
        <p:nvSpPr>
          <p:cNvPr id="5" name="Shape 3"/>
          <p:cNvSpPr/>
          <p:nvPr/>
        </p:nvSpPr>
        <p:spPr>
          <a:xfrm>
            <a:off x="1033272" y="1901952"/>
            <a:ext cx="146304" cy="146304"/>
          </a:xfrm>
          <a:prstGeom prst="ellipse">
            <a:avLst/>
          </a:prstGeom>
          <a:solidFill>
            <a:srgbClr val="EB6834"/>
          </a:solidFill>
          <a:ln/>
        </p:spPr>
      </p:sp>
      <p:sp>
        <p:nvSpPr>
          <p:cNvPr id="6" name="Text 4"/>
          <p:cNvSpPr txBox="1"/>
          <p:nvPr/>
        </p:nvSpPr>
        <p:spPr>
          <a:xfrm>
            <a:off x="1344168" y="1618488"/>
            <a:ext cx="2103120" cy="365760"/>
          </a:xfrm>
          <a:prstGeom prst="rect">
            <a:avLst/>
          </a:prstGeom>
          <a:noFill/>
          <a:ln/>
        </p:spPr>
        <p:txBody>
          <a:bodyPr wrap="square" lIns="0" tIns="0" rIns="0" bIns="0" rtlCol="0" anchor="ctr"/>
          <a:lstStyle/>
          <a:p>
            <a:pPr indent="0" marL="0">
              <a:buNone/>
            </a:pPr>
            <a:r>
              <a:rPr lang="en-US" sz="2100" b="1" dirty="0">
                <a:solidFill>
                  <a:srgbClr val="24231F"/>
                </a:solidFill>
                <a:latin typeface="Cambria" pitchFamily="34" charset="0"/>
                <a:ea typeface="Cambria" pitchFamily="34" charset="-122"/>
                <a:cs typeface="Cambria" pitchFamily="34" charset="-120"/>
              </a:rPr>
              <a:t>Nicki</a:t>
            </a:r>
            <a:endParaRPr lang="en-US" sz="2100" dirty="0"/>
          </a:p>
        </p:txBody>
      </p:sp>
      <p:sp>
        <p:nvSpPr>
          <p:cNvPr id="7" name="Text 5"/>
          <p:cNvSpPr txBox="1"/>
          <p:nvPr/>
        </p:nvSpPr>
        <p:spPr>
          <a:xfrm>
            <a:off x="1344168" y="2002536"/>
            <a:ext cx="2651760" cy="292608"/>
          </a:xfrm>
          <a:prstGeom prst="rect">
            <a:avLst/>
          </a:prstGeom>
          <a:noFill/>
          <a:ln/>
        </p:spPr>
        <p:txBody>
          <a:bodyPr wrap="square" lIns="0" tIns="0" rIns="0" bIns="0" rtlCol="0" anchor="ctr"/>
          <a:lstStyle/>
          <a:p>
            <a:pPr indent="0" marL="0">
              <a:buNone/>
            </a:pPr>
            <a:r>
              <a:rPr lang="en-US" sz="1250" dirty="0">
                <a:solidFill>
                  <a:srgbClr val="8A877F"/>
                </a:solidFill>
                <a:latin typeface="Calibri" pitchFamily="34" charset="0"/>
                <a:ea typeface="Calibri" pitchFamily="34" charset="-122"/>
                <a:cs typeface="Calibri" pitchFamily="34" charset="-120"/>
              </a:rPr>
              <a:t>53 photographs · 3 sessions</a:t>
            </a:r>
            <a:endParaRPr lang="en-US" sz="1250" dirty="0"/>
          </a:p>
        </p:txBody>
      </p:sp>
      <p:sp>
        <p:nvSpPr>
          <p:cNvPr id="8" name="Text 6"/>
          <p:cNvSpPr txBox="1"/>
          <p:nvPr/>
        </p:nvSpPr>
        <p:spPr>
          <a:xfrm>
            <a:off x="4069080" y="1682496"/>
            <a:ext cx="1280160" cy="603504"/>
          </a:xfrm>
          <a:prstGeom prst="rect">
            <a:avLst/>
          </a:prstGeom>
          <a:noFill/>
          <a:ln/>
        </p:spPr>
        <p:txBody>
          <a:bodyPr wrap="square" lIns="0" tIns="0" rIns="0" bIns="0" rtlCol="0" anchor="ctr"/>
          <a:lstStyle/>
          <a:p>
            <a:pPr algn="r" indent="0" marL="0">
              <a:buNone/>
            </a:pPr>
            <a:r>
              <a:rPr lang="en-US" sz="3000" b="1" dirty="0">
                <a:solidFill>
                  <a:srgbClr val="EB6834"/>
                </a:solidFill>
                <a:latin typeface="Cambria" pitchFamily="34" charset="0"/>
                <a:ea typeface="Cambria" pitchFamily="34" charset="-122"/>
                <a:cs typeface="Cambria" pitchFamily="34" charset="-120"/>
              </a:rPr>
              <a:t>0.189</a:t>
            </a:r>
            <a:endParaRPr lang="en-US" sz="3000" dirty="0"/>
          </a:p>
        </p:txBody>
      </p:sp>
      <p:sp>
        <p:nvSpPr>
          <p:cNvPr id="9" name="Shape 7"/>
          <p:cNvSpPr/>
          <p:nvPr/>
        </p:nvSpPr>
        <p:spPr>
          <a:xfrm>
            <a:off x="777240" y="2633472"/>
            <a:ext cx="4800600" cy="969264"/>
          </a:xfrm>
          <a:prstGeom prst="roundRect">
            <a:avLst>
              <a:gd name="adj" fmla="val 4717"/>
            </a:avLst>
          </a:prstGeom>
          <a:solidFill>
            <a:srgbClr val="F4F3EF"/>
          </a:solidFill>
          <a:ln/>
        </p:spPr>
      </p:sp>
      <p:sp>
        <p:nvSpPr>
          <p:cNvPr id="10" name="Shape 8"/>
          <p:cNvSpPr/>
          <p:nvPr/>
        </p:nvSpPr>
        <p:spPr>
          <a:xfrm>
            <a:off x="1033272" y="3035808"/>
            <a:ext cx="146304" cy="146304"/>
          </a:xfrm>
          <a:prstGeom prst="ellipse">
            <a:avLst/>
          </a:prstGeom>
          <a:solidFill>
            <a:srgbClr val="2A78D6"/>
          </a:solidFill>
          <a:ln/>
        </p:spPr>
      </p:sp>
      <p:sp>
        <p:nvSpPr>
          <p:cNvPr id="11" name="Text 9"/>
          <p:cNvSpPr txBox="1"/>
          <p:nvPr/>
        </p:nvSpPr>
        <p:spPr>
          <a:xfrm>
            <a:off x="1344168" y="2752344"/>
            <a:ext cx="2103120" cy="365760"/>
          </a:xfrm>
          <a:prstGeom prst="rect">
            <a:avLst/>
          </a:prstGeom>
          <a:noFill/>
          <a:ln/>
        </p:spPr>
        <p:txBody>
          <a:bodyPr wrap="square" lIns="0" tIns="0" rIns="0" bIns="0" rtlCol="0" anchor="ctr"/>
          <a:lstStyle/>
          <a:p>
            <a:pPr indent="0" marL="0">
              <a:buNone/>
            </a:pPr>
            <a:r>
              <a:rPr lang="en-US" sz="2100" b="1" dirty="0">
                <a:solidFill>
                  <a:srgbClr val="24231F"/>
                </a:solidFill>
                <a:latin typeface="Cambria" pitchFamily="34" charset="0"/>
                <a:ea typeface="Cambria" pitchFamily="34" charset="-122"/>
                <a:cs typeface="Cambria" pitchFamily="34" charset="-120"/>
              </a:rPr>
              <a:t>Gonzo</a:t>
            </a:r>
            <a:endParaRPr lang="en-US" sz="2100" dirty="0"/>
          </a:p>
        </p:txBody>
      </p:sp>
      <p:sp>
        <p:nvSpPr>
          <p:cNvPr id="12" name="Text 10"/>
          <p:cNvSpPr txBox="1"/>
          <p:nvPr/>
        </p:nvSpPr>
        <p:spPr>
          <a:xfrm>
            <a:off x="1344168" y="3136392"/>
            <a:ext cx="2651760" cy="292608"/>
          </a:xfrm>
          <a:prstGeom prst="rect">
            <a:avLst/>
          </a:prstGeom>
          <a:noFill/>
          <a:ln/>
        </p:spPr>
        <p:txBody>
          <a:bodyPr wrap="square" lIns="0" tIns="0" rIns="0" bIns="0" rtlCol="0" anchor="ctr"/>
          <a:lstStyle/>
          <a:p>
            <a:pPr indent="0" marL="0">
              <a:buNone/>
            </a:pPr>
            <a:r>
              <a:rPr lang="en-US" sz="1250" dirty="0">
                <a:solidFill>
                  <a:srgbClr val="8A877F"/>
                </a:solidFill>
                <a:latin typeface="Calibri" pitchFamily="34" charset="0"/>
                <a:ea typeface="Calibri" pitchFamily="34" charset="-122"/>
                <a:cs typeface="Calibri" pitchFamily="34" charset="-120"/>
              </a:rPr>
              <a:t>52 photographs · 13 sessions</a:t>
            </a:r>
            <a:endParaRPr lang="en-US" sz="1250" dirty="0"/>
          </a:p>
        </p:txBody>
      </p:sp>
      <p:sp>
        <p:nvSpPr>
          <p:cNvPr id="13" name="Text 11"/>
          <p:cNvSpPr txBox="1"/>
          <p:nvPr/>
        </p:nvSpPr>
        <p:spPr>
          <a:xfrm>
            <a:off x="4069080" y="2816352"/>
            <a:ext cx="1280160" cy="603504"/>
          </a:xfrm>
          <a:prstGeom prst="rect">
            <a:avLst/>
          </a:prstGeom>
          <a:noFill/>
          <a:ln/>
        </p:spPr>
        <p:txBody>
          <a:bodyPr wrap="square" lIns="0" tIns="0" rIns="0" bIns="0" rtlCol="0" anchor="ctr"/>
          <a:lstStyle/>
          <a:p>
            <a:pPr algn="r" indent="0" marL="0">
              <a:buNone/>
            </a:pPr>
            <a:r>
              <a:rPr lang="en-US" sz="3000" b="1" dirty="0">
                <a:solidFill>
                  <a:srgbClr val="2A78D6"/>
                </a:solidFill>
                <a:latin typeface="Cambria" pitchFamily="34" charset="0"/>
                <a:ea typeface="Cambria" pitchFamily="34" charset="-122"/>
                <a:cs typeface="Cambria" pitchFamily="34" charset="-120"/>
              </a:rPr>
              <a:t>0.827</a:t>
            </a:r>
            <a:endParaRPr lang="en-US" sz="3000" dirty="0"/>
          </a:p>
        </p:txBody>
      </p:sp>
      <p:sp>
        <p:nvSpPr>
          <p:cNvPr id="14" name="Text 12"/>
          <p:cNvSpPr txBox="1"/>
          <p:nvPr/>
        </p:nvSpPr>
        <p:spPr>
          <a:xfrm>
            <a:off x="777240" y="3785616"/>
            <a:ext cx="4937760" cy="493776"/>
          </a:xfrm>
          <a:prstGeom prst="rect">
            <a:avLst/>
          </a:prstGeom>
          <a:noFill/>
          <a:ln/>
        </p:spPr>
        <p:txBody>
          <a:bodyPr wrap="square" lIns="0" tIns="0" rIns="0" bIns="0" rtlCol="0" anchor="ctr"/>
          <a:lstStyle/>
          <a:p>
            <a:pPr indent="0" marL="0">
              <a:lnSpc>
                <a:spcPts val="2100"/>
              </a:lnSpc>
              <a:buNone/>
            </a:pPr>
            <a:r>
              <a:rPr lang="en-US" sz="1500" b="1" dirty="0">
                <a:solidFill>
                  <a:srgbClr val="24231F"/>
                </a:solidFill>
                <a:latin typeface="Calibri" pitchFamily="34" charset="0"/>
                <a:ea typeface="Calibri" pitchFamily="34" charset="-122"/>
                <a:cs typeface="Calibri" pitchFamily="34" charset="-120"/>
              </a:rPr>
              <a:t>Almost the same number of files. Four times the accuracy.</a:t>
            </a:r>
            <a:endParaRPr lang="en-US" sz="1500" dirty="0"/>
          </a:p>
        </p:txBody>
      </p:sp>
      <p:sp>
        <p:nvSpPr>
          <p:cNvPr id="15" name="Shape 13"/>
          <p:cNvSpPr/>
          <p:nvPr/>
        </p:nvSpPr>
        <p:spPr>
          <a:xfrm>
            <a:off x="777240" y="4430268"/>
            <a:ext cx="100584" cy="100584"/>
          </a:xfrm>
          <a:prstGeom prst="ellipse">
            <a:avLst/>
          </a:prstGeom>
          <a:solidFill>
            <a:srgbClr val="2A78D6"/>
          </a:solidFill>
          <a:ln/>
        </p:spPr>
      </p:sp>
      <p:sp>
        <p:nvSpPr>
          <p:cNvPr id="16" name="Text 14"/>
          <p:cNvSpPr txBox="1"/>
          <p:nvPr/>
        </p:nvSpPr>
        <p:spPr>
          <a:xfrm>
            <a:off x="1088136" y="4306824"/>
            <a:ext cx="4626864" cy="658368"/>
          </a:xfrm>
          <a:prstGeom prst="rect">
            <a:avLst/>
          </a:prstGeom>
          <a:noFill/>
          <a:ln/>
        </p:spPr>
        <p:txBody>
          <a:bodyPr wrap="square" lIns="0" tIns="0" rIns="0" bIns="0" rtlCol="0" anchor="t"/>
          <a:lstStyle/>
          <a:p>
            <a:pPr indent="0" marL="0">
              <a:lnSpc>
                <a:spcPts val="1600"/>
              </a:lnSpc>
              <a:buNone/>
            </a:pPr>
            <a:r>
              <a:rPr lang="en-US" sz="1250" dirty="0">
                <a:solidFill>
                  <a:srgbClr val="55534E"/>
                </a:solidFill>
                <a:latin typeface="Calibri" pitchFamily="34" charset="0"/>
                <a:ea typeface="Calibri" pitchFamily="34" charset="-122"/>
                <a:cs typeface="Calibri" pitchFamily="34" charset="-120"/>
              </a:rPr>
              <a:t>Grouped by session count: 3 sessions (8 birds) 0.186  ·  4–6 (13 birds) 0.618  ·  7+ (14 birds) 0.717.</a:t>
            </a:r>
            <a:endParaRPr lang="en-US" sz="1250" dirty="0"/>
          </a:p>
        </p:txBody>
      </p:sp>
      <p:sp>
        <p:nvSpPr>
          <p:cNvPr id="17" name="Shape 15"/>
          <p:cNvSpPr/>
          <p:nvPr/>
        </p:nvSpPr>
        <p:spPr>
          <a:xfrm>
            <a:off x="777240" y="5088636"/>
            <a:ext cx="100584" cy="100584"/>
          </a:xfrm>
          <a:prstGeom prst="ellipse">
            <a:avLst/>
          </a:prstGeom>
          <a:solidFill>
            <a:srgbClr val="2A78D6"/>
          </a:solidFill>
          <a:ln/>
        </p:spPr>
      </p:sp>
      <p:sp>
        <p:nvSpPr>
          <p:cNvPr id="18" name="Text 16"/>
          <p:cNvSpPr txBox="1"/>
          <p:nvPr/>
        </p:nvSpPr>
        <p:spPr>
          <a:xfrm>
            <a:off x="1088136" y="4965192"/>
            <a:ext cx="4626864" cy="658368"/>
          </a:xfrm>
          <a:prstGeom prst="rect">
            <a:avLst/>
          </a:prstGeom>
          <a:noFill/>
          <a:ln/>
        </p:spPr>
        <p:txBody>
          <a:bodyPr wrap="square" lIns="0" tIns="0" rIns="0" bIns="0" rtlCol="0" anchor="t"/>
          <a:lstStyle/>
          <a:p>
            <a:pPr indent="0" marL="0">
              <a:lnSpc>
                <a:spcPts val="1600"/>
              </a:lnSpc>
              <a:buNone/>
            </a:pPr>
            <a:r>
              <a:rPr lang="en-US" sz="1250" dirty="0">
                <a:solidFill>
                  <a:srgbClr val="55534E"/>
                </a:solidFill>
                <a:latin typeface="Calibri" pitchFamily="34" charset="0"/>
                <a:ea typeface="Calibri" pitchFamily="34" charset="-122"/>
                <a:cs typeface="Calibri" pitchFamily="34" charset="-120"/>
              </a:rPr>
              <a:t>Controlling for photograph count, sessions still predict accuracy: partial ρ = 0.518, p = 0.002. Controlling for sessions, photographs do not: ρ = 0.224, p = 0.203.</a:t>
            </a:r>
            <a:endParaRPr lang="en-US" sz="1250" dirty="0"/>
          </a:p>
        </p:txBody>
      </p:sp>
      <p:sp>
        <p:nvSpPr>
          <p:cNvPr id="19" name="Shape 17"/>
          <p:cNvSpPr/>
          <p:nvPr/>
        </p:nvSpPr>
        <p:spPr>
          <a:xfrm>
            <a:off x="777240" y="5747004"/>
            <a:ext cx="100584" cy="100584"/>
          </a:xfrm>
          <a:prstGeom prst="ellipse">
            <a:avLst/>
          </a:prstGeom>
          <a:solidFill>
            <a:srgbClr val="2A78D6"/>
          </a:solidFill>
          <a:ln/>
        </p:spPr>
      </p:sp>
      <p:sp>
        <p:nvSpPr>
          <p:cNvPr id="20" name="Text 18"/>
          <p:cNvSpPr txBox="1"/>
          <p:nvPr/>
        </p:nvSpPr>
        <p:spPr>
          <a:xfrm>
            <a:off x="1088136" y="5623560"/>
            <a:ext cx="4626864" cy="658368"/>
          </a:xfrm>
          <a:prstGeom prst="rect">
            <a:avLst/>
          </a:prstGeom>
          <a:noFill/>
          <a:ln/>
        </p:spPr>
        <p:txBody>
          <a:bodyPr wrap="square" lIns="0" tIns="0" rIns="0" bIns="0" rtlCol="0" anchor="t"/>
          <a:lstStyle/>
          <a:p>
            <a:pPr indent="0" marL="0">
              <a:lnSpc>
                <a:spcPts val="1600"/>
              </a:lnSpc>
              <a:buNone/>
            </a:pPr>
            <a:r>
              <a:rPr lang="en-US" sz="1250" dirty="0">
                <a:solidFill>
                  <a:srgbClr val="55534E"/>
                </a:solidFill>
                <a:latin typeface="Calibri" pitchFamily="34" charset="0"/>
                <a:ea typeface="Calibri" pitchFamily="34" charset="-122"/>
                <a:cs typeface="Calibri" pitchFamily="34" charset="-120"/>
              </a:rPr>
              <a:t>Metric learning lifts every bucket but cannot rescue the three-session birds — from 0.081 only to 0.186.</a:t>
            </a:r>
            <a:endParaRPr lang="en-US" sz="1250" dirty="0"/>
          </a:p>
        </p:txBody>
      </p:sp>
      <p:pic>
        <p:nvPicPr>
          <p:cNvPr id="21" name="Image 0" descr="/tmp/claude-0/-home-user-pgs/4a5325c7-76e4-5bb8-8cfc-4bd4c3ab42b2/scratchpad/fig/14_photos_vs_sessions.jpg">    </p:cNvPr>
          <p:cNvPicPr>
            <a:picLocks noChangeAspect="1"/>
          </p:cNvPicPr>
          <p:nvPr/>
        </p:nvPicPr>
        <p:blipFill>
          <a:blip r:embed="rId1"/>
          <a:stretch>
            <a:fillRect/>
          </a:stretch>
        </p:blipFill>
        <p:spPr>
          <a:xfrm>
            <a:off x="6089904" y="1536192"/>
            <a:ext cx="5715000" cy="3573589"/>
          </a:xfrm>
          <a:prstGeom prst="rect">
            <a:avLst/>
          </a:prstGeom>
        </p:spPr>
      </p:pic>
      <p:sp>
        <p:nvSpPr>
          <p:cNvPr id="22" name="Text 19"/>
          <p:cNvSpPr txBox="1"/>
          <p:nvPr/>
        </p:nvSpPr>
        <p:spPr>
          <a:xfrm>
            <a:off x="6089904" y="5248656"/>
            <a:ext cx="5715000" cy="365760"/>
          </a:xfrm>
          <a:prstGeom prst="rect">
            <a:avLst/>
          </a:prstGeom>
          <a:noFill/>
          <a:ln/>
        </p:spPr>
        <p:txBody>
          <a:bodyPr wrap="square" lIns="0" tIns="0" rIns="0" bIns="0" rtlCol="0" anchor="t"/>
          <a:lstStyle/>
          <a:p>
            <a:pPr algn="ctr" indent="0" marL="0">
              <a:buNone/>
            </a:pPr>
            <a:r>
              <a:rPr lang="en-US" sz="1100" i="1" dirty="0">
                <a:solidFill>
                  <a:srgbClr val="8A877F"/>
                </a:solidFill>
                <a:latin typeface="Calibri" pitchFamily="34" charset="0"/>
                <a:ea typeface="Calibri" pitchFamily="34" charset="-122"/>
                <a:cs typeface="Calibri" pitchFamily="34" charset="-120"/>
              </a:rPr>
              <a:t>One point per colony member. Photograph count runs across; capture sessions run up.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WHAT TO DO ABOUT IT</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So count encounters, not files</a:t>
            </a:r>
            <a:endParaRPr lang="en-US" sz="3200" dirty="0"/>
          </a:p>
        </p:txBody>
      </p:sp>
      <p:sp>
        <p:nvSpPr>
          <p:cNvPr id="4" name="Shape 2"/>
          <p:cNvSpPr/>
          <p:nvPr/>
        </p:nvSpPr>
        <p:spPr>
          <a:xfrm>
            <a:off x="777240" y="1554480"/>
            <a:ext cx="128016" cy="128016"/>
          </a:xfrm>
          <a:prstGeom prst="ellipse">
            <a:avLst/>
          </a:prstGeom>
          <a:solidFill>
            <a:srgbClr val="2A78D6"/>
          </a:solidFill>
          <a:ln/>
        </p:spPr>
      </p:sp>
      <p:sp>
        <p:nvSpPr>
          <p:cNvPr id="5" name="Text 3"/>
          <p:cNvSpPr txBox="1"/>
          <p:nvPr/>
        </p:nvSpPr>
        <p:spPr>
          <a:xfrm>
            <a:off x="1106424" y="1444752"/>
            <a:ext cx="4937760" cy="310896"/>
          </a:xfrm>
          <a:prstGeom prst="rect">
            <a:avLst/>
          </a:prstGeom>
          <a:noFill/>
          <a:ln/>
        </p:spPr>
        <p:txBody>
          <a:bodyPr wrap="square" lIns="0" tIns="0" rIns="0" bIns="0" rtlCol="0" anchor="ctr"/>
          <a:lstStyle/>
          <a:p>
            <a:pPr indent="0" marL="0">
              <a:buNone/>
            </a:pPr>
            <a:r>
              <a:rPr lang="en-US" sz="1500" b="1" dirty="0">
                <a:solidFill>
                  <a:srgbClr val="24231F"/>
                </a:solidFill>
                <a:latin typeface="Calibri" pitchFamily="34" charset="0"/>
                <a:ea typeface="Calibri" pitchFamily="34" charset="-122"/>
                <a:cs typeface="Calibri" pitchFamily="34" charset="-120"/>
              </a:rPr>
              <a:t>Target four sessions per bird</a:t>
            </a:r>
            <a:endParaRPr lang="en-US" sz="1500" dirty="0"/>
          </a:p>
        </p:txBody>
      </p:sp>
      <p:sp>
        <p:nvSpPr>
          <p:cNvPr id="6" name="Text 4"/>
          <p:cNvSpPr txBox="1"/>
          <p:nvPr/>
        </p:nvSpPr>
        <p:spPr>
          <a:xfrm>
            <a:off x="1106424" y="1810512"/>
            <a:ext cx="4892040" cy="78638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Provisional — the 4–6 and 7+ groups were pooled, and sampling effort was not experimentally assigned. It is a starting point for prospective validation, not a validated threshold.</a:t>
            </a:r>
            <a:endParaRPr lang="en-US" sz="1300" dirty="0"/>
          </a:p>
        </p:txBody>
      </p:sp>
      <p:sp>
        <p:nvSpPr>
          <p:cNvPr id="7" name="Shape 5"/>
          <p:cNvSpPr/>
          <p:nvPr/>
        </p:nvSpPr>
        <p:spPr>
          <a:xfrm>
            <a:off x="6501384" y="1554480"/>
            <a:ext cx="128016" cy="128016"/>
          </a:xfrm>
          <a:prstGeom prst="ellipse">
            <a:avLst/>
          </a:prstGeom>
          <a:solidFill>
            <a:srgbClr val="EB6834"/>
          </a:solidFill>
          <a:ln/>
        </p:spPr>
      </p:sp>
      <p:sp>
        <p:nvSpPr>
          <p:cNvPr id="8" name="Text 6"/>
          <p:cNvSpPr txBox="1"/>
          <p:nvPr/>
        </p:nvSpPr>
        <p:spPr>
          <a:xfrm>
            <a:off x="6830568" y="1444752"/>
            <a:ext cx="4937760" cy="310896"/>
          </a:xfrm>
          <a:prstGeom prst="rect">
            <a:avLst/>
          </a:prstGeom>
          <a:noFill/>
          <a:ln/>
        </p:spPr>
        <p:txBody>
          <a:bodyPr wrap="square" lIns="0" tIns="0" rIns="0" bIns="0" rtlCol="0" anchor="ctr"/>
          <a:lstStyle/>
          <a:p>
            <a:pPr indent="0" marL="0">
              <a:buNone/>
            </a:pPr>
            <a:r>
              <a:rPr lang="en-US" sz="1500" b="1" dirty="0">
                <a:solidFill>
                  <a:srgbClr val="24231F"/>
                </a:solidFill>
                <a:latin typeface="Calibri" pitchFamily="34" charset="0"/>
                <a:ea typeface="Calibri" pitchFamily="34" charset="-122"/>
                <a:cs typeface="Calibri" pitchFamily="34" charset="-120"/>
              </a:rPr>
              <a:t>53 of 81 birds fall short</a:t>
            </a:r>
            <a:endParaRPr lang="en-US" sz="1500" dirty="0"/>
          </a:p>
        </p:txBody>
      </p:sp>
      <p:sp>
        <p:nvSpPr>
          <p:cNvPr id="9" name="Text 7"/>
          <p:cNvSpPr txBox="1"/>
          <p:nvPr/>
        </p:nvSpPr>
        <p:spPr>
          <a:xfrm>
            <a:off x="6830568" y="1810512"/>
            <a:ext cx="4892040" cy="78638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Reaching four for everyone needs 116 further individual capture encounters — roughly eight outings at about fifteen birds each, and they must fall on different days.</a:t>
            </a:r>
            <a:endParaRPr lang="en-US" sz="1300" dirty="0"/>
          </a:p>
        </p:txBody>
      </p:sp>
      <p:pic>
        <p:nvPicPr>
          <p:cNvPr id="10" name="Image 0" descr="/tmp/claude-0/-home-user-pgs/4a5325c7-76e4-5bb8-8cfc-4bd4c3ab42b2/scratchpad/fig/13_colony_sessions_per_individual.jpg">    </p:cNvPr>
          <p:cNvPicPr>
            <a:picLocks noChangeAspect="1"/>
          </p:cNvPicPr>
          <p:nvPr/>
        </p:nvPicPr>
        <p:blipFill>
          <a:blip r:embed="rId1"/>
          <a:stretch>
            <a:fillRect/>
          </a:stretch>
        </p:blipFill>
        <p:spPr>
          <a:xfrm>
            <a:off x="1798168" y="2724912"/>
            <a:ext cx="8595360" cy="3343595"/>
          </a:xfrm>
          <a:prstGeom prst="rect">
            <a:avLst/>
          </a:prstGeom>
        </p:spPr>
      </p:pic>
      <p:sp>
        <p:nvSpPr>
          <p:cNvPr id="11" name="Text 8"/>
          <p:cNvSpPr txBox="1"/>
          <p:nvPr/>
        </p:nvSpPr>
        <p:spPr>
          <a:xfrm>
            <a:off x="777240" y="6108192"/>
            <a:ext cx="10637215" cy="365760"/>
          </a:xfrm>
          <a:prstGeom prst="rect">
            <a:avLst/>
          </a:prstGeom>
          <a:noFill/>
          <a:ln/>
        </p:spPr>
        <p:txBody>
          <a:bodyPr wrap="square" lIns="0" tIns="0" rIns="0" bIns="0" rtlCol="0" anchor="ctr"/>
          <a:lstStyle/>
          <a:p>
            <a:pPr algn="ctr" indent="0" marL="0">
              <a:buNone/>
            </a:pPr>
            <a:r>
              <a:rPr lang="en-US" sz="1300" i="1" dirty="0">
                <a:solidFill>
                  <a:srgbClr val="8A877F"/>
                </a:solidFill>
                <a:latin typeface="Calibri" pitchFamily="34" charset="0"/>
                <a:ea typeface="Calibri" pitchFamily="34" charset="-122"/>
                <a:cs typeface="Calibri" pitchFamily="34" charset="-120"/>
              </a:rPr>
              <a:t>Vary the day, the light, the distance and the social context — and record a session ID at capture.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777240" y="146304"/>
            <a:ext cx="10637215" cy="256032"/>
          </a:xfrm>
          <a:prstGeom prst="rect">
            <a:avLst/>
          </a:prstGeom>
          <a:noFill/>
          <a:ln/>
        </p:spPr>
        <p:txBody>
          <a:bodyPr wrap="square" lIns="0" tIns="0" rIns="0" bIns="0" rtlCol="0" anchor="ctr"/>
          <a:lstStyle/>
          <a:p>
            <a:pPr indent="0" marL="0">
              <a:buNone/>
            </a:pPr>
            <a:r>
              <a:rPr lang="en-US" sz="1150" b="1" spc="160" kern="0" dirty="0">
                <a:solidFill>
                  <a:srgbClr val="2A78D6"/>
                </a:solidFill>
                <a:latin typeface="Calibri" pitchFamily="34" charset="0"/>
                <a:ea typeface="Calibri" pitchFamily="34" charset="-122"/>
                <a:cs typeface="Calibri" pitchFamily="34" charset="-120"/>
              </a:rPr>
              <a:t>THE DELIVERABLE</a:t>
            </a:r>
            <a:endParaRPr lang="en-US" sz="1150" dirty="0"/>
          </a:p>
        </p:txBody>
      </p:sp>
      <p:sp>
        <p:nvSpPr>
          <p:cNvPr id="3" name="Text 1"/>
          <p:cNvSpPr txBox="1"/>
          <p:nvPr/>
        </p:nvSpPr>
        <p:spPr>
          <a:xfrm>
            <a:off x="777240" y="384048"/>
            <a:ext cx="10637215" cy="1024128"/>
          </a:xfrm>
          <a:prstGeom prst="rect">
            <a:avLst/>
          </a:prstGeom>
          <a:noFill/>
          <a:ln/>
        </p:spPr>
        <p:txBody>
          <a:bodyPr wrap="square" lIns="0" tIns="0" rIns="0" bIns="0" rtlCol="0" anchor="ctr"/>
          <a:lstStyle/>
          <a:p>
            <a:pPr algn="l" indent="0" marL="0">
              <a:buNone/>
            </a:pPr>
            <a:r>
              <a:rPr lang="en-US" sz="3200" b="1" dirty="0">
                <a:solidFill>
                  <a:srgbClr val="24231F"/>
                </a:solidFill>
                <a:latin typeface="Cambria" pitchFamily="34" charset="0"/>
                <a:ea typeface="Cambria" pitchFamily="34" charset="-122"/>
                <a:cs typeface="Cambria" pitchFamily="34" charset="-120"/>
              </a:rPr>
              <a:t>What is deployed, and what it is for</a:t>
            </a:r>
            <a:endParaRPr lang="en-US" sz="3200" dirty="0"/>
          </a:p>
        </p:txBody>
      </p:sp>
      <p:sp>
        <p:nvSpPr>
          <p:cNvPr id="4" name="Shape 2"/>
          <p:cNvSpPr/>
          <p:nvPr/>
        </p:nvSpPr>
        <p:spPr>
          <a:xfrm>
            <a:off x="777240" y="1554480"/>
            <a:ext cx="137160" cy="137160"/>
          </a:xfrm>
          <a:prstGeom prst="ellipse">
            <a:avLst/>
          </a:prstGeom>
          <a:solidFill>
            <a:srgbClr val="2A78D6"/>
          </a:solidFill>
          <a:ln/>
        </p:spPr>
      </p:sp>
      <p:sp>
        <p:nvSpPr>
          <p:cNvPr id="5" name="Text 3"/>
          <p:cNvSpPr txBox="1"/>
          <p:nvPr/>
        </p:nvSpPr>
        <p:spPr>
          <a:xfrm>
            <a:off x="1124712" y="1444752"/>
            <a:ext cx="4572000" cy="310896"/>
          </a:xfrm>
          <a:prstGeom prst="rect">
            <a:avLst/>
          </a:prstGeom>
          <a:noFill/>
          <a:ln/>
        </p:spPr>
        <p:txBody>
          <a:bodyPr wrap="square" lIns="0" tIns="0" rIns="0" bIns="0" rtlCol="0" anchor="ctr"/>
          <a:lstStyle/>
          <a:p>
            <a:pPr indent="0" marL="0">
              <a:buNone/>
            </a:pPr>
            <a:r>
              <a:rPr lang="en-US" sz="1600" b="1" dirty="0">
                <a:solidFill>
                  <a:srgbClr val="24231F"/>
                </a:solidFill>
                <a:latin typeface="Calibri" pitchFamily="34" charset="0"/>
                <a:ea typeface="Calibri" pitchFamily="34" charset="-122"/>
                <a:cs typeface="Calibri" pitchFamily="34" charset="-120"/>
              </a:rPr>
              <a:t>Built and measured</a:t>
            </a:r>
            <a:endParaRPr lang="en-US" sz="1600" dirty="0"/>
          </a:p>
        </p:txBody>
      </p:sp>
      <p:sp>
        <p:nvSpPr>
          <p:cNvPr id="6" name="Text 4"/>
          <p:cNvSpPr txBox="1"/>
          <p:nvPr/>
        </p:nvSpPr>
        <p:spPr>
          <a:xfrm>
            <a:off x="1124712" y="1938528"/>
            <a:ext cx="4864608" cy="96926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The extractor retrained with the identical recipe on all 2,304 photographs of 79 individuals — no held-out set, because the estimate already exists.</a:t>
            </a:r>
            <a:endParaRPr lang="en-US" sz="1300" dirty="0"/>
          </a:p>
        </p:txBody>
      </p:sp>
      <p:sp>
        <p:nvSpPr>
          <p:cNvPr id="7" name="Text 5"/>
          <p:cNvSpPr txBox="1"/>
          <p:nvPr/>
        </p:nvSpPr>
        <p:spPr>
          <a:xfrm>
            <a:off x="1124712" y="2980944"/>
            <a:ext cx="4864608" cy="96926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A gallery enrolling all 81 colony members and all 2,307 photographs, one L2-normalised prototype apiece.</a:t>
            </a:r>
            <a:endParaRPr lang="en-US" sz="1300" dirty="0"/>
          </a:p>
        </p:txBody>
      </p:sp>
      <p:sp>
        <p:nvSpPr>
          <p:cNvPr id="8" name="Text 6"/>
          <p:cNvSpPr txBox="1"/>
          <p:nvPr/>
        </p:nvSpPr>
        <p:spPr>
          <a:xfrm>
            <a:off x="1124712" y="4023360"/>
            <a:ext cx="4864608" cy="96926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An acceptance threshold of 0.938, measured at 5% false-accept against real strangers. Smew and Skunk are enrolled without ever being trained on.</a:t>
            </a:r>
            <a:endParaRPr lang="en-US" sz="1300" dirty="0"/>
          </a:p>
        </p:txBody>
      </p:sp>
      <p:sp>
        <p:nvSpPr>
          <p:cNvPr id="9" name="Shape 7"/>
          <p:cNvSpPr/>
          <p:nvPr/>
        </p:nvSpPr>
        <p:spPr>
          <a:xfrm>
            <a:off x="6501384" y="1554480"/>
            <a:ext cx="137160" cy="137160"/>
          </a:xfrm>
          <a:prstGeom prst="ellipse">
            <a:avLst/>
          </a:prstGeom>
          <a:solidFill>
            <a:srgbClr val="EB6834"/>
          </a:solidFill>
          <a:ln/>
        </p:spPr>
      </p:sp>
      <p:sp>
        <p:nvSpPr>
          <p:cNvPr id="10" name="Text 8"/>
          <p:cNvSpPr txBox="1"/>
          <p:nvPr/>
        </p:nvSpPr>
        <p:spPr>
          <a:xfrm>
            <a:off x="6848856" y="1444752"/>
            <a:ext cx="4572000" cy="310896"/>
          </a:xfrm>
          <a:prstGeom prst="rect">
            <a:avLst/>
          </a:prstGeom>
          <a:noFill/>
          <a:ln/>
        </p:spPr>
        <p:txBody>
          <a:bodyPr wrap="square" lIns="0" tIns="0" rIns="0" bIns="0" rtlCol="0" anchor="ctr"/>
          <a:lstStyle/>
          <a:p>
            <a:pPr indent="0" marL="0">
              <a:buNone/>
            </a:pPr>
            <a:r>
              <a:rPr lang="en-US" sz="1600" b="1" dirty="0">
                <a:solidFill>
                  <a:srgbClr val="24231F"/>
                </a:solidFill>
                <a:latin typeface="Calibri" pitchFamily="34" charset="0"/>
                <a:ea typeface="Calibri" pitchFamily="34" charset="-122"/>
                <a:cs typeface="Calibri" pitchFamily="34" charset="-120"/>
              </a:rPr>
              <a:t>Not yet measured</a:t>
            </a:r>
            <a:endParaRPr lang="en-US" sz="1600" dirty="0"/>
          </a:p>
        </p:txBody>
      </p:sp>
      <p:sp>
        <p:nvSpPr>
          <p:cNvPr id="11" name="Text 9"/>
          <p:cNvSpPr txBox="1"/>
          <p:nvPr/>
        </p:nvSpPr>
        <p:spPr>
          <a:xfrm>
            <a:off x="6848856" y="1938528"/>
            <a:ext cx="4864608" cy="96926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The chain from an unconstrained photograph through localisation to an identity. Every number here is measured on the archive as photographed.</a:t>
            </a:r>
            <a:endParaRPr lang="en-US" sz="1300" dirty="0"/>
          </a:p>
        </p:txBody>
      </p:sp>
      <p:sp>
        <p:nvSpPr>
          <p:cNvPr id="12" name="Text 10"/>
          <p:cNvSpPr txBox="1"/>
          <p:nvPr/>
        </p:nvSpPr>
        <p:spPr>
          <a:xfrm>
            <a:off x="6848856" y="2980944"/>
            <a:ext cx="4864608" cy="96926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Rejection of blurred, rear-facing or non-penguin inputs — once all 81 are enrolled, that is what "unknown" actually means, and the threshold was never calibrated for it.</a:t>
            </a:r>
            <a:endParaRPr lang="en-US" sz="1300" dirty="0"/>
          </a:p>
        </p:txBody>
      </p:sp>
      <p:sp>
        <p:nvSpPr>
          <p:cNvPr id="13" name="Text 11"/>
          <p:cNvSpPr txBox="1"/>
          <p:nvPr/>
        </p:nvSpPr>
        <p:spPr>
          <a:xfrm>
            <a:off x="6848856" y="4023360"/>
            <a:ext cx="4864608" cy="969264"/>
          </a:xfrm>
          <a:prstGeom prst="rect">
            <a:avLst/>
          </a:prstGeom>
          <a:noFill/>
          <a:ln/>
        </p:spPr>
        <p:txBody>
          <a:bodyPr wrap="square" lIns="0" tIns="0" rIns="0" bIns="0" rtlCol="0" anchor="t"/>
          <a:lstStyle/>
          <a:p>
            <a:pPr indent="0" marL="0">
              <a:lnSpc>
                <a:spcPts val="1800"/>
              </a:lnSpc>
              <a:buNone/>
            </a:pPr>
            <a:r>
              <a:rPr lang="en-US" sz="1300" dirty="0">
                <a:solidFill>
                  <a:srgbClr val="55534E"/>
                </a:solidFill>
                <a:latin typeface="Calibri" pitchFamily="34" charset="0"/>
                <a:ea typeface="Calibri" pitchFamily="34" charset="-122"/>
                <a:cs typeface="Calibri" pitchFamily="34" charset="-120"/>
              </a:rPr>
              <a:t>Rank-5 against the full 81-way gallery; the 35-way 0.782 cannot be assumed to transfer.</a:t>
            </a:r>
            <a:endParaRPr lang="en-US" sz="1300" dirty="0"/>
          </a:p>
        </p:txBody>
      </p:sp>
      <p:sp>
        <p:nvSpPr>
          <p:cNvPr id="14" name="Shape 12"/>
          <p:cNvSpPr/>
          <p:nvPr/>
        </p:nvSpPr>
        <p:spPr>
          <a:xfrm>
            <a:off x="777240" y="5138928"/>
            <a:ext cx="10637215" cy="1078992"/>
          </a:xfrm>
          <a:prstGeom prst="roundRect">
            <a:avLst>
              <a:gd name="adj" fmla="val 4237"/>
            </a:avLst>
          </a:prstGeom>
          <a:solidFill>
            <a:srgbClr val="102C4A"/>
          </a:solidFill>
          <a:ln/>
        </p:spPr>
      </p:sp>
      <p:sp>
        <p:nvSpPr>
          <p:cNvPr id="15" name="Text 13"/>
          <p:cNvSpPr txBox="1"/>
          <p:nvPr/>
        </p:nvSpPr>
        <p:spPr>
          <a:xfrm>
            <a:off x="1143000" y="5358384"/>
            <a:ext cx="9905695" cy="658368"/>
          </a:xfrm>
          <a:prstGeom prst="rect">
            <a:avLst/>
          </a:prstGeom>
          <a:noFill/>
          <a:ln/>
        </p:spPr>
        <p:txBody>
          <a:bodyPr wrap="square" lIns="0" tIns="0" rIns="0" bIns="0" rtlCol="0" anchor="ctr"/>
          <a:lstStyle/>
          <a:p>
            <a:pPr algn="ctr" indent="0" marL="0">
              <a:lnSpc>
                <a:spcPts val="2100"/>
              </a:lnSpc>
              <a:buNone/>
            </a:pPr>
            <a:r>
              <a:rPr lang="en-US" sz="1500" b="1" dirty="0">
                <a:solidFill>
                  <a:srgbClr val="FFFFFF"/>
                </a:solidFill>
                <a:latin typeface="Calibri" pitchFamily="34" charset="0"/>
                <a:ea typeface="Calibri" pitchFamily="34" charset="-122"/>
                <a:cs typeface="Calibri" pitchFamily="34" charset="-120"/>
              </a:rPr>
              <a:t>Decision support, not autonomous identification.  </a:t>
            </a:r>
            <a:pPr algn="ctr" indent="0" marL="0">
              <a:lnSpc>
                <a:spcPts val="2100"/>
              </a:lnSpc>
              <a:buNone/>
            </a:pPr>
            <a:r>
              <a:rPr lang="en-US" sz="1500" dirty="0">
                <a:solidFill>
                  <a:srgbClr val="AEC8E6"/>
                </a:solidFill>
                <a:latin typeface="Calibri" pitchFamily="34" charset="0"/>
                <a:ea typeface="Calibri" pitchFamily="34" charset="-122"/>
                <a:cs typeface="Calibri" pitchFamily="34" charset="-120"/>
              </a:rPr>
              <a:t>A ranked shortlist a keeper confirms — never an identity written straight into a welfare, veterinary or breeding record.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C4A"/>
        </a:solidFill>
      </p:bgPr>
    </p:bg>
    <p:spTree>
      <p:nvGrpSpPr>
        <p:cNvPr id="1" name=""/>
        <p:cNvGrpSpPr/>
        <p:nvPr/>
      </p:nvGrpSpPr>
      <p:grpSpPr>
        <a:xfrm>
          <a:off x="0" y="0"/>
          <a:ext cx="0" cy="0"/>
          <a:chOff x="0" y="0"/>
          <a:chExt cx="0" cy="0"/>
        </a:xfrm>
      </p:grpSpPr>
      <p:sp>
        <p:nvSpPr>
          <p:cNvPr id="2" name="Shape 0"/>
          <p:cNvSpPr/>
          <p:nvPr/>
        </p:nvSpPr>
        <p:spPr>
          <a:xfrm>
            <a:off x="11155680" y="548640"/>
            <a:ext cx="109728" cy="109728"/>
          </a:xfrm>
          <a:prstGeom prst="ellipse">
            <a:avLst/>
          </a:prstGeom>
          <a:solidFill>
            <a:srgbClr val="AEC8E6">
              <a:alpha val="40000"/>
            </a:srgbClr>
          </a:solidFill>
          <a:ln/>
        </p:spPr>
      </p:sp>
      <p:sp>
        <p:nvSpPr>
          <p:cNvPr id="3" name="Shape 1"/>
          <p:cNvSpPr/>
          <p:nvPr/>
        </p:nvSpPr>
        <p:spPr>
          <a:xfrm>
            <a:off x="10515600" y="1371600"/>
            <a:ext cx="64008" cy="64008"/>
          </a:xfrm>
          <a:prstGeom prst="ellipse">
            <a:avLst/>
          </a:prstGeom>
          <a:solidFill>
            <a:srgbClr val="AEC8E6">
              <a:alpha val="40000"/>
            </a:srgbClr>
          </a:solidFill>
          <a:ln/>
        </p:spPr>
      </p:sp>
      <p:sp>
        <p:nvSpPr>
          <p:cNvPr id="4" name="Shape 2"/>
          <p:cNvSpPr/>
          <p:nvPr/>
        </p:nvSpPr>
        <p:spPr>
          <a:xfrm>
            <a:off x="384048" y="5394960"/>
            <a:ext cx="82296" cy="82296"/>
          </a:xfrm>
          <a:prstGeom prst="ellipse">
            <a:avLst/>
          </a:prstGeom>
          <a:solidFill>
            <a:srgbClr val="AEC8E6">
              <a:alpha val="40000"/>
            </a:srgbClr>
          </a:solidFill>
          <a:ln/>
        </p:spPr>
      </p:sp>
      <p:sp>
        <p:nvSpPr>
          <p:cNvPr id="5" name="Shape 3"/>
          <p:cNvSpPr/>
          <p:nvPr/>
        </p:nvSpPr>
        <p:spPr>
          <a:xfrm>
            <a:off x="11521440" y="4023360"/>
            <a:ext cx="73152" cy="73152"/>
          </a:xfrm>
          <a:prstGeom prst="ellipse">
            <a:avLst/>
          </a:prstGeom>
          <a:solidFill>
            <a:srgbClr val="AEC8E6">
              <a:alpha val="40000"/>
            </a:srgbClr>
          </a:solidFill>
          <a:ln/>
        </p:spPr>
      </p:sp>
      <p:sp>
        <p:nvSpPr>
          <p:cNvPr id="6" name="Shape 4"/>
          <p:cNvSpPr/>
          <p:nvPr/>
        </p:nvSpPr>
        <p:spPr>
          <a:xfrm>
            <a:off x="4480560" y="320040"/>
            <a:ext cx="54864" cy="54864"/>
          </a:xfrm>
          <a:prstGeom prst="ellipse">
            <a:avLst/>
          </a:prstGeom>
          <a:solidFill>
            <a:srgbClr val="AEC8E6">
              <a:alpha val="40000"/>
            </a:srgbClr>
          </a:solidFill>
          <a:ln/>
        </p:spPr>
      </p:sp>
      <p:sp>
        <p:nvSpPr>
          <p:cNvPr id="7" name="Text 5"/>
          <p:cNvSpPr txBox="1"/>
          <p:nvPr/>
        </p:nvSpPr>
        <p:spPr>
          <a:xfrm>
            <a:off x="777240" y="566928"/>
            <a:ext cx="5486400" cy="292608"/>
          </a:xfrm>
          <a:prstGeom prst="rect">
            <a:avLst/>
          </a:prstGeom>
          <a:noFill/>
          <a:ln/>
        </p:spPr>
        <p:txBody>
          <a:bodyPr wrap="square" lIns="0" tIns="0" rIns="0" bIns="0" rtlCol="0" anchor="ctr"/>
          <a:lstStyle/>
          <a:p>
            <a:pPr indent="0" marL="0">
              <a:buNone/>
            </a:pPr>
            <a:r>
              <a:rPr lang="en-US" sz="1250" b="1" spc="240" kern="0" dirty="0">
                <a:solidFill>
                  <a:srgbClr val="AEC8E6"/>
                </a:solidFill>
                <a:latin typeface="Calibri" pitchFamily="34" charset="0"/>
                <a:ea typeface="Calibri" pitchFamily="34" charset="-122"/>
                <a:cs typeface="Calibri" pitchFamily="34" charset="-120"/>
              </a:rPr>
              <a:t>IN CLOSING</a:t>
            </a:r>
            <a:endParaRPr lang="en-US" sz="1250" dirty="0"/>
          </a:p>
        </p:txBody>
      </p:sp>
      <p:sp>
        <p:nvSpPr>
          <p:cNvPr id="8" name="Text 6"/>
          <p:cNvSpPr txBox="1"/>
          <p:nvPr/>
        </p:nvSpPr>
        <p:spPr>
          <a:xfrm>
            <a:off x="777240" y="932688"/>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Three things to take away</a:t>
            </a:r>
            <a:endParaRPr lang="en-US" sz="3600" dirty="0"/>
          </a:p>
        </p:txBody>
      </p:sp>
      <p:sp>
        <p:nvSpPr>
          <p:cNvPr id="9" name="Shape 7"/>
          <p:cNvSpPr/>
          <p:nvPr/>
        </p:nvSpPr>
        <p:spPr>
          <a:xfrm>
            <a:off x="777240" y="1956816"/>
            <a:ext cx="420624" cy="420624"/>
          </a:xfrm>
          <a:prstGeom prst="ellipse">
            <a:avLst/>
          </a:prstGeom>
          <a:solidFill>
            <a:srgbClr val="EB6834"/>
          </a:solidFill>
          <a:ln/>
        </p:spPr>
      </p:sp>
      <p:sp>
        <p:nvSpPr>
          <p:cNvPr id="10" name="Text 8"/>
          <p:cNvSpPr txBox="1"/>
          <p:nvPr/>
        </p:nvSpPr>
        <p:spPr>
          <a:xfrm>
            <a:off x="777240" y="195681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txBox="1"/>
          <p:nvPr/>
        </p:nvSpPr>
        <p:spPr>
          <a:xfrm>
            <a:off x="1435608" y="1938528"/>
            <a:ext cx="1024128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In a burst-structured archive, the independent unit is the encounter — not the file.</a:t>
            </a:r>
            <a:endParaRPr lang="en-US" sz="1650" dirty="0"/>
          </a:p>
        </p:txBody>
      </p:sp>
      <p:sp>
        <p:nvSpPr>
          <p:cNvPr id="12" name="Text 10"/>
          <p:cNvSpPr txBox="1"/>
          <p:nvPr/>
        </p:nvSpPr>
        <p:spPr>
          <a:xfrm>
            <a:off x="1435608" y="2377440"/>
            <a:ext cx="10241280" cy="658368"/>
          </a:xfrm>
          <a:prstGeom prst="rect">
            <a:avLst/>
          </a:prstGeom>
          <a:noFill/>
          <a:ln/>
        </p:spPr>
        <p:txBody>
          <a:bodyPr wrap="square" lIns="0" tIns="0" rIns="0" bIns="0" rtlCol="0" anchor="t"/>
          <a:lstStyle/>
          <a:p>
            <a:pPr indent="0" marL="0">
              <a:lnSpc>
                <a:spcPts val="1850"/>
              </a:lnSpc>
              <a:buNone/>
            </a:pPr>
            <a:r>
              <a:rPr lang="en-US" sz="1300" dirty="0">
                <a:solidFill>
                  <a:srgbClr val="AEC8E6"/>
                </a:solidFill>
                <a:latin typeface="Calibri" pitchFamily="34" charset="0"/>
                <a:ea typeface="Calibri" pitchFamily="34" charset="-122"/>
                <a:cs typeface="Calibri" pitchFamily="34" charset="-120"/>
              </a:rPr>
              <a:t>Ignoring that inflated macro rank-1 by 0.531. This is not a penguin problem; it is true of any ecological image set built from bursts, repeat visits or shared conditions.</a:t>
            </a:r>
            <a:endParaRPr lang="en-US" sz="1300" dirty="0"/>
          </a:p>
        </p:txBody>
      </p:sp>
      <p:sp>
        <p:nvSpPr>
          <p:cNvPr id="13" name="Shape 11"/>
          <p:cNvSpPr/>
          <p:nvPr/>
        </p:nvSpPr>
        <p:spPr>
          <a:xfrm>
            <a:off x="777240" y="3200400"/>
            <a:ext cx="420624" cy="420624"/>
          </a:xfrm>
          <a:prstGeom prst="ellipse">
            <a:avLst/>
          </a:prstGeom>
          <a:solidFill>
            <a:srgbClr val="EB6834"/>
          </a:solidFill>
          <a:ln/>
        </p:spPr>
      </p:sp>
      <p:sp>
        <p:nvSpPr>
          <p:cNvPr id="14" name="Text 12"/>
          <p:cNvSpPr txBox="1"/>
          <p:nvPr/>
        </p:nvSpPr>
        <p:spPr>
          <a:xfrm>
            <a:off x="777240" y="32004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1435608" y="3182112"/>
            <a:ext cx="1024128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Method took 0.390 to 0.559. Only a camera moves the three-session birds off 0.186.</a:t>
            </a:r>
            <a:endParaRPr lang="en-US" sz="1650" dirty="0"/>
          </a:p>
        </p:txBody>
      </p:sp>
      <p:sp>
        <p:nvSpPr>
          <p:cNvPr id="16" name="Text 14"/>
          <p:cNvSpPr txBox="1"/>
          <p:nvPr/>
        </p:nvSpPr>
        <p:spPr>
          <a:xfrm>
            <a:off x="1435608" y="3621024"/>
            <a:ext cx="10241280" cy="658368"/>
          </a:xfrm>
          <a:prstGeom prst="rect">
            <a:avLst/>
          </a:prstGeom>
          <a:noFill/>
          <a:ln/>
        </p:spPr>
        <p:txBody>
          <a:bodyPr wrap="square" lIns="0" tIns="0" rIns="0" bIns="0" rtlCol="0" anchor="t"/>
          <a:lstStyle/>
          <a:p>
            <a:pPr indent="0" marL="0">
              <a:lnSpc>
                <a:spcPts val="1850"/>
              </a:lnSpc>
              <a:buNone/>
            </a:pPr>
            <a:r>
              <a:rPr lang="en-US" sz="1300" dirty="0">
                <a:solidFill>
                  <a:srgbClr val="AEC8E6"/>
                </a:solidFill>
                <a:latin typeface="Calibri" pitchFamily="34" charset="0"/>
                <a:ea typeface="Calibri" pitchFamily="34" charset="-122"/>
                <a:cs typeface="Calibri" pitchFamily="34" charset="-120"/>
              </a:rPr>
              <a:t>Augmentation was the larger lever, ArcFace's value grows with the gallery — and neither can manufacture a photograph taken on a different day.</a:t>
            </a:r>
            <a:endParaRPr lang="en-US" sz="1300" dirty="0"/>
          </a:p>
        </p:txBody>
      </p:sp>
      <p:sp>
        <p:nvSpPr>
          <p:cNvPr id="17" name="Shape 15"/>
          <p:cNvSpPr/>
          <p:nvPr/>
        </p:nvSpPr>
        <p:spPr>
          <a:xfrm>
            <a:off x="777240" y="4443984"/>
            <a:ext cx="420624" cy="420624"/>
          </a:xfrm>
          <a:prstGeom prst="ellipse">
            <a:avLst/>
          </a:prstGeom>
          <a:solidFill>
            <a:srgbClr val="EB6834"/>
          </a:solidFill>
          <a:ln/>
        </p:spPr>
      </p:sp>
      <p:sp>
        <p:nvSpPr>
          <p:cNvPr id="18" name="Text 16"/>
          <p:cNvSpPr txBox="1"/>
          <p:nvPr/>
        </p:nvSpPr>
        <p:spPr>
          <a:xfrm>
            <a:off x="777240" y="444398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435608" y="4425696"/>
            <a:ext cx="1024128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Made to refuse real strangers, 0.559 becomes 0.123.</a:t>
            </a:r>
            <a:endParaRPr lang="en-US" sz="1650" dirty="0"/>
          </a:p>
        </p:txBody>
      </p:sp>
      <p:sp>
        <p:nvSpPr>
          <p:cNvPr id="20" name="Text 18"/>
          <p:cNvSpPr txBox="1"/>
          <p:nvPr/>
        </p:nvSpPr>
        <p:spPr>
          <a:xfrm>
            <a:off x="1435608" y="4864608"/>
            <a:ext cx="10241280" cy="658368"/>
          </a:xfrm>
          <a:prstGeom prst="rect">
            <a:avLst/>
          </a:prstGeom>
          <a:noFill/>
          <a:ln/>
        </p:spPr>
        <p:txBody>
          <a:bodyPr wrap="square" lIns="0" tIns="0" rIns="0" bIns="0" rtlCol="0" anchor="t"/>
          <a:lstStyle/>
          <a:p>
            <a:pPr indent="0" marL="0">
              <a:lnSpc>
                <a:spcPts val="1850"/>
              </a:lnSpc>
              <a:buNone/>
            </a:pPr>
            <a:r>
              <a:rPr lang="en-US" sz="1300" dirty="0">
                <a:solidFill>
                  <a:srgbClr val="AEC8E6"/>
                </a:solidFill>
                <a:latin typeface="Calibri" pitchFamily="34" charset="0"/>
                <a:ea typeface="Calibri" pitchFamily="34" charset="-122"/>
                <a:cs typeface="Calibri" pitchFamily="34" charset="-120"/>
              </a:rPr>
              <a:t>That gap, not the closed-set figure, describes deployment readiness. So it ships as a ranked suggestion for a human, and says so.</a:t>
            </a:r>
            <a:endParaRPr lang="en-US" sz="1300" dirty="0"/>
          </a:p>
        </p:txBody>
      </p:sp>
      <p:sp>
        <p:nvSpPr>
          <p:cNvPr id="21" name="Text 19"/>
          <p:cNvSpPr txBox="1"/>
          <p:nvPr/>
        </p:nvSpPr>
        <p:spPr>
          <a:xfrm>
            <a:off x="777240" y="5705856"/>
            <a:ext cx="274320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22" name="Text 20"/>
          <p:cNvSpPr txBox="1"/>
          <p:nvPr/>
        </p:nvSpPr>
        <p:spPr>
          <a:xfrm>
            <a:off x="3657600" y="5632704"/>
            <a:ext cx="7772400" cy="548640"/>
          </a:xfrm>
          <a:prstGeom prst="rect">
            <a:avLst/>
          </a:prstGeom>
          <a:noFill/>
          <a:ln/>
        </p:spPr>
        <p:txBody>
          <a:bodyPr wrap="square" lIns="0" tIns="0" rIns="0" bIns="0" rtlCol="0" anchor="ctr"/>
          <a:lstStyle/>
          <a:p>
            <a:pPr algn="r" indent="0" marL="0">
              <a:lnSpc>
                <a:spcPts val="1700"/>
              </a:lnSpc>
              <a:buNone/>
            </a:pPr>
            <a:r>
              <a:rPr lang="en-US" sz="1200" dirty="0">
                <a:solidFill>
                  <a:srgbClr val="AEC8E6"/>
                </a:solidFill>
                <a:latin typeface="Calibri" pitchFamily="34" charset="0"/>
                <a:ea typeface="Calibri" pitchFamily="34" charset="-122"/>
                <a:cs typeface="Calibri" pitchFamily="34" charset="-120"/>
              </a:rPr>
              <a:t>Aoao Guo  ·  code and analysis: github.com/aoaoguo2003/pgs</a:t>
            </a:r>
            <a:endParaRPr lang="en-US" sz="1200" dirty="0"/>
          </a:p>
          <a:p>
            <a:pPr algn="r" indent="0" marL="0">
              <a:lnSpc>
                <a:spcPts val="1700"/>
              </a:lnSpc>
              <a:buNone/>
            </a:pPr>
            <a:r>
              <a:rPr lang="en-US" sz="1200" dirty="0">
                <a:solidFill>
                  <a:srgbClr val="AEC8E6"/>
                </a:solidFill>
                <a:latin typeface="Calibri" pitchFamily="34" charset="0"/>
                <a:ea typeface="Calibri" pitchFamily="34" charset="-122"/>
                <a:cs typeface="Calibri" pitchFamily="34" charset="-120"/>
              </a:rPr>
              <a:t>With thanks to Robin Freeman, ZSL London Zoo, and the volunteer photographers.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Identification of Humboldt Penguins at ZSL London Zoo</dc:title>
  <dc:subject>PptxGenJS Presentation</dc:subject>
  <dc:creator>Aoao Guo</dc:creator>
  <cp:lastModifiedBy>Aoao Guo</cp:lastModifiedBy>
  <cp:revision>1</cp:revision>
  <dcterms:created xsi:type="dcterms:W3CDTF">2026-08-29T03:33:52Z</dcterms:created>
  <dcterms:modified xsi:type="dcterms:W3CDTF">2026-08-29T03:33:52Z</dcterms:modified>
</cp:coreProperties>
</file>