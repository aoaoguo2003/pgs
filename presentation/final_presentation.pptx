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2-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t>[slide 1  ·  20s  ·  ends 0:20 of 10:00  ·  40 words ≈ 18s at 130 wpm]</a:t>
            </a:r>
          </a:p>
          <a:p/>
          <a:p>
            <a:r>
              <a:rPr sz="1200"/>
              <a:t>My first result on this project was 0.920 — nine penguins in ten identified correctly from a photograph. It was wrong. The reason it was wrong is most of what I want to tell you in the next ten minutes.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t>[slide 2  ·  44s  ·  ends 1:04 of 10:00  ·  92 words ≈ 42s at 130 wpm]</a:t>
            </a:r>
          </a:p>
          <a:p/>
          <a:p>
            <a:r>
              <a:rPr sz="1200"/>
              <a:t>London Zoo tells its 81 Humboldt penguins apart with coloured flipper bands, read off this laminated sheet. Bands work, but they can be hidden by posture or another bird — and in king penguins, ten years of banding cost survival and breeding success. That does not transfer directly to captive Humboldts; it just says a marker is not automatically neutral. The alternative is already on the bird: African penguins use their ventral dot patterns to recognise each other, so I am asking a model to read a cue the species already reads.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t>[slide 3  ·  43s  ·  ends 1:47 of 10:00  ·  88 words ≈ 41s at 130 wpm]</a:t>
            </a:r>
          </a:p>
          <a:p/>
          <a:p>
            <a:r>
              <a:rPr sz="1200"/>
              <a:t>2,307 photographs of all 81 birds, taken by volunteers during husbandry, not to a research protocol — counts run from 1 to 291. Thirty-five birds clear both inclusion rules: the better-photographed 43% of the colony. The other 46 are never queries; they are gallery distractors and, later, genuine strangers. The definition at the bottom is what matters. A capture session is one photographic encounter with one bird, inferred from the camera's frame numbering. Frames inside a session share lighting, background and posture, so they are not independent samples.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t>[slide 4  ·  60s  ·  ends 2:47 of 10:00  ·  125 words ≈ 58s at 130 wpm]</a:t>
            </a:r>
          </a:p>
          <a:p/>
          <a:p>
            <a:r>
              <a:rPr sz="1200"/>
              <a:t>Here is the experiment the whole project turns on. Birds, photographs, per-bird counts and training recipe all held fixed, and exactly one thing changed: whether a test photograph may come from a capture session the gallery has already seen. Under the conventional random split, rank-one accuracy — every bird weighted equally — is 0.920. Under the session-disjoint split, it is 0.389: an inflation of 0.531 attributable to the partitioning rule alone. Rank-five and nearest-neighbour move with it. And I can show the entanglement without reference to any model: 97.8% of the randomly assigned test photographs shared a capture session with a gallery photograph, and 13.8% had a near-duplicate. So the random split was measuring recognition of a familiar encounter, not identification on a new occasion.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t>[slide 5  ·  47s  ·  ends 3:34 of 10:00  ·  97 words ≈ 45s at 130 wpm]</a:t>
            </a:r>
          </a:p>
          <a:p/>
          <a:p>
            <a:r>
              <a:rPr sz="1200"/>
              <a:t>So what replaces it. Three things. First, session-wise five-fold cross-validation: complete sessions are dealt to folds, so no session is ever split, and every one of the 1,743 photographs is tested exactly once by a model that never saw its session. That is not a claim in prose — the evaluation script asserts it and refuses to run without the session map. Second, every number is macro: one bird, one vote. Third, the intervals resample capture sessions rather than photographs, and apply the same resampled sessions to both arms of a comparison, so these are paired differences.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t>[slide 6  ·  55s  ·  ends 4:29 of 10:00  ·  115 words ≈ 53s at 130 wpm]</a:t>
            </a:r>
          </a:p>
          <a:p/>
          <a:p>
            <a:r>
              <a:rPr sz="1200"/>
              <a:t>Under that protocol I ran a full two-by-two: objective crossed with augmentation, five folds each, twenty runs. The baseline scores 0.390, close to the single-split 0.389 — but different recipes, so not a validation. Strong augmentation is worth plus 0.141; ArcFace alone plus 0.096. They are sub-additive: once strong augmentation is there, ArcFace adds only 0.029 and that interval crosses zero, so at 35 candidates I cannot claim the loss is doing significant work. Widen the gallery to all 81 — the right-hand panel — and ArcFace is worth plus 0.116, clear of zero, because metric learning shapes the embedding geometry rather than the top-one call. That is the regime a real colony is in.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t>[slide 7  ·  73s  ·  ends 5:42 of 10:00  ·  154 words ≈ 71s at 130 wpm]</a:t>
            </a:r>
          </a:p>
          <a:p/>
          <a:p>
            <a:r>
              <a:rPr sz="1200"/>
              <a:t>This is the finding I care most about. Group the 35 birds by how many separate occasions they were photographed on: three sessions, 0.186; four to six, 0.618; seven or more, 0.717. The same ordering holds in all four configurations. Nicki and Gonzo make it concrete: 53 photographs against 52, but three sessions against thirteen, and 19% against 83%. That pair is an illustration, not the evidence. Sessions and photograph count are correlated at rho 0.663, so I partial one out. Sessions survive at 0.518; photograph count falls to 0.224 and does not reach significance — with 35 birds I cannot exclude a modest photograph effect, only say sessions are the stronger one. And one caution I will give you myself: a three-session bird's prototype is built from one or two gallery sessions, so part of this gradient is my design rather than the birds. It points the same way for collection either way.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t>[slide 8  ·  64s  ·  ends 6:46 of 10:00  ·  135 words ≈ 62s at 130 wpm]</a:t>
            </a:r>
          </a:p>
          <a:p/>
          <a:p>
            <a:r>
              <a:rPr sz="1200"/>
              <a:t>I want to be the one who tells you how good this is not. These are the same five models asked three questions. Against 35 candidates, closed set, the best configuration reaches 0.559. Rank the same queries against all 81 colony identities and it falls to 0.477 — how often the right bird outranks eighty alternatives, not accuracy across all 81 birds. Then the real test: it must be able to refuse. Using the 564 photographs of 46 birds the models never trained on, at a one percent false-accept rate only 12.3% of photographs of enrolled birds are both accepted and correctly named. Simulate the strangers instead — the conventional shortcut — and it reports 0.230, an 87% overstatement. Both come from the same run. The number that describes deployment readiness is 0.123, not 0.559.</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t>[slide 9  ·  55s  ·  ends 7:41 of 10:00  ·  115 words ≈ 53s at 130 wpm]</a:t>
            </a:r>
          </a:p>
          <a:p/>
          <a:p>
            <a:r>
              <a:rPr sz="1200"/>
              <a:t>What exists is a retrieval system, not a classifier. A photograph becomes a 512-dimensional vector, compared by cosine similarity against one prototype per enrolled identity. I chose retrieval for two properties a softmax head does not have. First, enrolment without retraining: the deployed model trained on 79 birds, but the gallery holds all 81. Smew and Skunk, with one and two photographs, were never trained on — and they are searchable. Second, a principled way to say I don't know. A softmax head must name something, whatever walks past. Here, below 0.938 — that five-per-cent point — the answer is a refusal, and a narrow top-two margin returns a shortlist for the keeper to confirm.</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t>[slide 10  ·  41s  ·  ends 8:22 of 10:00  ·  84 words ≈ 39s at 130 wpm]</a:t>
            </a:r>
          </a:p>
          <a:p/>
          <a:p>
            <a:r>
              <a:rPr sz="1200"/>
              <a:t>Four things this does not show, quickly. There is no end-to-end test — no detector in the deployed path, so every claim is conditional on inputs like the archive. The operating threshold was transferred from the cross-validated models, not recalibrated, and has never been tested against blurred or rear-facing photographs. The evaluated set is the better-photographed 43% of the colony, and the rest are probably harder. And there is one backbone and one reconstructed session rule — so 0.559 is not an upper limit.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t>[slide 11  ·  45s  ·  ends 9:07 of 10:00  ·  93 words ≈ 43s at 130 wpm]</a:t>
            </a:r>
          </a:p>
          <a:p/>
          <a:p>
            <a:r>
              <a:rPr sz="1200"/>
              <a:t>So the recommendation is a collection protocol, not an architecture. Applying my session rule to the whole colony: 335 sessions across 81 birds, very unevenly spread. Only 28 reach four separate occasions; 53 fall short. Four is provisional — I grouped four, five and six sessions together and did not assign effort experimentally, so it is a starting point, not a validated threshold. But it is costable: 116 further encounters, about eight outings, on different days, deliberately varying viewpoint, light and distance. Eight mornings with a camera is something a zoo can approve.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t>[slide 12  ·  34s  ·  ends 9:41 of 10:00  ·  70 words ≈ 32s at 130 wpm]</a:t>
            </a:r>
          </a:p>
          <a:p/>
          <a:p>
            <a:r>
              <a:rPr sz="1200"/>
              <a:t>To close. On this evidence, 116 more individual encounters — about eight mornings with a camera — is worth more than any change I could make to the model. Better algorithms cannot substitute for observations that are not in the archive. And the number I would defend is not 0.559. It is 0.531: the amount a conventional random split silently added to a result that already looked finished. Thank you.</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t>[backup slide — not part of the 10 minutes]</a:t>
            </a:r>
          </a:p>
          <a:p/>
          <a:p>
            <a:r>
              <a:rPr sz="1200"/>
              <a:t>Two criteria: at least 16 photographs, which leaves 44 birds, and at least 3 capture sessions, which leaves 35. The session rule is the binding one — 43 birds fall below three sessions against 37 below sixteen photographs. I concede the consequence: these figures describe the better-photographed 43% of the colony, and the session gradient says the remaining birds are likely to be harder.</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t>[backup slide — not part of the 10 minutes]</a:t>
            </a:r>
          </a:p>
          <a:p/>
          <a:p>
            <a:r>
              <a:rPr sz="1200"/>
              <a:t>Thirty-one of thirty-five birds improve. Three decline slightly and Greyjoy is zero under both. The birds that do not gain are the sparsely sampled ones, which is the session finding again rather than a counterexample.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t>[backup slide — not part of the 10 minutes]</a:t>
            </a:r>
          </a:p>
          <a:p/>
          <a:p>
            <a:r>
              <a:rPr sz="1200"/>
              <a:t>Under one split only 261 of the 1,743 photographs are ever tested, and three birds are judged on a single photograph. Five-fold session-wise cross-validation tests every photograph exactly once while still keeping complete sessions disjoint.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t>[backup slide — not part of the 10 minutes]</a:t>
            </a:r>
          </a:p>
          <a:p/>
          <a:p>
            <a:r>
              <a:rPr sz="1200"/>
              <a:t>I did try it — the literature points straight at the ventral spots. The detector was not the problem: mAP at 50 is about 0.98. But the classifier on cropped bellies scored 0.866 against 0.950 on whole images, both under the random split. Cropping throws away identity cues the model was actually using. So the reported pipeline uses uncropped photographs.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t>[backup slide — not part of the 10 minutes]</a:t>
            </a:r>
          </a:p>
          <a:p/>
          <a:p>
            <a:r>
              <a:rPr sz="1200"/>
              <a:t>The operating threshold carries its own calibration table in the deployed code. And it was wrong once: the first version, 0.800, was tuned on the leaky split using simulated impostors and documented as rejecting 96.6% of unknowns. Against real never-trained birds it accepts 29.7% of them. Finding that is what produced 0.938.</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t>[backup slide — not part of the 10 minutes]</a:t>
            </a:r>
          </a:p>
          <a:p/>
          <a:p>
            <a:r>
              <a:rPr sz="1200"/>
              <a:t>Training is 80 fixed epochs with no early stopping and no checkpoint selection, so no configuration can win by being selected more luckily. Yes, it memorises: query the training photographs against prototypes rebuilt without their own session and it is perfect. That is a diagnostic, not a test — those photographs shaped the parameters. What it tells me is where the failure is: the model separates what it was fitted on and fails on sessions it was not.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a:t>[backup slide — not part of the 10 minutes]</a:t>
            </a:r>
          </a:p>
          <a:p/>
          <a:p>
            <a:r>
              <a:rPr sz="1200"/>
              <a:t>Everything in one place, if you want to check a number.</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2A47"/>
        </a:solidFill>
      </p:bgPr>
    </p:bg>
    <p:spTree>
      <p:nvGrpSpPr>
        <p:cNvPr id="1" name=""/>
        <p:cNvGrpSpPr/>
        <p:nvPr/>
      </p:nvGrpSpPr>
      <p:grpSpPr>
        <a:xfrm>
          <a:off x="0" y="0"/>
          <a:ext cx="0" cy="0"/>
          <a:chOff x="0" y="0"/>
          <a:chExt cx="0" cy="0"/>
        </a:xfrm>
      </p:grpSpPr>
      <p:sp>
        <p:nvSpPr>
          <p:cNvPr id="2" name="Text 0"/>
          <p:cNvSpPr txBox="1"/>
          <p:nvPr/>
        </p:nvSpPr>
        <p:spPr>
          <a:xfrm>
            <a:off x="566928" y="1600200"/>
            <a:ext cx="9960559" cy="1737360"/>
          </a:xfrm>
          <a:prstGeom prst="rect">
            <a:avLst/>
          </a:prstGeom>
          <a:noFill/>
          <a:ln/>
        </p:spPr>
        <p:txBody>
          <a:bodyPr wrap="square" lIns="0" tIns="0" rIns="0" bIns="0" rtlCol="0" anchor="t"/>
          <a:lstStyle/>
          <a:p>
            <a:pPr indent="0" marL="0">
              <a:lnSpc>
                <a:spcPct val="100000"/>
              </a:lnSpc>
              <a:buNone/>
            </a:pPr>
            <a:r>
              <a:rPr lang="en-US" sz="4000" b="1" dirty="0">
                <a:solidFill>
                  <a:srgbClr val="FFFFFF"/>
                </a:solidFill>
                <a:latin typeface="Cambria" pitchFamily="34" charset="0"/>
                <a:ea typeface="Cambria" pitchFamily="34" charset="-122"/>
                <a:cs typeface="Cambria" pitchFamily="34" charset="-120"/>
              </a:rPr>
              <a:t>Automatic Identification of</a:t>
            </a:r>
            <a:endParaRPr lang="en-US" sz="4000" dirty="0"/>
          </a:p>
          <a:p>
            <a:pPr indent="0" marL="0">
              <a:lnSpc>
                <a:spcPct val="100000"/>
              </a:lnSpc>
              <a:buNone/>
            </a:pPr>
            <a:r>
              <a:rPr lang="en-US" sz="4000" b="1" dirty="0">
                <a:solidFill>
                  <a:srgbClr val="FFFFFF"/>
                </a:solidFill>
                <a:latin typeface="Cambria" pitchFamily="34" charset="0"/>
                <a:ea typeface="Cambria" pitchFamily="34" charset="-122"/>
                <a:cs typeface="Cambria" pitchFamily="34" charset="-120"/>
              </a:rPr>
              <a:t>Humboldt Penguins at London Zoo</a:t>
            </a:r>
            <a:endParaRPr lang="en-US" sz="4000" dirty="0"/>
          </a:p>
        </p:txBody>
      </p:sp>
      <p:sp>
        <p:nvSpPr>
          <p:cNvPr id="3" name="Text 1"/>
          <p:cNvSpPr txBox="1"/>
          <p:nvPr/>
        </p:nvSpPr>
        <p:spPr>
          <a:xfrm>
            <a:off x="566928" y="3429000"/>
            <a:ext cx="9960559" cy="411480"/>
          </a:xfrm>
          <a:prstGeom prst="rect">
            <a:avLst/>
          </a:prstGeom>
          <a:noFill/>
          <a:ln/>
        </p:spPr>
        <p:txBody>
          <a:bodyPr wrap="square" lIns="0" tIns="0" rIns="0" bIns="0" rtlCol="0" anchor="t"/>
          <a:lstStyle/>
          <a:p>
            <a:pPr indent="0" marL="0">
              <a:buNone/>
            </a:pPr>
            <a:r>
              <a:rPr lang="en-US" sz="1700" dirty="0">
                <a:solidFill>
                  <a:srgbClr val="9FC0E4"/>
                </a:solidFill>
                <a:latin typeface="Calibri" pitchFamily="34" charset="0"/>
                <a:ea typeface="Calibri" pitchFamily="34" charset="-122"/>
                <a:cs typeface="Calibri" pitchFamily="34" charset="-120"/>
              </a:rPr>
              <a:t>What a photograph can tell you about which bird it is — and what it cannot</a:t>
            </a:r>
            <a:endParaRPr lang="en-US" sz="1700" dirty="0"/>
          </a:p>
        </p:txBody>
      </p:sp>
      <p:sp>
        <p:nvSpPr>
          <p:cNvPr id="4" name="Shape 2"/>
          <p:cNvSpPr/>
          <p:nvPr/>
        </p:nvSpPr>
        <p:spPr>
          <a:xfrm>
            <a:off x="566928" y="4160520"/>
            <a:ext cx="137160" cy="137160"/>
          </a:xfrm>
          <a:prstGeom prst="ellipse">
            <a:avLst/>
          </a:prstGeom>
          <a:solidFill>
            <a:srgbClr val="2A78D6"/>
          </a:solidFill>
          <a:ln w="12700">
            <a:solidFill>
              <a:srgbClr val="2A78D6"/>
            </a:solidFill>
            <a:prstDash val="solid"/>
          </a:ln>
        </p:spPr>
      </p:sp>
      <p:sp>
        <p:nvSpPr>
          <p:cNvPr id="5" name="Shape 3"/>
          <p:cNvSpPr/>
          <p:nvPr/>
        </p:nvSpPr>
        <p:spPr>
          <a:xfrm>
            <a:off x="795528" y="4160520"/>
            <a:ext cx="137160" cy="137160"/>
          </a:xfrm>
          <a:prstGeom prst="ellipse">
            <a:avLst/>
          </a:prstGeom>
          <a:solidFill>
            <a:srgbClr val="2A78D6"/>
          </a:solidFill>
          <a:ln w="12700">
            <a:solidFill>
              <a:srgbClr val="2A78D6"/>
            </a:solidFill>
            <a:prstDash val="solid"/>
          </a:ln>
        </p:spPr>
      </p:sp>
      <p:sp>
        <p:nvSpPr>
          <p:cNvPr id="6" name="Shape 4"/>
          <p:cNvSpPr/>
          <p:nvPr/>
        </p:nvSpPr>
        <p:spPr>
          <a:xfrm>
            <a:off x="1024128" y="4160520"/>
            <a:ext cx="137160" cy="137160"/>
          </a:xfrm>
          <a:prstGeom prst="ellipse">
            <a:avLst/>
          </a:prstGeom>
          <a:solidFill>
            <a:srgbClr val="2A78D6"/>
          </a:solidFill>
          <a:ln w="12700">
            <a:solidFill>
              <a:srgbClr val="2A78D6"/>
            </a:solidFill>
            <a:prstDash val="solid"/>
          </a:ln>
        </p:spPr>
      </p:sp>
      <p:sp>
        <p:nvSpPr>
          <p:cNvPr id="7" name="Shape 5"/>
          <p:cNvSpPr/>
          <p:nvPr/>
        </p:nvSpPr>
        <p:spPr>
          <a:xfrm>
            <a:off x="1252728" y="4160520"/>
            <a:ext cx="137160" cy="137160"/>
          </a:xfrm>
          <a:prstGeom prst="ellipse">
            <a:avLst/>
          </a:prstGeom>
          <a:solidFill>
            <a:srgbClr val="2A78D6"/>
          </a:solidFill>
          <a:ln w="12700">
            <a:solidFill>
              <a:srgbClr val="2A78D6"/>
            </a:solidFill>
            <a:prstDash val="solid"/>
          </a:ln>
        </p:spPr>
      </p:sp>
      <p:sp>
        <p:nvSpPr>
          <p:cNvPr id="8" name="Shape 6"/>
          <p:cNvSpPr/>
          <p:nvPr/>
        </p:nvSpPr>
        <p:spPr>
          <a:xfrm>
            <a:off x="1481328" y="4160520"/>
            <a:ext cx="137160" cy="137160"/>
          </a:xfrm>
          <a:prstGeom prst="ellipse">
            <a:avLst/>
          </a:prstGeom>
          <a:solidFill>
            <a:srgbClr val="2A78D6"/>
          </a:solidFill>
          <a:ln w="12700">
            <a:solidFill>
              <a:srgbClr val="2A78D6"/>
            </a:solidFill>
            <a:prstDash val="solid"/>
          </a:ln>
        </p:spPr>
      </p:sp>
      <p:sp>
        <p:nvSpPr>
          <p:cNvPr id="9" name="Shape 7"/>
          <p:cNvSpPr/>
          <p:nvPr/>
        </p:nvSpPr>
        <p:spPr>
          <a:xfrm>
            <a:off x="1709928" y="4160520"/>
            <a:ext cx="137160" cy="137160"/>
          </a:xfrm>
          <a:prstGeom prst="ellipse">
            <a:avLst/>
          </a:prstGeom>
          <a:solidFill>
            <a:srgbClr val="2A78D6"/>
          </a:solidFill>
          <a:ln w="12700">
            <a:solidFill>
              <a:srgbClr val="2A78D6"/>
            </a:solidFill>
            <a:prstDash val="solid"/>
          </a:ln>
        </p:spPr>
      </p:sp>
      <p:sp>
        <p:nvSpPr>
          <p:cNvPr id="10" name="Shape 8"/>
          <p:cNvSpPr/>
          <p:nvPr/>
        </p:nvSpPr>
        <p:spPr>
          <a:xfrm>
            <a:off x="1938528" y="4160520"/>
            <a:ext cx="137160" cy="137160"/>
          </a:xfrm>
          <a:prstGeom prst="ellipse">
            <a:avLst/>
          </a:prstGeom>
          <a:solidFill>
            <a:srgbClr val="2A78D6"/>
          </a:solidFill>
          <a:ln w="12700">
            <a:solidFill>
              <a:srgbClr val="2A78D6"/>
            </a:solidFill>
            <a:prstDash val="solid"/>
          </a:ln>
        </p:spPr>
      </p:sp>
      <p:sp>
        <p:nvSpPr>
          <p:cNvPr id="11" name="Shape 9"/>
          <p:cNvSpPr/>
          <p:nvPr/>
        </p:nvSpPr>
        <p:spPr>
          <a:xfrm>
            <a:off x="2167128" y="4160520"/>
            <a:ext cx="137160" cy="137160"/>
          </a:xfrm>
          <a:prstGeom prst="ellipse">
            <a:avLst/>
          </a:prstGeom>
          <a:solidFill>
            <a:srgbClr val="2A78D6"/>
          </a:solidFill>
          <a:ln w="12700">
            <a:solidFill>
              <a:srgbClr val="2A78D6"/>
            </a:solidFill>
            <a:prstDash val="solid"/>
          </a:ln>
        </p:spPr>
      </p:sp>
      <p:sp>
        <p:nvSpPr>
          <p:cNvPr id="12" name="Shape 10"/>
          <p:cNvSpPr/>
          <p:nvPr/>
        </p:nvSpPr>
        <p:spPr>
          <a:xfrm>
            <a:off x="2395728" y="4160520"/>
            <a:ext cx="137160" cy="137160"/>
          </a:xfrm>
          <a:prstGeom prst="ellipse">
            <a:avLst/>
          </a:prstGeom>
          <a:solidFill>
            <a:srgbClr val="2A78D6"/>
          </a:solidFill>
          <a:ln w="12700">
            <a:solidFill>
              <a:srgbClr val="2A78D6"/>
            </a:solidFill>
            <a:prstDash val="solid"/>
          </a:ln>
        </p:spPr>
      </p:sp>
      <p:sp>
        <p:nvSpPr>
          <p:cNvPr id="13" name="Shape 11"/>
          <p:cNvSpPr/>
          <p:nvPr/>
        </p:nvSpPr>
        <p:spPr>
          <a:xfrm>
            <a:off x="2624328" y="4160520"/>
            <a:ext cx="137160" cy="137160"/>
          </a:xfrm>
          <a:prstGeom prst="ellipse">
            <a:avLst/>
          </a:prstGeom>
          <a:solidFill>
            <a:srgbClr val="2A78D6"/>
          </a:solidFill>
          <a:ln w="12700">
            <a:solidFill>
              <a:srgbClr val="2A78D6"/>
            </a:solidFill>
            <a:prstDash val="solid"/>
          </a:ln>
        </p:spPr>
      </p:sp>
      <p:sp>
        <p:nvSpPr>
          <p:cNvPr id="14" name="Shape 12"/>
          <p:cNvSpPr/>
          <p:nvPr/>
        </p:nvSpPr>
        <p:spPr>
          <a:xfrm>
            <a:off x="2852928" y="4160520"/>
            <a:ext cx="137160" cy="137160"/>
          </a:xfrm>
          <a:prstGeom prst="ellipse">
            <a:avLst/>
          </a:prstGeom>
          <a:solidFill>
            <a:srgbClr val="2A78D6"/>
          </a:solidFill>
          <a:ln w="12700">
            <a:solidFill>
              <a:srgbClr val="2A78D6"/>
            </a:solidFill>
            <a:prstDash val="solid"/>
          </a:ln>
        </p:spPr>
      </p:sp>
      <p:sp>
        <p:nvSpPr>
          <p:cNvPr id="15" name="Shape 13"/>
          <p:cNvSpPr/>
          <p:nvPr/>
        </p:nvSpPr>
        <p:spPr>
          <a:xfrm>
            <a:off x="3081528" y="4160520"/>
            <a:ext cx="137160" cy="137160"/>
          </a:xfrm>
          <a:prstGeom prst="ellipse">
            <a:avLst/>
          </a:prstGeom>
          <a:solidFill>
            <a:srgbClr val="2A78D6"/>
          </a:solidFill>
          <a:ln w="12700">
            <a:solidFill>
              <a:srgbClr val="2A78D6"/>
            </a:solidFill>
            <a:prstDash val="solid"/>
          </a:ln>
        </p:spPr>
      </p:sp>
      <p:sp>
        <p:nvSpPr>
          <p:cNvPr id="16" name="Shape 14"/>
          <p:cNvSpPr/>
          <p:nvPr/>
        </p:nvSpPr>
        <p:spPr>
          <a:xfrm>
            <a:off x="3310128" y="4160520"/>
            <a:ext cx="137160" cy="137160"/>
          </a:xfrm>
          <a:prstGeom prst="ellipse">
            <a:avLst/>
          </a:prstGeom>
          <a:solidFill>
            <a:srgbClr val="2A78D6"/>
          </a:solidFill>
          <a:ln w="12700">
            <a:solidFill>
              <a:srgbClr val="2A78D6"/>
            </a:solidFill>
            <a:prstDash val="solid"/>
          </a:ln>
        </p:spPr>
      </p:sp>
      <p:sp>
        <p:nvSpPr>
          <p:cNvPr id="17" name="Text 15"/>
          <p:cNvSpPr txBox="1"/>
          <p:nvPr/>
        </p:nvSpPr>
        <p:spPr>
          <a:xfrm>
            <a:off x="566928" y="4800600"/>
            <a:ext cx="11057839" cy="731520"/>
          </a:xfrm>
          <a:prstGeom prst="rect">
            <a:avLst/>
          </a:prstGeom>
          <a:noFill/>
          <a:ln/>
        </p:spPr>
        <p:txBody>
          <a:bodyPr wrap="square" lIns="0" tIns="0" rIns="0" bIns="0" rtlCol="0" anchor="t"/>
          <a:lstStyle/>
          <a:p>
            <a:pPr indent="0" marL="0">
              <a:lnSpc>
                <a:spcPct val="125000"/>
              </a:lnSpc>
              <a:buNone/>
            </a:pPr>
            <a:r>
              <a:rPr lang="en-US" sz="1300" dirty="0">
                <a:solidFill>
                  <a:srgbClr val="C9D6E6"/>
                </a:solidFill>
                <a:latin typeface="Calibri" pitchFamily="34" charset="0"/>
                <a:ea typeface="Calibri" pitchFamily="34" charset="-122"/>
                <a:cs typeface="Calibri" pitchFamily="34" charset="-120"/>
              </a:rPr>
              <a:t>Candidate TDYK3   ·   MSc Ecology and Data Science   ·   BIOS0057</a:t>
            </a:r>
            <a:endParaRPr lang="en-US" sz="1300" dirty="0"/>
          </a:p>
          <a:p>
            <a:pPr indent="0" marL="0">
              <a:lnSpc>
                <a:spcPct val="125000"/>
              </a:lnSpc>
              <a:buNone/>
            </a:pPr>
            <a:r>
              <a:rPr lang="en-US" sz="1300" dirty="0">
                <a:solidFill>
                  <a:srgbClr val="C9D6E6"/>
                </a:solidFill>
                <a:latin typeface="Calibri" pitchFamily="34" charset="0"/>
                <a:ea typeface="Calibri" pitchFamily="34" charset="-122"/>
                <a:cs typeface="Calibri" pitchFamily="34" charset="-120"/>
              </a:rPr>
              <a:t>Supervisor: Robin Freeman   ·   Division of Biosciences, UCL</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CFCFB"/>
        </a:solidFill>
      </p:bgPr>
    </p:bg>
    <p:spTree>
      <p:nvGrpSpPr>
        <p:cNvPr id="1" name=""/>
        <p:cNvGrpSpPr/>
        <p:nvPr/>
      </p:nvGrpSpPr>
      <p:grpSpPr>
        <a:xfrm>
          <a:off x="0" y="0"/>
          <a:ext cx="0" cy="0"/>
          <a:chOff x="0" y="0"/>
          <a:chExt cx="0" cy="0"/>
        </a:xfrm>
      </p:grpSpPr>
      <p:pic>
        <p:nvPicPr>
          <p:cNvPr id="2" name="Image 0" descr="/home/user/pgs/presentation/assets/band_sheet.jpg">    </p:cNvPr>
          <p:cNvPicPr>
            <a:picLocks noChangeAspect="1"/>
          </p:cNvPicPr>
          <p:nvPr/>
        </p:nvPicPr>
        <p:blipFill>
          <a:blip r:embed="rId1"/>
          <a:stretch>
            <a:fillRect/>
          </a:stretch>
        </p:blipFill>
        <p:spPr>
          <a:xfrm>
            <a:off x="7452360" y="0"/>
            <a:ext cx="4739335" cy="4458135"/>
          </a:xfrm>
          <a:prstGeom prst="rect">
            <a:avLst/>
          </a:prstGeom>
        </p:spPr>
      </p:pic>
      <p:sp>
        <p:nvSpPr>
          <p:cNvPr id="3" name="Shape 0"/>
          <p:cNvSpPr/>
          <p:nvPr/>
        </p:nvSpPr>
        <p:spPr>
          <a:xfrm>
            <a:off x="7452360" y="4458135"/>
            <a:ext cx="4739335" cy="2399865"/>
          </a:xfrm>
          <a:prstGeom prst="rect">
            <a:avLst/>
          </a:prstGeom>
          <a:solidFill>
            <a:srgbClr val="FCFCFB"/>
          </a:solidFill>
          <a:ln w="12700">
            <a:solidFill>
              <a:srgbClr val="FCFCFB"/>
            </a:solidFill>
            <a:prstDash val="solid"/>
          </a:ln>
        </p:spPr>
      </p:sp>
      <p:sp>
        <p:nvSpPr>
          <p:cNvPr id="4" name="Text 1"/>
          <p:cNvSpPr txBox="1"/>
          <p:nvPr/>
        </p:nvSpPr>
        <p:spPr>
          <a:xfrm>
            <a:off x="7452360" y="4558719"/>
            <a:ext cx="4572000" cy="457200"/>
          </a:xfrm>
          <a:prstGeom prst="rect">
            <a:avLst/>
          </a:prstGeom>
          <a:noFill/>
          <a:ln/>
        </p:spPr>
        <p:txBody>
          <a:bodyPr wrap="square" lIns="0" tIns="0" rIns="0" bIns="0" rtlCol="0" anchor="t"/>
          <a:lstStyle/>
          <a:p>
            <a:pPr algn="l" indent="0" marL="0">
              <a:lnSpc>
                <a:spcPct val="95000"/>
              </a:lnSpc>
              <a:buNone/>
            </a:pPr>
            <a:r>
              <a:rPr lang="en-US" sz="1000" dirty="0">
                <a:solidFill>
                  <a:srgbClr val="6E7681"/>
                </a:solidFill>
                <a:latin typeface="Calibri" pitchFamily="34" charset="0"/>
                <a:ea typeface="Calibri" pitchFamily="34" charset="-122"/>
                <a:cs typeface="Calibri" pitchFamily="34" charset="-120"/>
              </a:rPr>
              <a:t>The colony's identification sheet: five band colours per bird.</a:t>
            </a:r>
            <a:endParaRPr lang="en-US" sz="1000" dirty="0"/>
          </a:p>
          <a:p>
            <a:pPr algn="l" indent="0" marL="0">
              <a:lnSpc>
                <a:spcPct val="95000"/>
              </a:lnSpc>
              <a:buNone/>
            </a:pPr>
            <a:r>
              <a:rPr lang="en-US" sz="1000" dirty="0">
                <a:solidFill>
                  <a:srgbClr val="6E7681"/>
                </a:solidFill>
                <a:latin typeface="Calibri" pitchFamily="34" charset="0"/>
                <a:ea typeface="Calibri" pitchFamily="34" charset="-122"/>
                <a:cs typeface="Calibri" pitchFamily="34" charset="-120"/>
              </a:rPr>
              <a:t>Nicki and Greyjoy — two birds you will meet again — are on it.</a:t>
            </a:r>
            <a:endParaRPr lang="en-US" sz="1000" dirty="0"/>
          </a:p>
        </p:txBody>
      </p:sp>
      <p:sp>
        <p:nvSpPr>
          <p:cNvPr id="5" name="Text 2"/>
          <p:cNvSpPr txBox="1"/>
          <p:nvPr/>
        </p:nvSpPr>
        <p:spPr>
          <a:xfrm>
            <a:off x="566928" y="146304"/>
            <a:ext cx="11057839" cy="219456"/>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WHY THIS PROBLEM</a:t>
            </a:r>
            <a:endParaRPr lang="en-US" sz="1100" dirty="0"/>
          </a:p>
        </p:txBody>
      </p:sp>
      <p:sp>
        <p:nvSpPr>
          <p:cNvPr id="6" name="Text 3"/>
          <p:cNvSpPr txBox="1"/>
          <p:nvPr/>
        </p:nvSpPr>
        <p:spPr>
          <a:xfrm>
            <a:off x="566928" y="384048"/>
            <a:ext cx="11057839" cy="1234440"/>
          </a:xfrm>
          <a:prstGeom prst="rect">
            <a:avLst/>
          </a:prstGeom>
          <a:noFill/>
          <a:ln/>
        </p:spPr>
        <p:txBody>
          <a:bodyPr wrap="square" lIns="0" tIns="0" rIns="0" bIns="0" rtlCol="0" anchor="t"/>
          <a:lstStyle/>
          <a:p>
            <a:pPr algn="l" indent="0" marL="0">
              <a:lnSpc>
                <a:spcPct val="95000"/>
              </a:lnSpc>
              <a:buNone/>
            </a:pPr>
            <a:r>
              <a:rPr lang="en-US" sz="2700" b="1" dirty="0">
                <a:solidFill>
                  <a:srgbClr val="0E2A47"/>
                </a:solidFill>
                <a:latin typeface="Cambria" pitchFamily="34" charset="0"/>
                <a:ea typeface="Cambria" pitchFamily="34" charset="-122"/>
                <a:cs typeface="Cambria" pitchFamily="34" charset="-120"/>
              </a:rPr>
              <a:t>Identity is currently worn,</a:t>
            </a:r>
            <a:endParaRPr lang="en-US" sz="2700" dirty="0"/>
          </a:p>
          <a:p>
            <a:pPr algn="l" indent="0" marL="0">
              <a:lnSpc>
                <a:spcPct val="95000"/>
              </a:lnSpc>
              <a:buNone/>
            </a:pPr>
            <a:r>
              <a:rPr lang="en-US" sz="2700" b="1" dirty="0">
                <a:solidFill>
                  <a:srgbClr val="0E2A47"/>
                </a:solidFill>
                <a:latin typeface="Cambria" pitchFamily="34" charset="0"/>
                <a:ea typeface="Cambria" pitchFamily="34" charset="-122"/>
                <a:cs typeface="Cambria" pitchFamily="34" charset="-120"/>
              </a:rPr>
              <a:t>not read from the bird</a:t>
            </a:r>
            <a:endParaRPr lang="en-US" sz="2700" dirty="0"/>
          </a:p>
        </p:txBody>
      </p:sp>
      <p:sp>
        <p:nvSpPr>
          <p:cNvPr id="7" name="Text 4"/>
          <p:cNvSpPr txBox="1"/>
          <p:nvPr/>
        </p:nvSpPr>
        <p:spPr>
          <a:xfrm>
            <a:off x="566928" y="1965960"/>
            <a:ext cx="6537960" cy="3749040"/>
          </a:xfrm>
          <a:prstGeom prst="rect">
            <a:avLst/>
          </a:prstGeom>
          <a:noFill/>
          <a:ln/>
        </p:spPr>
        <p:txBody>
          <a:bodyPr wrap="square" lIns="0" tIns="0" rIns="0" bIns="0" rtlCol="0" anchor="t"/>
          <a:lstStyle/>
          <a:p>
            <a:pPr marL="342900" indent="-342900">
              <a:lnSpc>
                <a:spcPct val="105000"/>
              </a:lnSpc>
              <a:spcAft>
                <a:spcPts val="1700"/>
              </a:spcAft>
              <a:buSzPct val="100000"/>
              <a:buChar char="•"/>
            </a:pPr>
            <a:r>
              <a:rPr lang="en-US" sz="1500" dirty="0">
                <a:solidFill>
                  <a:srgbClr val="24303C"/>
                </a:solidFill>
                <a:latin typeface="Calibri" pitchFamily="34" charset="0"/>
                <a:ea typeface="Calibri" pitchFamily="34" charset="-122"/>
                <a:cs typeface="Calibri" pitchFamily="34" charset="-120"/>
              </a:rPr>
              <a:t>Bands can be hidden by posture, another bird, or the angle</a:t>
            </a:r>
            <a:endParaRPr lang="en-US" sz="1500" dirty="0"/>
          </a:p>
          <a:p>
            <a:pPr marL="342900" indent="-342900">
              <a:lnSpc>
                <a:spcPct val="105000"/>
              </a:lnSpc>
              <a:spcAft>
                <a:spcPts val="1700"/>
              </a:spcAft>
              <a:buSzPct val="100000"/>
              <a:buChar char="•"/>
            </a:pPr>
            <a:r>
              <a:rPr lang="en-US" sz="1500" dirty="0">
                <a:solidFill>
                  <a:srgbClr val="24303C"/>
                </a:solidFill>
                <a:latin typeface="Calibri" pitchFamily="34" charset="0"/>
                <a:ea typeface="Calibri" pitchFamily="34" charset="-122"/>
                <a:cs typeface="Calibri" pitchFamily="34" charset="-120"/>
              </a:rPr>
              <a:t>In king penguins, ten years of banding cost survival and breeding success (Saraux et al. 2011) — not directly transferable to captive Humboldts, but a marker is not automatically neutral</a:t>
            </a:r>
            <a:endParaRPr lang="en-US" sz="1500" dirty="0"/>
          </a:p>
          <a:p>
            <a:pPr marL="342900" indent="-342900">
              <a:lnSpc>
                <a:spcPct val="105000"/>
              </a:lnSpc>
              <a:spcAft>
                <a:spcPts val="1700"/>
              </a:spcAft>
              <a:buSzPct val="100000"/>
              <a:buChar char="•"/>
            </a:pPr>
            <a:r>
              <a:rPr lang="en-US" sz="1500" dirty="0">
                <a:solidFill>
                  <a:srgbClr val="24303C"/>
                </a:solidFill>
                <a:latin typeface="Calibri" pitchFamily="34" charset="0"/>
                <a:ea typeface="Calibri" pitchFamily="34" charset="-122"/>
                <a:cs typeface="Calibri" pitchFamily="34" charset="-120"/>
              </a:rPr>
              <a:t>Humboldts have been told apart by their breast spots since Scholten (1989)</a:t>
            </a:r>
            <a:endParaRPr lang="en-US" sz="1500" dirty="0"/>
          </a:p>
          <a:p>
            <a:pPr marL="342900" indent="-342900">
              <a:lnSpc>
                <a:spcPct val="105000"/>
              </a:lnSpc>
              <a:spcAft>
                <a:spcPts val="1700"/>
              </a:spcAft>
              <a:buSzPct val="100000"/>
              <a:buChar char="•"/>
            </a:pPr>
            <a:r>
              <a:rPr lang="en-US" sz="1500" dirty="0">
                <a:solidFill>
                  <a:srgbClr val="24303C"/>
                </a:solidFill>
                <a:latin typeface="Calibri" pitchFamily="34" charset="0"/>
                <a:ea typeface="Calibri" pitchFamily="34" charset="-122"/>
                <a:cs typeface="Calibri" pitchFamily="34" charset="-120"/>
              </a:rPr>
              <a:t>African penguins use ventral dot patterns to recognise each other (Baciadonna et al. 2024) — the cue is already doing this job</a:t>
            </a:r>
            <a:endParaRPr lang="en-US" sz="1500" dirty="0"/>
          </a:p>
        </p:txBody>
      </p:sp>
      <p:sp>
        <p:nvSpPr>
          <p:cNvPr id="8" name="Text 5"/>
          <p:cNvSpPr txBox="1"/>
          <p:nvPr/>
        </p:nvSpPr>
        <p:spPr>
          <a:xfrm>
            <a:off x="566928" y="6437376"/>
            <a:ext cx="7772400" cy="256032"/>
          </a:xfrm>
          <a:prstGeom prst="rect">
            <a:avLst/>
          </a:prstGeom>
          <a:noFill/>
          <a:ln/>
        </p:spPr>
        <p:txBody>
          <a:bodyPr wrap="square" lIns="0" tIns="0" rIns="0" bIns="0" rtlCol="0" anchor="ctr"/>
          <a:lstStyle/>
          <a:p>
            <a:pPr indent="0" marL="0">
              <a:buNone/>
            </a:pPr>
            <a:r>
              <a:rPr lang="en-US" sz="1000" dirty="0">
                <a:solidFill>
                  <a:srgbClr val="A9AEB5"/>
                </a:solidFill>
                <a:latin typeface="Calibri" pitchFamily="34" charset="0"/>
                <a:ea typeface="Calibri" pitchFamily="34" charset="-122"/>
                <a:cs typeface="Calibri" pitchFamily="34" charset="-120"/>
              </a:rPr>
              <a:t>Automatic identification of Humboldt penguins · ZSL London Zoo</a:t>
            </a:r>
            <a:endParaRPr lang="en-US" sz="1000" dirty="0"/>
          </a:p>
        </p:txBody>
      </p:sp>
      <p:sp>
        <p:nvSpPr>
          <p:cNvPr id="9" name="Text 6"/>
          <p:cNvSpPr txBox="1"/>
          <p:nvPr/>
        </p:nvSpPr>
        <p:spPr>
          <a:xfrm>
            <a:off x="11076127" y="6437376"/>
            <a:ext cx="548640" cy="256032"/>
          </a:xfrm>
          <a:prstGeom prst="rect">
            <a:avLst/>
          </a:prstGeom>
          <a:noFill/>
          <a:ln/>
        </p:spPr>
        <p:txBody>
          <a:bodyPr wrap="square" lIns="0" tIns="0" rIns="0" bIns="0" rtlCol="0" anchor="ctr"/>
          <a:lstStyle/>
          <a:p>
            <a:pPr algn="r" indent="0" marL="0">
              <a:buNone/>
            </a:pPr>
            <a:r>
              <a:rPr lang="en-US" sz="1000" dirty="0">
                <a:solidFill>
                  <a:srgbClr val="A9AEB5"/>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CFCFB"/>
        </a:solidFill>
      </p:bgPr>
    </p:bg>
    <p:spTree>
      <p:nvGrpSpPr>
        <p:cNvPr id="1" name=""/>
        <p:cNvGrpSpPr/>
        <p:nvPr/>
      </p:nvGrpSpPr>
      <p:grpSpPr>
        <a:xfrm>
          <a:off x="0" y="0"/>
          <a:ext cx="0" cy="0"/>
          <a:chOff x="0" y="0"/>
          <a:chExt cx="0" cy="0"/>
        </a:xfrm>
      </p:grpSpPr>
      <p:sp>
        <p:nvSpPr>
          <p:cNvPr id="2" name="Text 0"/>
          <p:cNvSpPr txBox="1"/>
          <p:nvPr/>
        </p:nvSpPr>
        <p:spPr>
          <a:xfrm>
            <a:off x="566928" y="146304"/>
            <a:ext cx="11057839" cy="219456"/>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THE DATA</a:t>
            </a:r>
            <a:endParaRPr lang="en-US" sz="1100" dirty="0"/>
          </a:p>
        </p:txBody>
      </p:sp>
      <p:sp>
        <p:nvSpPr>
          <p:cNvPr id="3" name="Text 1"/>
          <p:cNvSpPr txBox="1"/>
          <p:nvPr/>
        </p:nvSpPr>
        <p:spPr>
          <a:xfrm>
            <a:off x="566928" y="384048"/>
            <a:ext cx="11057839" cy="1188720"/>
          </a:xfrm>
          <a:prstGeom prst="rect">
            <a:avLst/>
          </a:prstGeom>
          <a:noFill/>
          <a:ln/>
        </p:spPr>
        <p:txBody>
          <a:bodyPr wrap="square" lIns="0" tIns="0" rIns="0" bIns="0" rtlCol="0" anchor="t"/>
          <a:lstStyle/>
          <a:p>
            <a:pPr algn="l" indent="0" marL="0">
              <a:lnSpc>
                <a:spcPct val="95000"/>
              </a:lnSpc>
              <a:buNone/>
            </a:pPr>
            <a:r>
              <a:rPr lang="en-US" sz="2500" b="1" dirty="0">
                <a:solidFill>
                  <a:srgbClr val="0E2A47"/>
                </a:solidFill>
                <a:latin typeface="Cambria" pitchFamily="34" charset="0"/>
                <a:ea typeface="Cambria" pitchFamily="34" charset="-122"/>
                <a:cs typeface="Cambria" pitchFamily="34" charset="-120"/>
              </a:rPr>
              <a:t>2,307 volunteer photographs — but the unit of evidence</a:t>
            </a:r>
            <a:endParaRPr lang="en-US" sz="2500" dirty="0"/>
          </a:p>
          <a:p>
            <a:pPr algn="l" indent="0" marL="0">
              <a:lnSpc>
                <a:spcPct val="95000"/>
              </a:lnSpc>
              <a:buNone/>
            </a:pPr>
            <a:r>
              <a:rPr lang="en-US" sz="2500" b="1" dirty="0">
                <a:solidFill>
                  <a:srgbClr val="0E2A47"/>
                </a:solidFill>
                <a:latin typeface="Cambria" pitchFamily="34" charset="0"/>
                <a:ea typeface="Cambria" pitchFamily="34" charset="-122"/>
                <a:cs typeface="Cambria" pitchFamily="34" charset="-120"/>
              </a:rPr>
              <a:t>is the encounter, not the file</a:t>
            </a:r>
            <a:endParaRPr lang="en-US" sz="2500" dirty="0"/>
          </a:p>
        </p:txBody>
      </p:sp>
      <p:sp>
        <p:nvSpPr>
          <p:cNvPr id="4" name="Text 2"/>
          <p:cNvSpPr txBox="1"/>
          <p:nvPr/>
        </p:nvSpPr>
        <p:spPr>
          <a:xfrm>
            <a:off x="566928" y="1810512"/>
            <a:ext cx="2103120" cy="693683"/>
          </a:xfrm>
          <a:prstGeom prst="rect">
            <a:avLst/>
          </a:prstGeom>
          <a:noFill/>
          <a:ln/>
        </p:spPr>
        <p:txBody>
          <a:bodyPr wrap="square" lIns="0" tIns="0" rIns="0" bIns="0" rtlCol="0" anchor="b"/>
          <a:lstStyle/>
          <a:p>
            <a:pPr algn="l" indent="0" marL="0">
              <a:buNone/>
            </a:pPr>
            <a:r>
              <a:rPr lang="en-US" sz="4400" b="1" dirty="0">
                <a:solidFill>
                  <a:srgbClr val="0E2A47"/>
                </a:solidFill>
                <a:latin typeface="Cambria" pitchFamily="34" charset="0"/>
                <a:ea typeface="Cambria" pitchFamily="34" charset="-122"/>
                <a:cs typeface="Cambria" pitchFamily="34" charset="-120"/>
              </a:rPr>
              <a:t>2,307</a:t>
            </a:r>
            <a:endParaRPr lang="en-US" sz="4400" dirty="0"/>
          </a:p>
        </p:txBody>
      </p:sp>
      <p:sp>
        <p:nvSpPr>
          <p:cNvPr id="5" name="Text 3"/>
          <p:cNvSpPr txBox="1"/>
          <p:nvPr/>
        </p:nvSpPr>
        <p:spPr>
          <a:xfrm>
            <a:off x="566928" y="2540771"/>
            <a:ext cx="2103120" cy="237744"/>
          </a:xfrm>
          <a:prstGeom prst="rect">
            <a:avLst/>
          </a:prstGeom>
          <a:noFill/>
          <a:ln/>
        </p:spPr>
        <p:txBody>
          <a:bodyPr wrap="square" lIns="0" tIns="0" rIns="0" bIns="0" rtlCol="0" anchor="t"/>
          <a:lstStyle/>
          <a:p>
            <a:pPr indent="0" marL="0">
              <a:lnSpc>
                <a:spcPct val="100000"/>
              </a:lnSpc>
              <a:buNone/>
            </a:pPr>
            <a:r>
              <a:rPr lang="en-US" sz="1200" b="1" dirty="0">
                <a:solidFill>
                  <a:srgbClr val="24303C"/>
                </a:solidFill>
                <a:latin typeface="Calibri" pitchFamily="34" charset="0"/>
                <a:ea typeface="Calibri" pitchFamily="34" charset="-122"/>
                <a:cs typeface="Calibri" pitchFamily="34" charset="-120"/>
              </a:rPr>
              <a:t>photographs</a:t>
            </a:r>
            <a:endParaRPr lang="en-US" sz="1200" dirty="0"/>
          </a:p>
        </p:txBody>
      </p:sp>
      <p:sp>
        <p:nvSpPr>
          <p:cNvPr id="6" name="Text 4"/>
          <p:cNvSpPr txBox="1"/>
          <p:nvPr/>
        </p:nvSpPr>
        <p:spPr>
          <a:xfrm>
            <a:off x="566928" y="2778515"/>
            <a:ext cx="2103120" cy="566928"/>
          </a:xfrm>
          <a:prstGeom prst="rect">
            <a:avLst/>
          </a:prstGeom>
          <a:noFill/>
          <a:ln/>
        </p:spPr>
        <p:txBody>
          <a:bodyPr wrap="square" lIns="0" tIns="0" rIns="0" bIns="0" rtlCol="0" anchor="t"/>
          <a:lstStyle/>
          <a:p>
            <a:pPr indent="0" marL="0">
              <a:lnSpc>
                <a:spcPct val="95000"/>
              </a:lnSpc>
              <a:buNone/>
            </a:pPr>
            <a:r>
              <a:rPr lang="en-US" sz="1050" dirty="0">
                <a:solidFill>
                  <a:srgbClr val="6E7681"/>
                </a:solidFill>
                <a:latin typeface="Calibri" pitchFamily="34" charset="0"/>
                <a:ea typeface="Calibri" pitchFamily="34" charset="-122"/>
                <a:cs typeface="Calibri" pitchFamily="34" charset="-120"/>
              </a:rPr>
              <a:t>81 birds, 1 to 291 each</a:t>
            </a:r>
            <a:endParaRPr lang="en-US" sz="1050" dirty="0"/>
          </a:p>
        </p:txBody>
      </p:sp>
      <p:sp>
        <p:nvSpPr>
          <p:cNvPr id="7" name="Text 5"/>
          <p:cNvSpPr txBox="1"/>
          <p:nvPr/>
        </p:nvSpPr>
        <p:spPr>
          <a:xfrm>
            <a:off x="2779776" y="1810512"/>
            <a:ext cx="2103120" cy="693683"/>
          </a:xfrm>
          <a:prstGeom prst="rect">
            <a:avLst/>
          </a:prstGeom>
          <a:noFill/>
          <a:ln/>
        </p:spPr>
        <p:txBody>
          <a:bodyPr wrap="square" lIns="0" tIns="0" rIns="0" bIns="0" rtlCol="0" anchor="b"/>
          <a:lstStyle/>
          <a:p>
            <a:pPr algn="l" indent="0" marL="0">
              <a:buNone/>
            </a:pPr>
            <a:r>
              <a:rPr lang="en-US" sz="4400" b="1" dirty="0">
                <a:solidFill>
                  <a:srgbClr val="0E2A47"/>
                </a:solidFill>
                <a:latin typeface="Cambria" pitchFamily="34" charset="0"/>
                <a:ea typeface="Cambria" pitchFamily="34" charset="-122"/>
                <a:cs typeface="Cambria" pitchFamily="34" charset="-120"/>
              </a:rPr>
              <a:t>81</a:t>
            </a:r>
            <a:endParaRPr lang="en-US" sz="4400" dirty="0"/>
          </a:p>
        </p:txBody>
      </p:sp>
      <p:sp>
        <p:nvSpPr>
          <p:cNvPr id="8" name="Text 6"/>
          <p:cNvSpPr txBox="1"/>
          <p:nvPr/>
        </p:nvSpPr>
        <p:spPr>
          <a:xfrm>
            <a:off x="2779776" y="2540771"/>
            <a:ext cx="2103120" cy="237744"/>
          </a:xfrm>
          <a:prstGeom prst="rect">
            <a:avLst/>
          </a:prstGeom>
          <a:noFill/>
          <a:ln/>
        </p:spPr>
        <p:txBody>
          <a:bodyPr wrap="square" lIns="0" tIns="0" rIns="0" bIns="0" rtlCol="0" anchor="t"/>
          <a:lstStyle/>
          <a:p>
            <a:pPr indent="0" marL="0">
              <a:lnSpc>
                <a:spcPct val="100000"/>
              </a:lnSpc>
              <a:buNone/>
            </a:pPr>
            <a:r>
              <a:rPr lang="en-US" sz="1200" b="1" dirty="0">
                <a:solidFill>
                  <a:srgbClr val="24303C"/>
                </a:solidFill>
                <a:latin typeface="Calibri" pitchFamily="34" charset="0"/>
                <a:ea typeface="Calibri" pitchFamily="34" charset="-122"/>
                <a:cs typeface="Calibri" pitchFamily="34" charset="-120"/>
              </a:rPr>
              <a:t>individuals</a:t>
            </a:r>
            <a:endParaRPr lang="en-US" sz="1200" dirty="0"/>
          </a:p>
        </p:txBody>
      </p:sp>
      <p:sp>
        <p:nvSpPr>
          <p:cNvPr id="9" name="Text 7"/>
          <p:cNvSpPr txBox="1"/>
          <p:nvPr/>
        </p:nvSpPr>
        <p:spPr>
          <a:xfrm>
            <a:off x="2779776" y="2778515"/>
            <a:ext cx="2103120" cy="566928"/>
          </a:xfrm>
          <a:prstGeom prst="rect">
            <a:avLst/>
          </a:prstGeom>
          <a:noFill/>
          <a:ln/>
        </p:spPr>
        <p:txBody>
          <a:bodyPr wrap="square" lIns="0" tIns="0" rIns="0" bIns="0" rtlCol="0" anchor="t"/>
          <a:lstStyle/>
          <a:p>
            <a:pPr indent="0" marL="0">
              <a:lnSpc>
                <a:spcPct val="95000"/>
              </a:lnSpc>
              <a:buNone/>
            </a:pPr>
            <a:r>
              <a:rPr lang="en-US" sz="1050" dirty="0">
                <a:solidFill>
                  <a:srgbClr val="6E7681"/>
                </a:solidFill>
                <a:latin typeface="Calibri" pitchFamily="34" charset="0"/>
                <a:ea typeface="Calibri" pitchFamily="34" charset="-122"/>
                <a:cs typeface="Calibri" pitchFamily="34" charset="-120"/>
              </a:rPr>
              <a:t>the whole colony</a:t>
            </a:r>
            <a:endParaRPr lang="en-US" sz="1050" dirty="0"/>
          </a:p>
        </p:txBody>
      </p:sp>
      <p:sp>
        <p:nvSpPr>
          <p:cNvPr id="10" name="Text 8"/>
          <p:cNvSpPr txBox="1"/>
          <p:nvPr/>
        </p:nvSpPr>
        <p:spPr>
          <a:xfrm>
            <a:off x="4992624" y="1810512"/>
            <a:ext cx="2103120" cy="693683"/>
          </a:xfrm>
          <a:prstGeom prst="rect">
            <a:avLst/>
          </a:prstGeom>
          <a:noFill/>
          <a:ln/>
        </p:spPr>
        <p:txBody>
          <a:bodyPr wrap="square" lIns="0" tIns="0" rIns="0" bIns="0" rtlCol="0" anchor="b"/>
          <a:lstStyle/>
          <a:p>
            <a:pPr algn="l" indent="0" marL="0">
              <a:buNone/>
            </a:pPr>
            <a:r>
              <a:rPr lang="en-US" sz="4400" b="1" dirty="0">
                <a:solidFill>
                  <a:srgbClr val="EB6834"/>
                </a:solidFill>
                <a:latin typeface="Cambria" pitchFamily="34" charset="0"/>
                <a:ea typeface="Cambria" pitchFamily="34" charset="-122"/>
                <a:cs typeface="Cambria" pitchFamily="34" charset="-120"/>
              </a:rPr>
              <a:t>35</a:t>
            </a:r>
            <a:endParaRPr lang="en-US" sz="4400" dirty="0"/>
          </a:p>
        </p:txBody>
      </p:sp>
      <p:sp>
        <p:nvSpPr>
          <p:cNvPr id="11" name="Text 9"/>
          <p:cNvSpPr txBox="1"/>
          <p:nvPr/>
        </p:nvSpPr>
        <p:spPr>
          <a:xfrm>
            <a:off x="4992624" y="2540771"/>
            <a:ext cx="2103120" cy="237744"/>
          </a:xfrm>
          <a:prstGeom prst="rect">
            <a:avLst/>
          </a:prstGeom>
          <a:noFill/>
          <a:ln/>
        </p:spPr>
        <p:txBody>
          <a:bodyPr wrap="square" lIns="0" tIns="0" rIns="0" bIns="0" rtlCol="0" anchor="t"/>
          <a:lstStyle/>
          <a:p>
            <a:pPr indent="0" marL="0">
              <a:lnSpc>
                <a:spcPct val="100000"/>
              </a:lnSpc>
              <a:buNone/>
            </a:pPr>
            <a:r>
              <a:rPr lang="en-US" sz="1200" b="1" dirty="0">
                <a:solidFill>
                  <a:srgbClr val="24303C"/>
                </a:solidFill>
                <a:latin typeface="Calibri" pitchFamily="34" charset="0"/>
                <a:ea typeface="Calibri" pitchFamily="34" charset="-122"/>
                <a:cs typeface="Calibri" pitchFamily="34" charset="-120"/>
              </a:rPr>
              <a:t>evaluated</a:t>
            </a:r>
            <a:endParaRPr lang="en-US" sz="1200" dirty="0"/>
          </a:p>
        </p:txBody>
      </p:sp>
      <p:sp>
        <p:nvSpPr>
          <p:cNvPr id="12" name="Text 10"/>
          <p:cNvSpPr txBox="1"/>
          <p:nvPr/>
        </p:nvSpPr>
        <p:spPr>
          <a:xfrm>
            <a:off x="4992624" y="2778515"/>
            <a:ext cx="2103120" cy="566928"/>
          </a:xfrm>
          <a:prstGeom prst="rect">
            <a:avLst/>
          </a:prstGeom>
          <a:noFill/>
          <a:ln/>
        </p:spPr>
        <p:txBody>
          <a:bodyPr wrap="square" lIns="0" tIns="0" rIns="0" bIns="0" rtlCol="0" anchor="t"/>
          <a:lstStyle/>
          <a:p>
            <a:pPr indent="0" marL="0">
              <a:lnSpc>
                <a:spcPct val="95000"/>
              </a:lnSpc>
              <a:buNone/>
            </a:pPr>
            <a:r>
              <a:rPr lang="en-US" sz="1050" dirty="0">
                <a:solidFill>
                  <a:srgbClr val="6E7681"/>
                </a:solidFill>
                <a:latin typeface="Calibri" pitchFamily="34" charset="0"/>
                <a:ea typeface="Calibri" pitchFamily="34" charset="-122"/>
                <a:cs typeface="Calibri" pitchFamily="34" charset="-120"/>
              </a:rPr>
              <a:t>≥16 photos and ≥3 sessions</a:t>
            </a:r>
            <a:endParaRPr lang="en-US" sz="1050" dirty="0"/>
          </a:p>
        </p:txBody>
      </p:sp>
      <p:sp>
        <p:nvSpPr>
          <p:cNvPr id="13" name="Text 11"/>
          <p:cNvSpPr txBox="1"/>
          <p:nvPr/>
        </p:nvSpPr>
        <p:spPr>
          <a:xfrm>
            <a:off x="7205472" y="1810512"/>
            <a:ext cx="2103120" cy="693683"/>
          </a:xfrm>
          <a:prstGeom prst="rect">
            <a:avLst/>
          </a:prstGeom>
          <a:noFill/>
          <a:ln/>
        </p:spPr>
        <p:txBody>
          <a:bodyPr wrap="square" lIns="0" tIns="0" rIns="0" bIns="0" rtlCol="0" anchor="b"/>
          <a:lstStyle/>
          <a:p>
            <a:pPr algn="l" indent="0" marL="0">
              <a:buNone/>
            </a:pPr>
            <a:r>
              <a:rPr lang="en-US" sz="4400" b="1" dirty="0">
                <a:solidFill>
                  <a:srgbClr val="0E2A47"/>
                </a:solidFill>
                <a:latin typeface="Cambria" pitchFamily="34" charset="0"/>
                <a:ea typeface="Cambria" pitchFamily="34" charset="-122"/>
                <a:cs typeface="Cambria" pitchFamily="34" charset="-120"/>
              </a:rPr>
              <a:t>335</a:t>
            </a:r>
            <a:endParaRPr lang="en-US" sz="4400" dirty="0"/>
          </a:p>
        </p:txBody>
      </p:sp>
      <p:sp>
        <p:nvSpPr>
          <p:cNvPr id="14" name="Text 12"/>
          <p:cNvSpPr txBox="1"/>
          <p:nvPr/>
        </p:nvSpPr>
        <p:spPr>
          <a:xfrm>
            <a:off x="7205472" y="2540771"/>
            <a:ext cx="2103120" cy="237744"/>
          </a:xfrm>
          <a:prstGeom prst="rect">
            <a:avLst/>
          </a:prstGeom>
          <a:noFill/>
          <a:ln/>
        </p:spPr>
        <p:txBody>
          <a:bodyPr wrap="square" lIns="0" tIns="0" rIns="0" bIns="0" rtlCol="0" anchor="t"/>
          <a:lstStyle/>
          <a:p>
            <a:pPr indent="0" marL="0">
              <a:lnSpc>
                <a:spcPct val="100000"/>
              </a:lnSpc>
              <a:buNone/>
            </a:pPr>
            <a:r>
              <a:rPr lang="en-US" sz="1200" b="1" dirty="0">
                <a:solidFill>
                  <a:srgbClr val="24303C"/>
                </a:solidFill>
                <a:latin typeface="Calibri" pitchFamily="34" charset="0"/>
                <a:ea typeface="Calibri" pitchFamily="34" charset="-122"/>
                <a:cs typeface="Calibri" pitchFamily="34" charset="-120"/>
              </a:rPr>
              <a:t>capture sessions</a:t>
            </a:r>
            <a:endParaRPr lang="en-US" sz="1200" dirty="0"/>
          </a:p>
        </p:txBody>
      </p:sp>
      <p:sp>
        <p:nvSpPr>
          <p:cNvPr id="15" name="Text 13"/>
          <p:cNvSpPr txBox="1"/>
          <p:nvPr/>
        </p:nvSpPr>
        <p:spPr>
          <a:xfrm>
            <a:off x="7205472" y="2778515"/>
            <a:ext cx="2103120" cy="566928"/>
          </a:xfrm>
          <a:prstGeom prst="rect">
            <a:avLst/>
          </a:prstGeom>
          <a:noFill/>
          <a:ln/>
        </p:spPr>
        <p:txBody>
          <a:bodyPr wrap="square" lIns="0" tIns="0" rIns="0" bIns="0" rtlCol="0" anchor="t"/>
          <a:lstStyle/>
          <a:p>
            <a:pPr indent="0" marL="0">
              <a:lnSpc>
                <a:spcPct val="95000"/>
              </a:lnSpc>
              <a:buNone/>
            </a:pPr>
            <a:r>
              <a:rPr lang="en-US" sz="1050" dirty="0">
                <a:solidFill>
                  <a:srgbClr val="6E7681"/>
                </a:solidFill>
                <a:latin typeface="Calibri" pitchFamily="34" charset="0"/>
                <a:ea typeface="Calibri" pitchFamily="34" charset="-122"/>
                <a:cs typeface="Calibri" pitchFamily="34" charset="-120"/>
              </a:rPr>
              <a:t>258 across the 35</a:t>
            </a:r>
            <a:endParaRPr lang="en-US" sz="1050" dirty="0"/>
          </a:p>
        </p:txBody>
      </p:sp>
      <p:sp>
        <p:nvSpPr>
          <p:cNvPr id="16" name="Shape 14"/>
          <p:cNvSpPr/>
          <p:nvPr/>
        </p:nvSpPr>
        <p:spPr>
          <a:xfrm>
            <a:off x="566928" y="3703320"/>
            <a:ext cx="11057839" cy="1783080"/>
          </a:xfrm>
          <a:prstGeom prst="roundRect">
            <a:avLst>
              <a:gd name="adj" fmla="val 3077"/>
            </a:avLst>
          </a:prstGeom>
          <a:solidFill>
            <a:srgbClr val="F1F0EC"/>
          </a:solidFill>
          <a:ln w="12700">
            <a:solidFill>
              <a:srgbClr val="F1F0EC"/>
            </a:solidFill>
            <a:prstDash val="solid"/>
          </a:ln>
        </p:spPr>
      </p:sp>
      <p:sp>
        <p:nvSpPr>
          <p:cNvPr id="17" name="Text 15"/>
          <p:cNvSpPr txBox="1"/>
          <p:nvPr/>
        </p:nvSpPr>
        <p:spPr>
          <a:xfrm>
            <a:off x="841248" y="3895344"/>
            <a:ext cx="10509199" cy="310896"/>
          </a:xfrm>
          <a:prstGeom prst="rect">
            <a:avLst/>
          </a:prstGeom>
          <a:noFill/>
          <a:ln/>
        </p:spPr>
        <p:txBody>
          <a:bodyPr wrap="square" lIns="0" tIns="0" rIns="0" bIns="0" rtlCol="0" anchor="ctr"/>
          <a:lstStyle/>
          <a:p>
            <a:pPr indent="0" marL="0">
              <a:buNone/>
            </a:pPr>
            <a:r>
              <a:rPr lang="en-US" sz="1550" b="1" dirty="0">
                <a:solidFill>
                  <a:srgbClr val="0E2A47"/>
                </a:solidFill>
                <a:latin typeface="Calibri" pitchFamily="34" charset="0"/>
                <a:ea typeface="Calibri" pitchFamily="34" charset="-122"/>
                <a:cs typeface="Calibri" pitchFamily="34" charset="-120"/>
              </a:rPr>
              <a:t>A capture session = every photograph of one bird from a single photographic encounter.</a:t>
            </a:r>
            <a:endParaRPr lang="en-US" sz="1550" dirty="0"/>
          </a:p>
        </p:txBody>
      </p:sp>
      <p:sp>
        <p:nvSpPr>
          <p:cNvPr id="18" name="Text 16"/>
          <p:cNvSpPr txBox="1"/>
          <p:nvPr/>
        </p:nvSpPr>
        <p:spPr>
          <a:xfrm>
            <a:off x="841248" y="4279392"/>
            <a:ext cx="10509199" cy="1097280"/>
          </a:xfrm>
          <a:prstGeom prst="rect">
            <a:avLst/>
          </a:prstGeom>
          <a:noFill/>
          <a:ln/>
        </p:spPr>
        <p:txBody>
          <a:bodyPr wrap="square" lIns="0" tIns="0" rIns="0" bIns="0" rtlCol="0" anchor="t"/>
          <a:lstStyle/>
          <a:p>
            <a:pPr indent="0" marL="0">
              <a:lnSpc>
                <a:spcPct val="110000"/>
              </a:lnSpc>
              <a:buNone/>
            </a:pPr>
            <a:r>
              <a:rPr lang="en-US" sz="1350" dirty="0">
                <a:solidFill>
                  <a:srgbClr val="24303C"/>
                </a:solidFill>
                <a:latin typeface="Calibri" pitchFamily="34" charset="0"/>
                <a:ea typeface="Calibri" pitchFamily="34" charset="-122"/>
                <a:cs typeface="Calibri" pitchFamily="34" charset="-120"/>
              </a:rPr>
              <a:t>Inferred per bird from the camera filename prefix and frame number: a new session starts when the gap to the previous frame exceeds 50. Checked against EXIF timestamps where present. Frames inside one session share light, background, viewpoint and posture — they are correlated observations, not independent evidence of how a bird looks on a new day.</a:t>
            </a:r>
            <a:endParaRPr lang="en-US" sz="1350" dirty="0"/>
          </a:p>
        </p:txBody>
      </p:sp>
      <p:sp>
        <p:nvSpPr>
          <p:cNvPr id="19" name="Text 17"/>
          <p:cNvSpPr txBox="1"/>
          <p:nvPr/>
        </p:nvSpPr>
        <p:spPr>
          <a:xfrm>
            <a:off x="566928" y="6437376"/>
            <a:ext cx="7772400" cy="256032"/>
          </a:xfrm>
          <a:prstGeom prst="rect">
            <a:avLst/>
          </a:prstGeom>
          <a:noFill/>
          <a:ln/>
        </p:spPr>
        <p:txBody>
          <a:bodyPr wrap="square" lIns="0" tIns="0" rIns="0" bIns="0" rtlCol="0" anchor="ctr"/>
          <a:lstStyle/>
          <a:p>
            <a:pPr indent="0" marL="0">
              <a:buNone/>
            </a:pPr>
            <a:r>
              <a:rPr lang="en-US" sz="1000" dirty="0">
                <a:solidFill>
                  <a:srgbClr val="A9AEB5"/>
                </a:solidFill>
                <a:latin typeface="Calibri" pitchFamily="34" charset="0"/>
                <a:ea typeface="Calibri" pitchFamily="34" charset="-122"/>
                <a:cs typeface="Calibri" pitchFamily="34" charset="-120"/>
              </a:rPr>
              <a:t>Automatic identification of Humboldt penguins · ZSL London Zoo</a:t>
            </a:r>
            <a:endParaRPr lang="en-US" sz="1000" dirty="0"/>
          </a:p>
        </p:txBody>
      </p:sp>
      <p:sp>
        <p:nvSpPr>
          <p:cNvPr id="20" name="Text 18"/>
          <p:cNvSpPr txBox="1"/>
          <p:nvPr/>
        </p:nvSpPr>
        <p:spPr>
          <a:xfrm>
            <a:off x="11076127" y="6437376"/>
            <a:ext cx="548640" cy="256032"/>
          </a:xfrm>
          <a:prstGeom prst="rect">
            <a:avLst/>
          </a:prstGeom>
          <a:noFill/>
          <a:ln/>
        </p:spPr>
        <p:txBody>
          <a:bodyPr wrap="square" lIns="0" tIns="0" rIns="0" bIns="0" rtlCol="0" anchor="ctr"/>
          <a:lstStyle/>
          <a:p>
            <a:pPr algn="r" indent="0" marL="0">
              <a:buNone/>
            </a:pPr>
            <a:r>
              <a:rPr lang="en-US" sz="1000" dirty="0">
                <a:solidFill>
                  <a:srgbClr val="A9AEB5"/>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CFCFB"/>
        </a:solidFill>
      </p:bgPr>
    </p:bg>
    <p:spTree>
      <p:nvGrpSpPr>
        <p:cNvPr id="1" name=""/>
        <p:cNvGrpSpPr/>
        <p:nvPr/>
      </p:nvGrpSpPr>
      <p:grpSpPr>
        <a:xfrm>
          <a:off x="0" y="0"/>
          <a:ext cx="0" cy="0"/>
          <a:chOff x="0" y="0"/>
          <a:chExt cx="0" cy="0"/>
        </a:xfrm>
      </p:grpSpPr>
      <p:sp>
        <p:nvSpPr>
          <p:cNvPr id="2" name="Text 0"/>
          <p:cNvSpPr txBox="1"/>
          <p:nvPr/>
        </p:nvSpPr>
        <p:spPr>
          <a:xfrm>
            <a:off x="566928" y="146304"/>
            <a:ext cx="11057839" cy="219456"/>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RESULT 1 — THE CONTROLLED EXPERIMENT</a:t>
            </a:r>
            <a:endParaRPr lang="en-US" sz="1100" dirty="0"/>
          </a:p>
        </p:txBody>
      </p:sp>
      <p:sp>
        <p:nvSpPr>
          <p:cNvPr id="3" name="Text 1"/>
          <p:cNvSpPr txBox="1"/>
          <p:nvPr/>
        </p:nvSpPr>
        <p:spPr>
          <a:xfrm>
            <a:off x="566928" y="384048"/>
            <a:ext cx="11057839" cy="685800"/>
          </a:xfrm>
          <a:prstGeom prst="rect">
            <a:avLst/>
          </a:prstGeom>
          <a:noFill/>
          <a:ln/>
        </p:spPr>
        <p:txBody>
          <a:bodyPr wrap="square" lIns="0" tIns="0" rIns="0" bIns="0" rtlCol="0" anchor="t"/>
          <a:lstStyle/>
          <a:p>
            <a:pPr algn="l" indent="0" marL="0">
              <a:lnSpc>
                <a:spcPct val="95000"/>
              </a:lnSpc>
              <a:buNone/>
            </a:pPr>
            <a:r>
              <a:rPr lang="en-US" sz="2700" b="1" dirty="0">
                <a:solidFill>
                  <a:srgbClr val="0E2A47"/>
                </a:solidFill>
                <a:latin typeface="Cambria" pitchFamily="34" charset="0"/>
                <a:ea typeface="Cambria" pitchFamily="34" charset="-122"/>
                <a:cs typeface="Cambria" pitchFamily="34" charset="-120"/>
              </a:rPr>
              <a:t>Change only the split rule, and 0.920 becomes 0.389</a:t>
            </a:r>
            <a:endParaRPr lang="en-US" sz="2700" dirty="0"/>
          </a:p>
        </p:txBody>
      </p:sp>
      <p:pic>
        <p:nvPicPr>
          <p:cNvPr id="4" name="Image 0" descr="/home/user/pgs/presentation/assets/06_leakage_random_vs_session_notitle.png">    </p:cNvPr>
          <p:cNvPicPr>
            <a:picLocks noChangeAspect="1"/>
          </p:cNvPicPr>
          <p:nvPr/>
        </p:nvPicPr>
        <p:blipFill>
          <a:blip r:embed="rId1"/>
          <a:stretch>
            <a:fillRect/>
          </a:stretch>
        </p:blipFill>
        <p:spPr>
          <a:xfrm>
            <a:off x="4892040" y="1231392"/>
            <a:ext cx="6812280" cy="4770120"/>
          </a:xfrm>
          <a:prstGeom prst="rect">
            <a:avLst/>
          </a:prstGeom>
        </p:spPr>
      </p:pic>
      <p:sp>
        <p:nvSpPr>
          <p:cNvPr id="5" name="Text 2"/>
          <p:cNvSpPr txBox="1"/>
          <p:nvPr/>
        </p:nvSpPr>
        <p:spPr>
          <a:xfrm>
            <a:off x="566928" y="1280160"/>
            <a:ext cx="4069080" cy="2194560"/>
          </a:xfrm>
          <a:prstGeom prst="rect">
            <a:avLst/>
          </a:prstGeom>
          <a:noFill/>
          <a:ln/>
        </p:spPr>
        <p:txBody>
          <a:bodyPr wrap="square" lIns="0" tIns="0" rIns="0" bIns="0" rtlCol="0" anchor="t"/>
          <a:lstStyle/>
          <a:p>
            <a:pPr marL="342900" indent="-342900">
              <a:lnSpc>
                <a:spcPct val="105000"/>
              </a:lnSpc>
              <a:spcAft>
                <a:spcPts val="1100"/>
              </a:spcAft>
              <a:buSzPct val="100000"/>
              <a:buChar char="•"/>
            </a:pPr>
            <a:r>
              <a:rPr lang="en-US" sz="1400" dirty="0">
                <a:solidFill>
                  <a:srgbClr val="24303C"/>
                </a:solidFill>
                <a:latin typeface="Calibri" pitchFamily="34" charset="0"/>
                <a:ea typeface="Calibri" pitchFamily="34" charset="-122"/>
                <a:cs typeface="Calibri" pitchFamily="34" charset="-120"/>
              </a:rPr>
              <a:t>Same 35 birds, same 1,743 photographs, same per-bird partition sizes, same training recipe</a:t>
            </a:r>
            <a:endParaRPr lang="en-US" sz="1400" dirty="0"/>
          </a:p>
          <a:p>
            <a:pPr marL="342900" indent="-342900">
              <a:lnSpc>
                <a:spcPct val="105000"/>
              </a:lnSpc>
              <a:spcAft>
                <a:spcPts val="1100"/>
              </a:spcAft>
              <a:buSzPct val="100000"/>
              <a:buChar char="•"/>
            </a:pPr>
            <a:r>
              <a:rPr lang="en-US" sz="1400" dirty="0">
                <a:solidFill>
                  <a:srgbClr val="24303C"/>
                </a:solidFill>
                <a:latin typeface="Calibri" pitchFamily="34" charset="0"/>
                <a:ea typeface="Calibri" pitchFamily="34" charset="-122"/>
                <a:cs typeface="Calibri" pitchFamily="34" charset="-120"/>
              </a:rPr>
              <a:t>Only difference: whole capture sessions may no longer straddle the split</a:t>
            </a:r>
            <a:endParaRPr lang="en-US" sz="1400" dirty="0"/>
          </a:p>
          <a:p>
            <a:pPr marL="342900" indent="-342900">
              <a:lnSpc>
                <a:spcPct val="105000"/>
              </a:lnSpc>
              <a:spcAft>
                <a:spcPts val="1100"/>
              </a:spcAft>
              <a:buSzPct val="100000"/>
              <a:buChar char="•"/>
            </a:pPr>
            <a:r>
              <a:rPr lang="en-US" sz="1400" dirty="0">
                <a:solidFill>
                  <a:srgbClr val="24303C"/>
                </a:solidFill>
                <a:latin typeface="Calibri" pitchFamily="34" charset="0"/>
                <a:ea typeface="Calibri" pitchFamily="34" charset="-122"/>
                <a:cs typeface="Calibri" pitchFamily="34" charset="-120"/>
              </a:rPr>
              <a:t>Rank-5 and 1-NN collapse the same way — not a quirk of one metric</a:t>
            </a:r>
            <a:endParaRPr lang="en-US" sz="1400" dirty="0"/>
          </a:p>
        </p:txBody>
      </p:sp>
      <p:sp>
        <p:nvSpPr>
          <p:cNvPr id="6" name="Shape 3"/>
          <p:cNvSpPr/>
          <p:nvPr/>
        </p:nvSpPr>
        <p:spPr>
          <a:xfrm>
            <a:off x="566928" y="3657600"/>
            <a:ext cx="4069080" cy="2148840"/>
          </a:xfrm>
          <a:prstGeom prst="roundRect">
            <a:avLst>
              <a:gd name="adj" fmla="val 2553"/>
            </a:avLst>
          </a:prstGeom>
          <a:solidFill>
            <a:srgbClr val="F1F0EC"/>
          </a:solidFill>
          <a:ln w="12700">
            <a:solidFill>
              <a:srgbClr val="F1F0EC"/>
            </a:solidFill>
            <a:prstDash val="solid"/>
          </a:ln>
        </p:spPr>
      </p:sp>
      <p:sp>
        <p:nvSpPr>
          <p:cNvPr id="7" name="Text 4"/>
          <p:cNvSpPr txBox="1"/>
          <p:nvPr/>
        </p:nvSpPr>
        <p:spPr>
          <a:xfrm>
            <a:off x="795528" y="3803904"/>
            <a:ext cx="3611880" cy="274320"/>
          </a:xfrm>
          <a:prstGeom prst="rect">
            <a:avLst/>
          </a:prstGeom>
          <a:noFill/>
          <a:ln/>
        </p:spPr>
        <p:txBody>
          <a:bodyPr wrap="square" lIns="0" tIns="0" rIns="0" bIns="0" rtlCol="0" anchor="ctr"/>
          <a:lstStyle/>
          <a:p>
            <a:pPr indent="0" marL="0">
              <a:buNone/>
            </a:pPr>
            <a:r>
              <a:rPr lang="en-US" sz="1300" b="1" dirty="0">
                <a:solidFill>
                  <a:srgbClr val="EB6834"/>
                </a:solidFill>
                <a:latin typeface="Calibri" pitchFamily="34" charset="0"/>
                <a:ea typeface="Calibri" pitchFamily="34" charset="-122"/>
                <a:cs typeface="Calibri" pitchFamily="34" charset="-120"/>
              </a:rPr>
              <a:t>Audited before any model ran</a:t>
            </a:r>
            <a:endParaRPr lang="en-US" sz="1300" dirty="0"/>
          </a:p>
        </p:txBody>
      </p:sp>
      <p:sp>
        <p:nvSpPr>
          <p:cNvPr id="8" name="Text 5"/>
          <p:cNvSpPr txBox="1"/>
          <p:nvPr/>
        </p:nvSpPr>
        <p:spPr>
          <a:xfrm>
            <a:off x="795528" y="4133088"/>
            <a:ext cx="3611880" cy="1554480"/>
          </a:xfrm>
          <a:prstGeom prst="rect">
            <a:avLst/>
          </a:prstGeom>
          <a:noFill/>
          <a:ln/>
        </p:spPr>
        <p:txBody>
          <a:bodyPr wrap="square" lIns="0" tIns="0" rIns="0" bIns="0" rtlCol="0" anchor="t"/>
          <a:lstStyle/>
          <a:p>
            <a:pPr indent="0" marL="0">
              <a:lnSpc>
                <a:spcPct val="110000"/>
              </a:lnSpc>
              <a:buNone/>
            </a:pPr>
            <a:r>
              <a:rPr lang="en-US" sz="1250" b="1" dirty="0">
                <a:solidFill>
                  <a:srgbClr val="0E2A47"/>
                </a:solidFill>
                <a:latin typeface="Calibri" pitchFamily="34" charset="0"/>
                <a:ea typeface="Calibri" pitchFamily="34" charset="-122"/>
                <a:cs typeface="Calibri" pitchFamily="34" charset="-120"/>
              </a:rPr>
              <a:t>97.8%</a:t>
            </a:r>
            <a:pPr indent="0" marL="0">
              <a:lnSpc>
                <a:spcPct val="110000"/>
              </a:lnSpc>
              <a:buNone/>
            </a:pPr>
            <a:r>
              <a:rPr lang="en-US" sz="1250" dirty="0">
                <a:solidFill>
                  <a:srgbClr val="24303C"/>
                </a:solidFill>
                <a:latin typeface="Calibri" pitchFamily="34" charset="0"/>
                <a:ea typeface="Calibri" pitchFamily="34" charset="-122"/>
                <a:cs typeface="Calibri" pitchFamily="34" charset="-120"/>
              </a:rPr>
              <a:t> of random-split test photos shared a capture session with a gallery photo; </a:t>
            </a:r>
            <a:pPr indent="0" marL="0">
              <a:lnSpc>
                <a:spcPct val="110000"/>
              </a:lnSpc>
              <a:buNone/>
            </a:pPr>
            <a:r>
              <a:rPr lang="en-US" sz="1250" b="1" dirty="0">
                <a:solidFill>
                  <a:srgbClr val="0E2A47"/>
                </a:solidFill>
                <a:latin typeface="Calibri" pitchFamily="34" charset="0"/>
                <a:ea typeface="Calibri" pitchFamily="34" charset="-122"/>
                <a:cs typeface="Calibri" pitchFamily="34" charset="-120"/>
              </a:rPr>
              <a:t>13.8%</a:t>
            </a:r>
            <a:pPr indent="0" marL="0">
              <a:lnSpc>
                <a:spcPct val="110000"/>
              </a:lnSpc>
              <a:buNone/>
            </a:pPr>
            <a:r>
              <a:rPr lang="en-US" sz="1250" dirty="0">
                <a:solidFill>
                  <a:srgbClr val="24303C"/>
                </a:solidFill>
                <a:latin typeface="Calibri" pitchFamily="34" charset="0"/>
                <a:ea typeface="Calibri" pitchFamily="34" charset="-122"/>
                <a:cs typeface="Calibri" pitchFamily="34" charset="-120"/>
              </a:rPr>
              <a:t> had an outright near-duplicate — measured by perceptual hash, pixel correlation and EXIF time, none of which touch the model.</a:t>
            </a:r>
            <a:endParaRPr lang="en-US" sz="1250" dirty="0"/>
          </a:p>
        </p:txBody>
      </p:sp>
      <p:sp>
        <p:nvSpPr>
          <p:cNvPr id="9" name="Text 6"/>
          <p:cNvSpPr txBox="1"/>
          <p:nvPr/>
        </p:nvSpPr>
        <p:spPr>
          <a:xfrm>
            <a:off x="566928" y="6437376"/>
            <a:ext cx="7772400" cy="256032"/>
          </a:xfrm>
          <a:prstGeom prst="rect">
            <a:avLst/>
          </a:prstGeom>
          <a:noFill/>
          <a:ln/>
        </p:spPr>
        <p:txBody>
          <a:bodyPr wrap="square" lIns="0" tIns="0" rIns="0" bIns="0" rtlCol="0" anchor="ctr"/>
          <a:lstStyle/>
          <a:p>
            <a:pPr indent="0" marL="0">
              <a:buNone/>
            </a:pPr>
            <a:r>
              <a:rPr lang="en-US" sz="1000" dirty="0">
                <a:solidFill>
                  <a:srgbClr val="A9AEB5"/>
                </a:solidFill>
                <a:latin typeface="Calibri" pitchFamily="34" charset="0"/>
                <a:ea typeface="Calibri" pitchFamily="34" charset="-122"/>
                <a:cs typeface="Calibri" pitchFamily="34" charset="-120"/>
              </a:rPr>
              <a:t>Automatic identification of Humboldt penguins · ZSL London Zoo</a:t>
            </a:r>
            <a:endParaRPr lang="en-US" sz="1000" dirty="0"/>
          </a:p>
        </p:txBody>
      </p:sp>
      <p:sp>
        <p:nvSpPr>
          <p:cNvPr id="10" name="Text 7"/>
          <p:cNvSpPr txBox="1"/>
          <p:nvPr/>
        </p:nvSpPr>
        <p:spPr>
          <a:xfrm>
            <a:off x="11076127" y="6437376"/>
            <a:ext cx="548640" cy="256032"/>
          </a:xfrm>
          <a:prstGeom prst="rect">
            <a:avLst/>
          </a:prstGeom>
          <a:noFill/>
          <a:ln/>
        </p:spPr>
        <p:txBody>
          <a:bodyPr wrap="square" lIns="0" tIns="0" rIns="0" bIns="0" rtlCol="0" anchor="ctr"/>
          <a:lstStyle/>
          <a:p>
            <a:pPr algn="r" indent="0" marL="0">
              <a:buNone/>
            </a:pPr>
            <a:r>
              <a:rPr lang="en-US" sz="1000" dirty="0">
                <a:solidFill>
                  <a:srgbClr val="A9AEB5"/>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CFCFB"/>
        </a:solidFill>
      </p:bgPr>
    </p:bg>
    <p:spTree>
      <p:nvGrpSpPr>
        <p:cNvPr id="1" name=""/>
        <p:cNvGrpSpPr/>
        <p:nvPr/>
      </p:nvGrpSpPr>
      <p:grpSpPr>
        <a:xfrm>
          <a:off x="0" y="0"/>
          <a:ext cx="0" cy="0"/>
          <a:chOff x="0" y="0"/>
          <a:chExt cx="0" cy="0"/>
        </a:xfrm>
      </p:grpSpPr>
      <p:sp>
        <p:nvSpPr>
          <p:cNvPr id="2" name="Text 0"/>
          <p:cNvSpPr txBox="1"/>
          <p:nvPr/>
        </p:nvSpPr>
        <p:spPr>
          <a:xfrm>
            <a:off x="566928" y="146304"/>
            <a:ext cx="11057839" cy="219456"/>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WHAT REPLACES IT</a:t>
            </a:r>
            <a:endParaRPr lang="en-US" sz="1100" dirty="0"/>
          </a:p>
        </p:txBody>
      </p:sp>
      <p:sp>
        <p:nvSpPr>
          <p:cNvPr id="3" name="Text 1"/>
          <p:cNvSpPr txBox="1"/>
          <p:nvPr/>
        </p:nvSpPr>
        <p:spPr>
          <a:xfrm>
            <a:off x="566928" y="384048"/>
            <a:ext cx="11057839" cy="1143000"/>
          </a:xfrm>
          <a:prstGeom prst="rect">
            <a:avLst/>
          </a:prstGeom>
          <a:noFill/>
          <a:ln/>
        </p:spPr>
        <p:txBody>
          <a:bodyPr wrap="square" lIns="0" tIns="0" rIns="0" bIns="0" rtlCol="0" anchor="t"/>
          <a:lstStyle/>
          <a:p>
            <a:pPr algn="l" indent="0" marL="0">
              <a:lnSpc>
                <a:spcPct val="95000"/>
              </a:lnSpc>
              <a:buNone/>
            </a:pPr>
            <a:r>
              <a:rPr lang="en-US" sz="2500" b="1" dirty="0">
                <a:solidFill>
                  <a:srgbClr val="0E2A47"/>
                </a:solidFill>
                <a:latin typeface="Cambria" pitchFamily="34" charset="0"/>
                <a:ea typeface="Cambria" pitchFamily="34" charset="-122"/>
                <a:cs typeface="Cambria" pitchFamily="34" charset="-120"/>
              </a:rPr>
              <a:t>An evaluation whose unit is the encounter and whose</a:t>
            </a:r>
            <a:endParaRPr lang="en-US" sz="2500" dirty="0"/>
          </a:p>
          <a:p>
            <a:pPr algn="l" indent="0" marL="0">
              <a:lnSpc>
                <a:spcPct val="95000"/>
              </a:lnSpc>
              <a:buNone/>
            </a:pPr>
            <a:r>
              <a:rPr lang="en-US" sz="2500" b="1" dirty="0">
                <a:solidFill>
                  <a:srgbClr val="0E2A47"/>
                </a:solidFill>
                <a:latin typeface="Cambria" pitchFamily="34" charset="0"/>
                <a:ea typeface="Cambria" pitchFamily="34" charset="-122"/>
                <a:cs typeface="Cambria" pitchFamily="34" charset="-120"/>
              </a:rPr>
              <a:t>weight is the individual</a:t>
            </a:r>
            <a:endParaRPr lang="en-US" sz="2500" dirty="0"/>
          </a:p>
        </p:txBody>
      </p:sp>
      <p:sp>
        <p:nvSpPr>
          <p:cNvPr id="4" name="Shape 2"/>
          <p:cNvSpPr/>
          <p:nvPr/>
        </p:nvSpPr>
        <p:spPr>
          <a:xfrm>
            <a:off x="566928" y="1801368"/>
            <a:ext cx="329184" cy="329184"/>
          </a:xfrm>
          <a:prstGeom prst="ellipse">
            <a:avLst/>
          </a:prstGeom>
          <a:solidFill>
            <a:srgbClr val="2A78D6"/>
          </a:solidFill>
          <a:ln w="12700">
            <a:solidFill>
              <a:srgbClr val="2A78D6"/>
            </a:solidFill>
            <a:prstDash val="solid"/>
          </a:ln>
        </p:spPr>
      </p:sp>
      <p:sp>
        <p:nvSpPr>
          <p:cNvPr id="5" name="Text 3"/>
          <p:cNvSpPr txBox="1"/>
          <p:nvPr/>
        </p:nvSpPr>
        <p:spPr>
          <a:xfrm>
            <a:off x="566928" y="180136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txBox="1"/>
          <p:nvPr/>
        </p:nvSpPr>
        <p:spPr>
          <a:xfrm>
            <a:off x="1097280" y="1783080"/>
            <a:ext cx="10527487" cy="310896"/>
          </a:xfrm>
          <a:prstGeom prst="rect">
            <a:avLst/>
          </a:prstGeom>
          <a:noFill/>
          <a:ln/>
        </p:spPr>
        <p:txBody>
          <a:bodyPr wrap="square" lIns="0" tIns="0" rIns="0" bIns="0" rtlCol="0" anchor="ctr"/>
          <a:lstStyle/>
          <a:p>
            <a:pPr indent="0" marL="0">
              <a:buNone/>
            </a:pPr>
            <a:r>
              <a:rPr lang="en-US" sz="1550" b="1" dirty="0">
                <a:solidFill>
                  <a:srgbClr val="0E2A47"/>
                </a:solidFill>
                <a:latin typeface="Calibri" pitchFamily="34" charset="0"/>
                <a:ea typeface="Calibri" pitchFamily="34" charset="-122"/>
                <a:cs typeface="Calibri" pitchFamily="34" charset="-120"/>
              </a:rPr>
              <a:t>Session-wise 5-fold cross-validation</a:t>
            </a:r>
            <a:endParaRPr lang="en-US" sz="1550" dirty="0"/>
          </a:p>
        </p:txBody>
      </p:sp>
      <p:sp>
        <p:nvSpPr>
          <p:cNvPr id="7" name="Text 5"/>
          <p:cNvSpPr txBox="1"/>
          <p:nvPr/>
        </p:nvSpPr>
        <p:spPr>
          <a:xfrm>
            <a:off x="1097280" y="2112264"/>
            <a:ext cx="10417759" cy="786384"/>
          </a:xfrm>
          <a:prstGeom prst="rect">
            <a:avLst/>
          </a:prstGeom>
          <a:noFill/>
          <a:ln/>
        </p:spPr>
        <p:txBody>
          <a:bodyPr wrap="square" lIns="0" tIns="0" rIns="0" bIns="0" rtlCol="0" anchor="t"/>
          <a:lstStyle/>
          <a:p>
            <a:pPr indent="0" marL="0">
              <a:lnSpc>
                <a:spcPct val="108000"/>
              </a:lnSpc>
              <a:buNone/>
            </a:pPr>
            <a:r>
              <a:rPr lang="en-US" sz="1250" dirty="0">
                <a:solidFill>
                  <a:srgbClr val="24303C"/>
                </a:solidFill>
                <a:latin typeface="Calibri" pitchFamily="34" charset="0"/>
                <a:ea typeface="Calibri" pitchFamily="34" charset="-122"/>
                <a:cs typeface="Calibri" pitchFamily="34" charset="-120"/>
              </a:rPr>
              <a:t>Whole sessions are dealt to folds, largest bird and largest session first. Folds of 349 / 350 / 351 / 347 / 346 photographs. Every one of the 1,743 photographs is tested exactly once by a model that never saw its session — the evaluation script asserts it.</a:t>
            </a:r>
            <a:endParaRPr lang="en-US" sz="1250" dirty="0"/>
          </a:p>
        </p:txBody>
      </p:sp>
      <p:sp>
        <p:nvSpPr>
          <p:cNvPr id="8" name="Shape 6"/>
          <p:cNvSpPr/>
          <p:nvPr/>
        </p:nvSpPr>
        <p:spPr>
          <a:xfrm>
            <a:off x="566928" y="3172968"/>
            <a:ext cx="329184" cy="329184"/>
          </a:xfrm>
          <a:prstGeom prst="ellipse">
            <a:avLst/>
          </a:prstGeom>
          <a:solidFill>
            <a:srgbClr val="2A78D6"/>
          </a:solidFill>
          <a:ln w="12700">
            <a:solidFill>
              <a:srgbClr val="2A78D6"/>
            </a:solidFill>
            <a:prstDash val="solid"/>
          </a:ln>
        </p:spPr>
      </p:sp>
      <p:sp>
        <p:nvSpPr>
          <p:cNvPr id="9" name="Text 7"/>
          <p:cNvSpPr txBox="1"/>
          <p:nvPr/>
        </p:nvSpPr>
        <p:spPr>
          <a:xfrm>
            <a:off x="566928" y="317296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txBox="1"/>
          <p:nvPr/>
        </p:nvSpPr>
        <p:spPr>
          <a:xfrm>
            <a:off x="1097280" y="3154680"/>
            <a:ext cx="10527487" cy="310896"/>
          </a:xfrm>
          <a:prstGeom prst="rect">
            <a:avLst/>
          </a:prstGeom>
          <a:noFill/>
          <a:ln/>
        </p:spPr>
        <p:txBody>
          <a:bodyPr wrap="square" lIns="0" tIns="0" rIns="0" bIns="0" rtlCol="0" anchor="ctr"/>
          <a:lstStyle/>
          <a:p>
            <a:pPr indent="0" marL="0">
              <a:buNone/>
            </a:pPr>
            <a:r>
              <a:rPr lang="en-US" sz="1550" b="1" dirty="0">
                <a:solidFill>
                  <a:srgbClr val="0E2A47"/>
                </a:solidFill>
                <a:latin typeface="Calibri" pitchFamily="34" charset="0"/>
                <a:ea typeface="Calibri" pitchFamily="34" charset="-122"/>
                <a:cs typeface="Calibri" pitchFamily="34" charset="-120"/>
              </a:rPr>
              <a:t>Macro metrics</a:t>
            </a:r>
            <a:endParaRPr lang="en-US" sz="1550" dirty="0"/>
          </a:p>
        </p:txBody>
      </p:sp>
      <p:sp>
        <p:nvSpPr>
          <p:cNvPr id="11" name="Text 9"/>
          <p:cNvSpPr txBox="1"/>
          <p:nvPr/>
        </p:nvSpPr>
        <p:spPr>
          <a:xfrm>
            <a:off x="1097280" y="3483864"/>
            <a:ext cx="10417759" cy="786384"/>
          </a:xfrm>
          <a:prstGeom prst="rect">
            <a:avLst/>
          </a:prstGeom>
          <a:noFill/>
          <a:ln/>
        </p:spPr>
        <p:txBody>
          <a:bodyPr wrap="square" lIns="0" tIns="0" rIns="0" bIns="0" rtlCol="0" anchor="t"/>
          <a:lstStyle/>
          <a:p>
            <a:pPr indent="0" marL="0">
              <a:lnSpc>
                <a:spcPct val="108000"/>
              </a:lnSpc>
              <a:buNone/>
            </a:pPr>
            <a:r>
              <a:rPr lang="en-US" sz="1250" dirty="0">
                <a:solidFill>
                  <a:srgbClr val="24303C"/>
                </a:solidFill>
                <a:latin typeface="Calibri" pitchFamily="34" charset="0"/>
                <a:ea typeface="Calibri" pitchFamily="34" charset="-122"/>
                <a:cs typeface="Calibri" pitchFamily="34" charset="-120"/>
              </a:rPr>
              <a:t>Accuracy is computed per bird and then averaged with equal weight, so Cooper's 127 photographs cannot cover for a bird with 18.</a:t>
            </a:r>
            <a:endParaRPr lang="en-US" sz="1250" dirty="0"/>
          </a:p>
        </p:txBody>
      </p:sp>
      <p:sp>
        <p:nvSpPr>
          <p:cNvPr id="12" name="Shape 10"/>
          <p:cNvSpPr/>
          <p:nvPr/>
        </p:nvSpPr>
        <p:spPr>
          <a:xfrm>
            <a:off x="566928" y="4544568"/>
            <a:ext cx="329184" cy="329184"/>
          </a:xfrm>
          <a:prstGeom prst="ellipse">
            <a:avLst/>
          </a:prstGeom>
          <a:solidFill>
            <a:srgbClr val="2A78D6"/>
          </a:solidFill>
          <a:ln w="12700">
            <a:solidFill>
              <a:srgbClr val="2A78D6"/>
            </a:solidFill>
            <a:prstDash val="solid"/>
          </a:ln>
        </p:spPr>
      </p:sp>
      <p:sp>
        <p:nvSpPr>
          <p:cNvPr id="13" name="Text 11"/>
          <p:cNvSpPr txBox="1"/>
          <p:nvPr/>
        </p:nvSpPr>
        <p:spPr>
          <a:xfrm>
            <a:off x="566928" y="454456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Text 12"/>
          <p:cNvSpPr txBox="1"/>
          <p:nvPr/>
        </p:nvSpPr>
        <p:spPr>
          <a:xfrm>
            <a:off x="1097280" y="4526280"/>
            <a:ext cx="10527487" cy="310896"/>
          </a:xfrm>
          <a:prstGeom prst="rect">
            <a:avLst/>
          </a:prstGeom>
          <a:noFill/>
          <a:ln/>
        </p:spPr>
        <p:txBody>
          <a:bodyPr wrap="square" lIns="0" tIns="0" rIns="0" bIns="0" rtlCol="0" anchor="ctr"/>
          <a:lstStyle/>
          <a:p>
            <a:pPr indent="0" marL="0">
              <a:buNone/>
            </a:pPr>
            <a:r>
              <a:rPr lang="en-US" sz="1550" b="1" dirty="0">
                <a:solidFill>
                  <a:srgbClr val="0E2A47"/>
                </a:solidFill>
                <a:latin typeface="Calibri" pitchFamily="34" charset="0"/>
                <a:ea typeface="Calibri" pitchFamily="34" charset="-122"/>
                <a:cs typeface="Calibri" pitchFamily="34" charset="-120"/>
              </a:rPr>
              <a:t>Bootstrap that resamples sessions, not photographs</a:t>
            </a:r>
            <a:endParaRPr lang="en-US" sz="1550" dirty="0"/>
          </a:p>
        </p:txBody>
      </p:sp>
      <p:sp>
        <p:nvSpPr>
          <p:cNvPr id="15" name="Text 13"/>
          <p:cNvSpPr txBox="1"/>
          <p:nvPr/>
        </p:nvSpPr>
        <p:spPr>
          <a:xfrm>
            <a:off x="1097280" y="4855464"/>
            <a:ext cx="10417759" cy="786384"/>
          </a:xfrm>
          <a:prstGeom prst="rect">
            <a:avLst/>
          </a:prstGeom>
          <a:noFill/>
          <a:ln/>
        </p:spPr>
        <p:txBody>
          <a:bodyPr wrap="square" lIns="0" tIns="0" rIns="0" bIns="0" rtlCol="0" anchor="t"/>
          <a:lstStyle/>
          <a:p>
            <a:pPr indent="0" marL="0">
              <a:lnSpc>
                <a:spcPct val="108000"/>
              </a:lnSpc>
              <a:buNone/>
            </a:pPr>
            <a:r>
              <a:rPr lang="en-US" sz="1250" dirty="0">
                <a:solidFill>
                  <a:srgbClr val="24303C"/>
                </a:solidFill>
                <a:latin typeface="Calibri" pitchFamily="34" charset="0"/>
                <a:ea typeface="Calibri" pitchFamily="34" charset="-122"/>
                <a:cs typeface="Calibri" pitchFamily="34" charset="-120"/>
              </a:rPr>
              <a:t>2,000 replicates, capture sessions resampled within each bird, and the same resampled sessions applied to both arms of every comparison — so the reported effects are paired differences, not overlapping independent intervals.</a:t>
            </a:r>
            <a:endParaRPr lang="en-US" sz="1250" dirty="0"/>
          </a:p>
        </p:txBody>
      </p:sp>
      <p:sp>
        <p:nvSpPr>
          <p:cNvPr id="16" name="Text 14"/>
          <p:cNvSpPr txBox="1"/>
          <p:nvPr/>
        </p:nvSpPr>
        <p:spPr>
          <a:xfrm>
            <a:off x="566928" y="6437376"/>
            <a:ext cx="7772400" cy="256032"/>
          </a:xfrm>
          <a:prstGeom prst="rect">
            <a:avLst/>
          </a:prstGeom>
          <a:noFill/>
          <a:ln/>
        </p:spPr>
        <p:txBody>
          <a:bodyPr wrap="square" lIns="0" tIns="0" rIns="0" bIns="0" rtlCol="0" anchor="ctr"/>
          <a:lstStyle/>
          <a:p>
            <a:pPr indent="0" marL="0">
              <a:buNone/>
            </a:pPr>
            <a:r>
              <a:rPr lang="en-US" sz="1000" dirty="0">
                <a:solidFill>
                  <a:srgbClr val="A9AEB5"/>
                </a:solidFill>
                <a:latin typeface="Calibri" pitchFamily="34" charset="0"/>
                <a:ea typeface="Calibri" pitchFamily="34" charset="-122"/>
                <a:cs typeface="Calibri" pitchFamily="34" charset="-120"/>
              </a:rPr>
              <a:t>Automatic identification of Humboldt penguins · ZSL London Zoo</a:t>
            </a:r>
            <a:endParaRPr lang="en-US" sz="1000" dirty="0"/>
          </a:p>
        </p:txBody>
      </p:sp>
      <p:sp>
        <p:nvSpPr>
          <p:cNvPr id="17" name="Text 15"/>
          <p:cNvSpPr txBox="1"/>
          <p:nvPr/>
        </p:nvSpPr>
        <p:spPr>
          <a:xfrm>
            <a:off x="11076127" y="6437376"/>
            <a:ext cx="548640" cy="256032"/>
          </a:xfrm>
          <a:prstGeom prst="rect">
            <a:avLst/>
          </a:prstGeom>
          <a:noFill/>
          <a:ln/>
        </p:spPr>
        <p:txBody>
          <a:bodyPr wrap="square" lIns="0" tIns="0" rIns="0" bIns="0" rtlCol="0" anchor="ctr"/>
          <a:lstStyle/>
          <a:p>
            <a:pPr algn="r" indent="0" marL="0">
              <a:buNone/>
            </a:pPr>
            <a:r>
              <a:rPr lang="en-US" sz="1000" dirty="0">
                <a:solidFill>
                  <a:srgbClr val="A9AEB5"/>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CFCFB"/>
        </a:solidFill>
      </p:bgPr>
    </p:bg>
    <p:spTree>
      <p:nvGrpSpPr>
        <p:cNvPr id="1" name=""/>
        <p:cNvGrpSpPr/>
        <p:nvPr/>
      </p:nvGrpSpPr>
      <p:grpSpPr>
        <a:xfrm>
          <a:off x="0" y="0"/>
          <a:ext cx="0" cy="0"/>
          <a:chOff x="0" y="0"/>
          <a:chExt cx="0" cy="0"/>
        </a:xfrm>
      </p:grpSpPr>
      <p:sp>
        <p:nvSpPr>
          <p:cNvPr id="2" name="Text 0"/>
          <p:cNvSpPr txBox="1"/>
          <p:nvPr/>
        </p:nvSpPr>
        <p:spPr>
          <a:xfrm>
            <a:off x="566928" y="146304"/>
            <a:ext cx="11057839" cy="219456"/>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RESULT 2 — WHICH CHANGE DID THE WORK</a:t>
            </a:r>
            <a:endParaRPr lang="en-US" sz="1100" dirty="0"/>
          </a:p>
        </p:txBody>
      </p:sp>
      <p:sp>
        <p:nvSpPr>
          <p:cNvPr id="3" name="Text 1"/>
          <p:cNvSpPr txBox="1"/>
          <p:nvPr/>
        </p:nvSpPr>
        <p:spPr>
          <a:xfrm>
            <a:off x="566928" y="384048"/>
            <a:ext cx="11057839" cy="1097280"/>
          </a:xfrm>
          <a:prstGeom prst="rect">
            <a:avLst/>
          </a:prstGeom>
          <a:noFill/>
          <a:ln/>
        </p:spPr>
        <p:txBody>
          <a:bodyPr wrap="square" lIns="0" tIns="0" rIns="0" bIns="0" rtlCol="0" anchor="t"/>
          <a:lstStyle/>
          <a:p>
            <a:pPr algn="l" indent="0" marL="0">
              <a:lnSpc>
                <a:spcPct val="95000"/>
              </a:lnSpc>
              <a:buNone/>
            </a:pPr>
            <a:r>
              <a:rPr lang="en-US" sz="2500" b="1" dirty="0">
                <a:solidFill>
                  <a:srgbClr val="0E2A47"/>
                </a:solidFill>
                <a:latin typeface="Cambria" pitchFamily="34" charset="0"/>
                <a:ea typeface="Cambria" pitchFamily="34" charset="-122"/>
                <a:cs typeface="Cambria" pitchFamily="34" charset="-120"/>
              </a:rPr>
              <a:t>Augmentation is the larger lever; metric learning</a:t>
            </a:r>
            <a:endParaRPr lang="en-US" sz="2500" dirty="0"/>
          </a:p>
          <a:p>
            <a:pPr algn="l" indent="0" marL="0">
              <a:lnSpc>
                <a:spcPct val="95000"/>
              </a:lnSpc>
              <a:buNone/>
            </a:pPr>
            <a:r>
              <a:rPr lang="en-US" sz="2500" b="1" dirty="0">
                <a:solidFill>
                  <a:srgbClr val="0E2A47"/>
                </a:solidFill>
                <a:latin typeface="Cambria" pitchFamily="34" charset="0"/>
                <a:ea typeface="Cambria" pitchFamily="34" charset="-122"/>
                <a:cs typeface="Cambria" pitchFamily="34" charset="-120"/>
              </a:rPr>
              <a:t>earns its place only as the gallery grows</a:t>
            </a:r>
            <a:endParaRPr lang="en-US" sz="2500" dirty="0"/>
          </a:p>
        </p:txBody>
      </p:sp>
      <p:pic>
        <p:nvPicPr>
          <p:cNvPr id="4" name="Image 0" descr="/home/user/pgs/presentation/assets/12_loss_x_augmentation_notitle.png">    </p:cNvPr>
          <p:cNvPicPr>
            <a:picLocks noChangeAspect="1"/>
          </p:cNvPicPr>
          <p:nvPr/>
        </p:nvPicPr>
        <p:blipFill>
          <a:blip r:embed="rId1"/>
          <a:stretch>
            <a:fillRect/>
          </a:stretch>
        </p:blipFill>
        <p:spPr>
          <a:xfrm>
            <a:off x="639697" y="1783080"/>
            <a:ext cx="7666182" cy="3794760"/>
          </a:xfrm>
          <a:prstGeom prst="rect">
            <a:avLst/>
          </a:prstGeom>
        </p:spPr>
      </p:pic>
      <p:sp>
        <p:nvSpPr>
          <p:cNvPr id="5" name="Shape 2"/>
          <p:cNvSpPr/>
          <p:nvPr/>
        </p:nvSpPr>
        <p:spPr>
          <a:xfrm>
            <a:off x="8515807" y="1783080"/>
            <a:ext cx="3108960" cy="3794760"/>
          </a:xfrm>
          <a:prstGeom prst="roundRect">
            <a:avLst>
              <a:gd name="adj" fmla="val 1765"/>
            </a:avLst>
          </a:prstGeom>
          <a:solidFill>
            <a:srgbClr val="F1F0EC"/>
          </a:solidFill>
          <a:ln w="12700">
            <a:solidFill>
              <a:srgbClr val="F1F0EC"/>
            </a:solidFill>
            <a:prstDash val="solid"/>
          </a:ln>
        </p:spPr>
      </p:sp>
      <p:sp>
        <p:nvSpPr>
          <p:cNvPr id="6" name="Text 3"/>
          <p:cNvSpPr txBox="1"/>
          <p:nvPr/>
        </p:nvSpPr>
        <p:spPr>
          <a:xfrm>
            <a:off x="8744407" y="1938528"/>
            <a:ext cx="2651760" cy="274320"/>
          </a:xfrm>
          <a:prstGeom prst="rect">
            <a:avLst/>
          </a:prstGeom>
          <a:noFill/>
          <a:ln/>
        </p:spPr>
        <p:txBody>
          <a:bodyPr wrap="square" lIns="0" tIns="0" rIns="0" bIns="0" rtlCol="0" anchor="ctr"/>
          <a:lstStyle/>
          <a:p>
            <a:pPr indent="0" marL="0">
              <a:buNone/>
            </a:pPr>
            <a:r>
              <a:rPr lang="en-US" sz="1250" b="1" dirty="0">
                <a:solidFill>
                  <a:srgbClr val="0E2A47"/>
                </a:solidFill>
                <a:latin typeface="Calibri" pitchFamily="34" charset="0"/>
                <a:ea typeface="Calibri" pitchFamily="34" charset="-122"/>
                <a:cs typeface="Calibri" pitchFamily="34" charset="-120"/>
              </a:rPr>
              <a:t>Paired simple effects, rank-1</a:t>
            </a:r>
            <a:endParaRPr lang="en-US" sz="1250" dirty="0"/>
          </a:p>
        </p:txBody>
      </p:sp>
      <p:sp>
        <p:nvSpPr>
          <p:cNvPr id="7" name="Text 4"/>
          <p:cNvSpPr txBox="1"/>
          <p:nvPr/>
        </p:nvSpPr>
        <p:spPr>
          <a:xfrm>
            <a:off x="8744407" y="2331720"/>
            <a:ext cx="1691640" cy="512064"/>
          </a:xfrm>
          <a:prstGeom prst="rect">
            <a:avLst/>
          </a:prstGeom>
          <a:noFill/>
          <a:ln/>
        </p:spPr>
        <p:txBody>
          <a:bodyPr wrap="square" lIns="0" tIns="0" rIns="0" bIns="0" rtlCol="0" anchor="ctr"/>
          <a:lstStyle/>
          <a:p>
            <a:pPr indent="0" marL="0">
              <a:lnSpc>
                <a:spcPct val="95000"/>
              </a:lnSpc>
              <a:buNone/>
            </a:pPr>
            <a:r>
              <a:rPr lang="en-US" sz="1050" dirty="0">
                <a:solidFill>
                  <a:srgbClr val="24303C"/>
                </a:solidFill>
                <a:latin typeface="Calibri" pitchFamily="34" charset="0"/>
                <a:ea typeface="Calibri" pitchFamily="34" charset="-122"/>
                <a:cs typeface="Calibri" pitchFamily="34" charset="-120"/>
              </a:rPr>
              <a:t>Strong augmentation</a:t>
            </a:r>
            <a:endParaRPr lang="en-US" sz="1050" dirty="0"/>
          </a:p>
          <a:p>
            <a:pPr indent="0" marL="0">
              <a:lnSpc>
                <a:spcPct val="95000"/>
              </a:lnSpc>
              <a:buNone/>
            </a:pPr>
            <a:r>
              <a:rPr lang="en-US" sz="1050" dirty="0">
                <a:solidFill>
                  <a:srgbClr val="24303C"/>
                </a:solidFill>
                <a:latin typeface="Calibri" pitchFamily="34" charset="0"/>
                <a:ea typeface="Calibri" pitchFamily="34" charset="-122"/>
                <a:cs typeface="Calibri" pitchFamily="34" charset="-120"/>
              </a:rPr>
              <a:t>under softmax</a:t>
            </a:r>
            <a:endParaRPr lang="en-US" sz="1050" dirty="0"/>
          </a:p>
        </p:txBody>
      </p:sp>
      <p:sp>
        <p:nvSpPr>
          <p:cNvPr id="8" name="Text 5"/>
          <p:cNvSpPr txBox="1"/>
          <p:nvPr/>
        </p:nvSpPr>
        <p:spPr>
          <a:xfrm>
            <a:off x="10454335" y="2331720"/>
            <a:ext cx="960120" cy="292608"/>
          </a:xfrm>
          <a:prstGeom prst="rect">
            <a:avLst/>
          </a:prstGeom>
          <a:noFill/>
          <a:ln/>
        </p:spPr>
        <p:txBody>
          <a:bodyPr wrap="square" lIns="0" tIns="0" rIns="0" bIns="0" rtlCol="0" anchor="ctr"/>
          <a:lstStyle/>
          <a:p>
            <a:pPr algn="r" indent="0" marL="0">
              <a:buNone/>
            </a:pPr>
            <a:r>
              <a:rPr lang="en-US" sz="1600" b="1" dirty="0">
                <a:solidFill>
                  <a:srgbClr val="EB6834"/>
                </a:solidFill>
                <a:latin typeface="Cambria" pitchFamily="34" charset="0"/>
                <a:ea typeface="Cambria" pitchFamily="34" charset="-122"/>
                <a:cs typeface="Cambria" pitchFamily="34" charset="-120"/>
              </a:rPr>
              <a:t>+0.141</a:t>
            </a:r>
            <a:endParaRPr lang="en-US" sz="1600" dirty="0"/>
          </a:p>
        </p:txBody>
      </p:sp>
      <p:sp>
        <p:nvSpPr>
          <p:cNvPr id="9" name="Text 6"/>
          <p:cNvSpPr txBox="1"/>
          <p:nvPr/>
        </p:nvSpPr>
        <p:spPr>
          <a:xfrm>
            <a:off x="9841687" y="2615184"/>
            <a:ext cx="1572768" cy="219456"/>
          </a:xfrm>
          <a:prstGeom prst="rect">
            <a:avLst/>
          </a:prstGeom>
          <a:noFill/>
          <a:ln/>
        </p:spPr>
        <p:txBody>
          <a:bodyPr wrap="square" lIns="0" tIns="0" rIns="0" bIns="0" rtlCol="0" anchor="ctr"/>
          <a:lstStyle/>
          <a:p>
            <a:pPr algn="r" indent="0" marL="0">
              <a:buNone/>
            </a:pPr>
            <a:r>
              <a:rPr lang="en-US" sz="900" dirty="0">
                <a:solidFill>
                  <a:srgbClr val="6E7681"/>
                </a:solidFill>
                <a:latin typeface="Calibri" pitchFamily="34" charset="0"/>
                <a:ea typeface="Calibri" pitchFamily="34" charset="-122"/>
                <a:cs typeface="Calibri" pitchFamily="34" charset="-120"/>
              </a:rPr>
              <a:t>[0.105, 0.179]</a:t>
            </a:r>
            <a:endParaRPr lang="en-US" sz="900" dirty="0"/>
          </a:p>
        </p:txBody>
      </p:sp>
      <p:sp>
        <p:nvSpPr>
          <p:cNvPr id="10" name="Text 7"/>
          <p:cNvSpPr txBox="1"/>
          <p:nvPr/>
        </p:nvSpPr>
        <p:spPr>
          <a:xfrm>
            <a:off x="8744407" y="3081528"/>
            <a:ext cx="1691640" cy="512064"/>
          </a:xfrm>
          <a:prstGeom prst="rect">
            <a:avLst/>
          </a:prstGeom>
          <a:noFill/>
          <a:ln/>
        </p:spPr>
        <p:txBody>
          <a:bodyPr wrap="square" lIns="0" tIns="0" rIns="0" bIns="0" rtlCol="0" anchor="ctr"/>
          <a:lstStyle/>
          <a:p>
            <a:pPr indent="0" marL="0">
              <a:lnSpc>
                <a:spcPct val="95000"/>
              </a:lnSpc>
              <a:buNone/>
            </a:pPr>
            <a:r>
              <a:rPr lang="en-US" sz="1050" dirty="0">
                <a:solidFill>
                  <a:srgbClr val="24303C"/>
                </a:solidFill>
                <a:latin typeface="Calibri" pitchFamily="34" charset="0"/>
                <a:ea typeface="Calibri" pitchFamily="34" charset="-122"/>
                <a:cs typeface="Calibri" pitchFamily="34" charset="-120"/>
              </a:rPr>
              <a:t>ArcFace</a:t>
            </a:r>
            <a:endParaRPr lang="en-US" sz="1050" dirty="0"/>
          </a:p>
          <a:p>
            <a:pPr indent="0" marL="0">
              <a:lnSpc>
                <a:spcPct val="95000"/>
              </a:lnSpc>
              <a:buNone/>
            </a:pPr>
            <a:r>
              <a:rPr lang="en-US" sz="1050" dirty="0">
                <a:solidFill>
                  <a:srgbClr val="24303C"/>
                </a:solidFill>
                <a:latin typeface="Calibri" pitchFamily="34" charset="0"/>
                <a:ea typeface="Calibri" pitchFamily="34" charset="-122"/>
                <a:cs typeface="Calibri" pitchFamily="34" charset="-120"/>
              </a:rPr>
              <a:t>under basic aug.</a:t>
            </a:r>
            <a:endParaRPr lang="en-US" sz="1050" dirty="0"/>
          </a:p>
        </p:txBody>
      </p:sp>
      <p:sp>
        <p:nvSpPr>
          <p:cNvPr id="11" name="Text 8"/>
          <p:cNvSpPr txBox="1"/>
          <p:nvPr/>
        </p:nvSpPr>
        <p:spPr>
          <a:xfrm>
            <a:off x="10454335" y="3081528"/>
            <a:ext cx="960120" cy="292608"/>
          </a:xfrm>
          <a:prstGeom prst="rect">
            <a:avLst/>
          </a:prstGeom>
          <a:noFill/>
          <a:ln/>
        </p:spPr>
        <p:txBody>
          <a:bodyPr wrap="square" lIns="0" tIns="0" rIns="0" bIns="0" rtlCol="0" anchor="ctr"/>
          <a:lstStyle/>
          <a:p>
            <a:pPr algn="r" indent="0" marL="0">
              <a:buNone/>
            </a:pPr>
            <a:r>
              <a:rPr lang="en-US" sz="1600" b="1" dirty="0">
                <a:solidFill>
                  <a:srgbClr val="2A78D6"/>
                </a:solidFill>
                <a:latin typeface="Cambria" pitchFamily="34" charset="0"/>
                <a:ea typeface="Cambria" pitchFamily="34" charset="-122"/>
                <a:cs typeface="Cambria" pitchFamily="34" charset="-120"/>
              </a:rPr>
              <a:t>+0.096</a:t>
            </a:r>
            <a:endParaRPr lang="en-US" sz="1600" dirty="0"/>
          </a:p>
        </p:txBody>
      </p:sp>
      <p:sp>
        <p:nvSpPr>
          <p:cNvPr id="12" name="Text 9"/>
          <p:cNvSpPr txBox="1"/>
          <p:nvPr/>
        </p:nvSpPr>
        <p:spPr>
          <a:xfrm>
            <a:off x="9841687" y="3364992"/>
            <a:ext cx="1572768" cy="219456"/>
          </a:xfrm>
          <a:prstGeom prst="rect">
            <a:avLst/>
          </a:prstGeom>
          <a:noFill/>
          <a:ln/>
        </p:spPr>
        <p:txBody>
          <a:bodyPr wrap="square" lIns="0" tIns="0" rIns="0" bIns="0" rtlCol="0" anchor="ctr"/>
          <a:lstStyle/>
          <a:p>
            <a:pPr algn="r" indent="0" marL="0">
              <a:buNone/>
            </a:pPr>
            <a:r>
              <a:rPr lang="en-US" sz="900" dirty="0">
                <a:solidFill>
                  <a:srgbClr val="6E7681"/>
                </a:solidFill>
                <a:latin typeface="Calibri" pitchFamily="34" charset="0"/>
                <a:ea typeface="Calibri" pitchFamily="34" charset="-122"/>
                <a:cs typeface="Calibri" pitchFamily="34" charset="-120"/>
              </a:rPr>
              <a:t>[0.061, 0.139]</a:t>
            </a:r>
            <a:endParaRPr lang="en-US" sz="900" dirty="0"/>
          </a:p>
        </p:txBody>
      </p:sp>
      <p:sp>
        <p:nvSpPr>
          <p:cNvPr id="13" name="Text 10"/>
          <p:cNvSpPr txBox="1"/>
          <p:nvPr/>
        </p:nvSpPr>
        <p:spPr>
          <a:xfrm>
            <a:off x="8744407" y="3831336"/>
            <a:ext cx="1691640" cy="512064"/>
          </a:xfrm>
          <a:prstGeom prst="rect">
            <a:avLst/>
          </a:prstGeom>
          <a:noFill/>
          <a:ln/>
        </p:spPr>
        <p:txBody>
          <a:bodyPr wrap="square" lIns="0" tIns="0" rIns="0" bIns="0" rtlCol="0" anchor="ctr"/>
          <a:lstStyle/>
          <a:p>
            <a:pPr indent="0" marL="0">
              <a:lnSpc>
                <a:spcPct val="95000"/>
              </a:lnSpc>
              <a:buNone/>
            </a:pPr>
            <a:r>
              <a:rPr lang="en-US" sz="1050" dirty="0">
                <a:solidFill>
                  <a:srgbClr val="24303C"/>
                </a:solidFill>
                <a:latin typeface="Calibri" pitchFamily="34" charset="0"/>
                <a:ea typeface="Calibri" pitchFamily="34" charset="-122"/>
                <a:cs typeface="Calibri" pitchFamily="34" charset="-120"/>
              </a:rPr>
              <a:t>ArcFace given strong,</a:t>
            </a:r>
            <a:endParaRPr lang="en-US" sz="1050" dirty="0"/>
          </a:p>
          <a:p>
            <a:pPr indent="0" marL="0">
              <a:lnSpc>
                <a:spcPct val="95000"/>
              </a:lnSpc>
              <a:buNone/>
            </a:pPr>
            <a:r>
              <a:rPr lang="en-US" sz="1050" dirty="0">
                <a:solidFill>
                  <a:srgbClr val="24303C"/>
                </a:solidFill>
                <a:latin typeface="Calibri" pitchFamily="34" charset="0"/>
                <a:ea typeface="Calibri" pitchFamily="34" charset="-122"/>
                <a:cs typeface="Calibri" pitchFamily="34" charset="-120"/>
              </a:rPr>
              <a:t>35 candidates</a:t>
            </a:r>
            <a:endParaRPr lang="en-US" sz="1050" dirty="0"/>
          </a:p>
        </p:txBody>
      </p:sp>
      <p:sp>
        <p:nvSpPr>
          <p:cNvPr id="14" name="Text 11"/>
          <p:cNvSpPr txBox="1"/>
          <p:nvPr/>
        </p:nvSpPr>
        <p:spPr>
          <a:xfrm>
            <a:off x="10454335" y="3831336"/>
            <a:ext cx="960120" cy="292608"/>
          </a:xfrm>
          <a:prstGeom prst="rect">
            <a:avLst/>
          </a:prstGeom>
          <a:noFill/>
          <a:ln/>
        </p:spPr>
        <p:txBody>
          <a:bodyPr wrap="square" lIns="0" tIns="0" rIns="0" bIns="0" rtlCol="0" anchor="ctr"/>
          <a:lstStyle/>
          <a:p>
            <a:pPr algn="r" indent="0" marL="0">
              <a:buNone/>
            </a:pPr>
            <a:r>
              <a:rPr lang="en-US" sz="1600" b="1" dirty="0">
                <a:solidFill>
                  <a:srgbClr val="6E7681"/>
                </a:solidFill>
                <a:latin typeface="Cambria" pitchFamily="34" charset="0"/>
                <a:ea typeface="Cambria" pitchFamily="34" charset="-122"/>
                <a:cs typeface="Cambria" pitchFamily="34" charset="-120"/>
              </a:rPr>
              <a:t>+0.029</a:t>
            </a:r>
            <a:endParaRPr lang="en-US" sz="1600" dirty="0"/>
          </a:p>
        </p:txBody>
      </p:sp>
      <p:sp>
        <p:nvSpPr>
          <p:cNvPr id="15" name="Text 12"/>
          <p:cNvSpPr txBox="1"/>
          <p:nvPr/>
        </p:nvSpPr>
        <p:spPr>
          <a:xfrm>
            <a:off x="9841687" y="4114800"/>
            <a:ext cx="1572768" cy="219456"/>
          </a:xfrm>
          <a:prstGeom prst="rect">
            <a:avLst/>
          </a:prstGeom>
          <a:noFill/>
          <a:ln/>
        </p:spPr>
        <p:txBody>
          <a:bodyPr wrap="square" lIns="0" tIns="0" rIns="0" bIns="0" rtlCol="0" anchor="ctr"/>
          <a:lstStyle/>
          <a:p>
            <a:pPr algn="r" indent="0" marL="0">
              <a:buNone/>
            </a:pPr>
            <a:r>
              <a:rPr lang="en-US" sz="900" dirty="0">
                <a:solidFill>
                  <a:srgbClr val="6E7681"/>
                </a:solidFill>
                <a:latin typeface="Calibri" pitchFamily="34" charset="0"/>
                <a:ea typeface="Calibri" pitchFamily="34" charset="-122"/>
                <a:cs typeface="Calibri" pitchFamily="34" charset="-120"/>
              </a:rPr>
              <a:t>[−0.005, 0.060]  n.s.</a:t>
            </a:r>
            <a:endParaRPr lang="en-US" sz="900" dirty="0"/>
          </a:p>
        </p:txBody>
      </p:sp>
      <p:sp>
        <p:nvSpPr>
          <p:cNvPr id="16" name="Text 13"/>
          <p:cNvSpPr txBox="1"/>
          <p:nvPr/>
        </p:nvSpPr>
        <p:spPr>
          <a:xfrm>
            <a:off x="8744407" y="4581144"/>
            <a:ext cx="1691640" cy="512064"/>
          </a:xfrm>
          <a:prstGeom prst="rect">
            <a:avLst/>
          </a:prstGeom>
          <a:noFill/>
          <a:ln/>
        </p:spPr>
        <p:txBody>
          <a:bodyPr wrap="square" lIns="0" tIns="0" rIns="0" bIns="0" rtlCol="0" anchor="ctr"/>
          <a:lstStyle/>
          <a:p>
            <a:pPr indent="0" marL="0">
              <a:lnSpc>
                <a:spcPct val="95000"/>
              </a:lnSpc>
              <a:buNone/>
            </a:pPr>
            <a:r>
              <a:rPr lang="en-US" sz="1050" dirty="0">
                <a:solidFill>
                  <a:srgbClr val="24303C"/>
                </a:solidFill>
                <a:latin typeface="Calibri" pitchFamily="34" charset="0"/>
                <a:ea typeface="Calibri" pitchFamily="34" charset="-122"/>
                <a:cs typeface="Calibri" pitchFamily="34" charset="-120"/>
              </a:rPr>
              <a:t>ArcFace given strong,</a:t>
            </a:r>
            <a:endParaRPr lang="en-US" sz="1050" dirty="0"/>
          </a:p>
          <a:p>
            <a:pPr indent="0" marL="0">
              <a:lnSpc>
                <a:spcPct val="95000"/>
              </a:lnSpc>
              <a:buNone/>
            </a:pPr>
            <a:r>
              <a:rPr lang="en-US" sz="1050" dirty="0">
                <a:solidFill>
                  <a:srgbClr val="24303C"/>
                </a:solidFill>
                <a:latin typeface="Calibri" pitchFamily="34" charset="0"/>
                <a:ea typeface="Calibri" pitchFamily="34" charset="-122"/>
                <a:cs typeface="Calibri" pitchFamily="34" charset="-120"/>
              </a:rPr>
              <a:t>81 candidates</a:t>
            </a:r>
            <a:endParaRPr lang="en-US" sz="1050" dirty="0"/>
          </a:p>
        </p:txBody>
      </p:sp>
      <p:sp>
        <p:nvSpPr>
          <p:cNvPr id="17" name="Text 14"/>
          <p:cNvSpPr txBox="1"/>
          <p:nvPr/>
        </p:nvSpPr>
        <p:spPr>
          <a:xfrm>
            <a:off x="10454335" y="4581144"/>
            <a:ext cx="960120" cy="292608"/>
          </a:xfrm>
          <a:prstGeom prst="rect">
            <a:avLst/>
          </a:prstGeom>
          <a:noFill/>
          <a:ln/>
        </p:spPr>
        <p:txBody>
          <a:bodyPr wrap="square" lIns="0" tIns="0" rIns="0" bIns="0" rtlCol="0" anchor="ctr"/>
          <a:lstStyle/>
          <a:p>
            <a:pPr algn="r" indent="0" marL="0">
              <a:buNone/>
            </a:pPr>
            <a:r>
              <a:rPr lang="en-US" sz="1600" b="1" dirty="0">
                <a:solidFill>
                  <a:srgbClr val="2A78D6"/>
                </a:solidFill>
                <a:latin typeface="Cambria" pitchFamily="34" charset="0"/>
                <a:ea typeface="Cambria" pitchFamily="34" charset="-122"/>
                <a:cs typeface="Cambria" pitchFamily="34" charset="-120"/>
              </a:rPr>
              <a:t>+0.116</a:t>
            </a:r>
            <a:endParaRPr lang="en-US" sz="1600" dirty="0"/>
          </a:p>
        </p:txBody>
      </p:sp>
      <p:sp>
        <p:nvSpPr>
          <p:cNvPr id="18" name="Text 15"/>
          <p:cNvSpPr txBox="1"/>
          <p:nvPr/>
        </p:nvSpPr>
        <p:spPr>
          <a:xfrm>
            <a:off x="9841687" y="4864608"/>
            <a:ext cx="1572768" cy="219456"/>
          </a:xfrm>
          <a:prstGeom prst="rect">
            <a:avLst/>
          </a:prstGeom>
          <a:noFill/>
          <a:ln/>
        </p:spPr>
        <p:txBody>
          <a:bodyPr wrap="square" lIns="0" tIns="0" rIns="0" bIns="0" rtlCol="0" anchor="ctr"/>
          <a:lstStyle/>
          <a:p>
            <a:pPr algn="r" indent="0" marL="0">
              <a:buNone/>
            </a:pPr>
            <a:r>
              <a:rPr lang="en-US" sz="900" dirty="0">
                <a:solidFill>
                  <a:srgbClr val="6E7681"/>
                </a:solidFill>
                <a:latin typeface="Calibri" pitchFamily="34" charset="0"/>
                <a:ea typeface="Calibri" pitchFamily="34" charset="-122"/>
                <a:cs typeface="Calibri" pitchFamily="34" charset="-120"/>
              </a:rPr>
              <a:t>[0.082, 0.148]</a:t>
            </a:r>
            <a:endParaRPr lang="en-US" sz="900" dirty="0"/>
          </a:p>
        </p:txBody>
      </p:sp>
      <p:sp>
        <p:nvSpPr>
          <p:cNvPr id="19" name="Text 16"/>
          <p:cNvSpPr txBox="1"/>
          <p:nvPr/>
        </p:nvSpPr>
        <p:spPr>
          <a:xfrm>
            <a:off x="8744407" y="5257800"/>
            <a:ext cx="2651760" cy="365760"/>
          </a:xfrm>
          <a:prstGeom prst="rect">
            <a:avLst/>
          </a:prstGeom>
          <a:noFill/>
          <a:ln/>
        </p:spPr>
        <p:txBody>
          <a:bodyPr wrap="square" lIns="0" tIns="0" rIns="0" bIns="0" rtlCol="0" anchor="ctr"/>
          <a:lstStyle/>
          <a:p>
            <a:pPr indent="0" marL="0">
              <a:lnSpc>
                <a:spcPct val="95000"/>
              </a:lnSpc>
              <a:buNone/>
            </a:pPr>
            <a:r>
              <a:rPr lang="en-US" sz="1000" dirty="0">
                <a:solidFill>
                  <a:srgbClr val="6E7681"/>
                </a:solidFill>
                <a:latin typeface="Calibri" pitchFamily="34" charset="0"/>
                <a:ea typeface="Calibri" pitchFamily="34" charset="-122"/>
                <a:cs typeface="Calibri" pitchFamily="34" charset="-120"/>
              </a:rPr>
              <a:t>Highest of four configurations: ArcFace + strong, 0.559 [0.517, 0.610].</a:t>
            </a:r>
            <a:endParaRPr lang="en-US" sz="1000" dirty="0"/>
          </a:p>
        </p:txBody>
      </p:sp>
      <p:sp>
        <p:nvSpPr>
          <p:cNvPr id="20" name="Text 17"/>
          <p:cNvSpPr txBox="1"/>
          <p:nvPr/>
        </p:nvSpPr>
        <p:spPr>
          <a:xfrm>
            <a:off x="566928" y="6437376"/>
            <a:ext cx="7772400" cy="256032"/>
          </a:xfrm>
          <a:prstGeom prst="rect">
            <a:avLst/>
          </a:prstGeom>
          <a:noFill/>
          <a:ln/>
        </p:spPr>
        <p:txBody>
          <a:bodyPr wrap="square" lIns="0" tIns="0" rIns="0" bIns="0" rtlCol="0" anchor="ctr"/>
          <a:lstStyle/>
          <a:p>
            <a:pPr indent="0" marL="0">
              <a:buNone/>
            </a:pPr>
            <a:r>
              <a:rPr lang="en-US" sz="1000" dirty="0">
                <a:solidFill>
                  <a:srgbClr val="A9AEB5"/>
                </a:solidFill>
                <a:latin typeface="Calibri" pitchFamily="34" charset="0"/>
                <a:ea typeface="Calibri" pitchFamily="34" charset="-122"/>
                <a:cs typeface="Calibri" pitchFamily="34" charset="-120"/>
              </a:rPr>
              <a:t>Automatic identification of Humboldt penguins · ZSL London Zoo</a:t>
            </a:r>
            <a:endParaRPr lang="en-US" sz="1000" dirty="0"/>
          </a:p>
        </p:txBody>
      </p:sp>
      <p:sp>
        <p:nvSpPr>
          <p:cNvPr id="21" name="Text 18"/>
          <p:cNvSpPr txBox="1"/>
          <p:nvPr/>
        </p:nvSpPr>
        <p:spPr>
          <a:xfrm>
            <a:off x="11076127" y="6437376"/>
            <a:ext cx="548640" cy="256032"/>
          </a:xfrm>
          <a:prstGeom prst="rect">
            <a:avLst/>
          </a:prstGeom>
          <a:noFill/>
          <a:ln/>
        </p:spPr>
        <p:txBody>
          <a:bodyPr wrap="square" lIns="0" tIns="0" rIns="0" bIns="0" rtlCol="0" anchor="ctr"/>
          <a:lstStyle/>
          <a:p>
            <a:pPr algn="r" indent="0" marL="0">
              <a:buNone/>
            </a:pPr>
            <a:r>
              <a:rPr lang="en-US" sz="1000" dirty="0">
                <a:solidFill>
                  <a:srgbClr val="A9AEB5"/>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CFCFB"/>
        </a:solidFill>
      </p:bgPr>
    </p:bg>
    <p:spTree>
      <p:nvGrpSpPr>
        <p:cNvPr id="1" name=""/>
        <p:cNvGrpSpPr/>
        <p:nvPr/>
      </p:nvGrpSpPr>
      <p:grpSpPr>
        <a:xfrm>
          <a:off x="0" y="0"/>
          <a:ext cx="0" cy="0"/>
          <a:chOff x="0" y="0"/>
          <a:chExt cx="0" cy="0"/>
        </a:xfrm>
      </p:grpSpPr>
      <p:sp>
        <p:nvSpPr>
          <p:cNvPr id="2" name="Text 0"/>
          <p:cNvSpPr txBox="1"/>
          <p:nvPr/>
        </p:nvSpPr>
        <p:spPr>
          <a:xfrm>
            <a:off x="566928" y="146304"/>
            <a:ext cx="11057839" cy="219456"/>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RESULT 3 — THE CENTRAL FINDING</a:t>
            </a:r>
            <a:endParaRPr lang="en-US" sz="1100" dirty="0"/>
          </a:p>
        </p:txBody>
      </p:sp>
      <p:sp>
        <p:nvSpPr>
          <p:cNvPr id="3" name="Text 1"/>
          <p:cNvSpPr txBox="1"/>
          <p:nvPr/>
        </p:nvSpPr>
        <p:spPr>
          <a:xfrm>
            <a:off x="566928" y="384048"/>
            <a:ext cx="11057839" cy="1097280"/>
          </a:xfrm>
          <a:prstGeom prst="rect">
            <a:avLst/>
          </a:prstGeom>
          <a:noFill/>
          <a:ln/>
        </p:spPr>
        <p:txBody>
          <a:bodyPr wrap="square" lIns="0" tIns="0" rIns="0" bIns="0" rtlCol="0" anchor="t"/>
          <a:lstStyle/>
          <a:p>
            <a:pPr algn="l" indent="0" marL="0">
              <a:lnSpc>
                <a:spcPct val="95000"/>
              </a:lnSpc>
              <a:buNone/>
            </a:pPr>
            <a:r>
              <a:rPr lang="en-US" sz="2500" b="1" dirty="0">
                <a:solidFill>
                  <a:srgbClr val="0E2A47"/>
                </a:solidFill>
                <a:latin typeface="Cambria" pitchFamily="34" charset="0"/>
                <a:ea typeface="Cambria" pitchFamily="34" charset="-122"/>
                <a:cs typeface="Cambria" pitchFamily="34" charset="-120"/>
              </a:rPr>
              <a:t>Identifiability tracks how many separate occasions a bird</a:t>
            </a:r>
            <a:endParaRPr lang="en-US" sz="2500" dirty="0"/>
          </a:p>
          <a:p>
            <a:pPr algn="l" indent="0" marL="0">
              <a:lnSpc>
                <a:spcPct val="95000"/>
              </a:lnSpc>
              <a:buNone/>
            </a:pPr>
            <a:r>
              <a:rPr lang="en-US" sz="2500" b="1" dirty="0">
                <a:solidFill>
                  <a:srgbClr val="0E2A47"/>
                </a:solidFill>
                <a:latin typeface="Cambria" pitchFamily="34" charset="0"/>
                <a:ea typeface="Cambria" pitchFamily="34" charset="-122"/>
                <a:cs typeface="Cambria" pitchFamily="34" charset="-120"/>
              </a:rPr>
              <a:t>was photographed on, not how many photographs exist</a:t>
            </a:r>
            <a:endParaRPr lang="en-US" sz="2500" dirty="0"/>
          </a:p>
        </p:txBody>
      </p:sp>
      <p:pic>
        <p:nvPicPr>
          <p:cNvPr id="4" name="Image 0" descr="/home/user/pgs/presentation/assets/08_accuracy_vs_sessions_notitle.png">    </p:cNvPr>
          <p:cNvPicPr>
            <a:picLocks noChangeAspect="1"/>
          </p:cNvPicPr>
          <p:nvPr/>
        </p:nvPicPr>
        <p:blipFill>
          <a:blip r:embed="rId1"/>
          <a:stretch>
            <a:fillRect/>
          </a:stretch>
        </p:blipFill>
        <p:spPr>
          <a:xfrm>
            <a:off x="566928" y="1781480"/>
            <a:ext cx="7040880" cy="3843680"/>
          </a:xfrm>
          <a:prstGeom prst="rect">
            <a:avLst/>
          </a:prstGeom>
        </p:spPr>
      </p:pic>
      <p:sp>
        <p:nvSpPr>
          <p:cNvPr id="5" name="Text 2"/>
          <p:cNvSpPr txBox="1"/>
          <p:nvPr/>
        </p:nvSpPr>
        <p:spPr>
          <a:xfrm>
            <a:off x="7726680" y="1874520"/>
            <a:ext cx="2377440" cy="420624"/>
          </a:xfrm>
          <a:prstGeom prst="rect">
            <a:avLst/>
          </a:prstGeom>
          <a:noFill/>
          <a:ln/>
        </p:spPr>
        <p:txBody>
          <a:bodyPr wrap="square" lIns="0" tIns="0" rIns="0" bIns="0" rtlCol="0" anchor="ctr"/>
          <a:lstStyle/>
          <a:p>
            <a:pPr indent="0" marL="0">
              <a:buNone/>
            </a:pPr>
            <a:r>
              <a:rPr lang="en-US" sz="2100" b="1" dirty="0">
                <a:solidFill>
                  <a:srgbClr val="0E2A47"/>
                </a:solidFill>
                <a:latin typeface="Cambria" pitchFamily="34" charset="0"/>
                <a:ea typeface="Cambria" pitchFamily="34" charset="-122"/>
                <a:cs typeface="Cambria" pitchFamily="34" charset="-120"/>
              </a:rPr>
              <a:t>Nicki</a:t>
            </a:r>
            <a:endParaRPr lang="en-US" sz="2100" dirty="0"/>
          </a:p>
        </p:txBody>
      </p:sp>
      <p:sp>
        <p:nvSpPr>
          <p:cNvPr id="6" name="Text 3"/>
          <p:cNvSpPr txBox="1"/>
          <p:nvPr/>
        </p:nvSpPr>
        <p:spPr>
          <a:xfrm>
            <a:off x="10104120" y="1837944"/>
            <a:ext cx="1554480" cy="493776"/>
          </a:xfrm>
          <a:prstGeom prst="rect">
            <a:avLst/>
          </a:prstGeom>
          <a:noFill/>
          <a:ln/>
        </p:spPr>
        <p:txBody>
          <a:bodyPr wrap="square" lIns="0" tIns="0" rIns="0" bIns="0" rtlCol="0" anchor="ctr"/>
          <a:lstStyle/>
          <a:p>
            <a:pPr algn="r" indent="0" marL="0">
              <a:buNone/>
            </a:pPr>
            <a:r>
              <a:rPr lang="en-US" sz="3200" b="1" dirty="0">
                <a:solidFill>
                  <a:srgbClr val="EB6834"/>
                </a:solidFill>
                <a:latin typeface="Cambria" pitchFamily="34" charset="0"/>
                <a:ea typeface="Cambria" pitchFamily="34" charset="-122"/>
                <a:cs typeface="Cambria" pitchFamily="34" charset="-120"/>
              </a:rPr>
              <a:t>0.189</a:t>
            </a:r>
            <a:endParaRPr lang="en-US" sz="3200" dirty="0"/>
          </a:p>
        </p:txBody>
      </p:sp>
      <p:sp>
        <p:nvSpPr>
          <p:cNvPr id="7" name="Text 4"/>
          <p:cNvSpPr txBox="1"/>
          <p:nvPr/>
        </p:nvSpPr>
        <p:spPr>
          <a:xfrm>
            <a:off x="7726680" y="2313432"/>
            <a:ext cx="3931920" cy="274320"/>
          </a:xfrm>
          <a:prstGeom prst="rect">
            <a:avLst/>
          </a:prstGeom>
          <a:noFill/>
          <a:ln/>
        </p:spPr>
        <p:txBody>
          <a:bodyPr wrap="square" lIns="0" tIns="0" rIns="0" bIns="0" rtlCol="0" anchor="ctr"/>
          <a:lstStyle/>
          <a:p>
            <a:pPr indent="0" marL="0">
              <a:buNone/>
            </a:pPr>
            <a:r>
              <a:rPr lang="en-US" sz="1250" b="1" dirty="0">
                <a:solidFill>
                  <a:srgbClr val="24303C"/>
                </a:solidFill>
                <a:latin typeface="Calibri" pitchFamily="34" charset="0"/>
                <a:ea typeface="Calibri" pitchFamily="34" charset="-122"/>
                <a:cs typeface="Calibri" pitchFamily="34" charset="-120"/>
              </a:rPr>
              <a:t>53</a:t>
            </a:r>
            <a:pPr indent="0" marL="0">
              <a:buNone/>
            </a:pPr>
            <a:r>
              <a:rPr lang="en-US" sz="1250" dirty="0">
                <a:solidFill>
                  <a:srgbClr val="6E7681"/>
                </a:solidFill>
                <a:latin typeface="Calibri" pitchFamily="34" charset="0"/>
                <a:ea typeface="Calibri" pitchFamily="34" charset="-122"/>
                <a:cs typeface="Calibri" pitchFamily="34" charset="-120"/>
              </a:rPr>
              <a:t> photographs   ·   </a:t>
            </a:r>
            <a:pPr indent="0" marL="0">
              <a:buNone/>
            </a:pPr>
            <a:r>
              <a:rPr lang="en-US" sz="1250" b="1" dirty="0">
                <a:solidFill>
                  <a:srgbClr val="EB6834"/>
                </a:solidFill>
                <a:latin typeface="Calibri" pitchFamily="34" charset="0"/>
                <a:ea typeface="Calibri" pitchFamily="34" charset="-122"/>
                <a:cs typeface="Calibri" pitchFamily="34" charset="-120"/>
              </a:rPr>
              <a:t>3</a:t>
            </a:r>
            <a:pPr indent="0" marL="0">
              <a:buNone/>
            </a:pPr>
            <a:r>
              <a:rPr lang="en-US" sz="1250" dirty="0">
                <a:solidFill>
                  <a:srgbClr val="6E7681"/>
                </a:solidFill>
                <a:latin typeface="Calibri" pitchFamily="34" charset="0"/>
                <a:ea typeface="Calibri" pitchFamily="34" charset="-122"/>
                <a:cs typeface="Calibri" pitchFamily="34" charset="-120"/>
              </a:rPr>
              <a:t> capture sessions</a:t>
            </a:r>
            <a:endParaRPr lang="en-US" sz="1250" dirty="0"/>
          </a:p>
        </p:txBody>
      </p:sp>
      <p:sp>
        <p:nvSpPr>
          <p:cNvPr id="8" name="Shape 5"/>
          <p:cNvSpPr/>
          <p:nvPr/>
        </p:nvSpPr>
        <p:spPr>
          <a:xfrm>
            <a:off x="7726680" y="2697480"/>
            <a:ext cx="155448" cy="155448"/>
          </a:xfrm>
          <a:prstGeom prst="ellipse">
            <a:avLst/>
          </a:prstGeom>
          <a:solidFill>
            <a:srgbClr val="EB6834"/>
          </a:solidFill>
          <a:ln w="12700">
            <a:solidFill>
              <a:srgbClr val="EB6834"/>
            </a:solidFill>
            <a:prstDash val="solid"/>
          </a:ln>
        </p:spPr>
      </p:sp>
      <p:sp>
        <p:nvSpPr>
          <p:cNvPr id="9" name="Shape 6"/>
          <p:cNvSpPr/>
          <p:nvPr/>
        </p:nvSpPr>
        <p:spPr>
          <a:xfrm>
            <a:off x="7973568" y="2697480"/>
            <a:ext cx="155448" cy="155448"/>
          </a:xfrm>
          <a:prstGeom prst="ellipse">
            <a:avLst/>
          </a:prstGeom>
          <a:solidFill>
            <a:srgbClr val="EB6834"/>
          </a:solidFill>
          <a:ln w="12700">
            <a:solidFill>
              <a:srgbClr val="EB6834"/>
            </a:solidFill>
            <a:prstDash val="solid"/>
          </a:ln>
        </p:spPr>
      </p:sp>
      <p:sp>
        <p:nvSpPr>
          <p:cNvPr id="10" name="Shape 7"/>
          <p:cNvSpPr/>
          <p:nvPr/>
        </p:nvSpPr>
        <p:spPr>
          <a:xfrm>
            <a:off x="8220456" y="2697480"/>
            <a:ext cx="155448" cy="155448"/>
          </a:xfrm>
          <a:prstGeom prst="ellipse">
            <a:avLst/>
          </a:prstGeom>
          <a:solidFill>
            <a:srgbClr val="EB6834"/>
          </a:solidFill>
          <a:ln w="12700">
            <a:solidFill>
              <a:srgbClr val="EB6834"/>
            </a:solidFill>
            <a:prstDash val="solid"/>
          </a:ln>
        </p:spPr>
      </p:sp>
      <p:sp>
        <p:nvSpPr>
          <p:cNvPr id="11" name="Text 8"/>
          <p:cNvSpPr txBox="1"/>
          <p:nvPr/>
        </p:nvSpPr>
        <p:spPr>
          <a:xfrm>
            <a:off x="7726680" y="3447288"/>
            <a:ext cx="2377440" cy="420624"/>
          </a:xfrm>
          <a:prstGeom prst="rect">
            <a:avLst/>
          </a:prstGeom>
          <a:noFill/>
          <a:ln/>
        </p:spPr>
        <p:txBody>
          <a:bodyPr wrap="square" lIns="0" tIns="0" rIns="0" bIns="0" rtlCol="0" anchor="ctr"/>
          <a:lstStyle/>
          <a:p>
            <a:pPr indent="0" marL="0">
              <a:buNone/>
            </a:pPr>
            <a:r>
              <a:rPr lang="en-US" sz="2100" b="1" dirty="0">
                <a:solidFill>
                  <a:srgbClr val="0E2A47"/>
                </a:solidFill>
                <a:latin typeface="Cambria" pitchFamily="34" charset="0"/>
                <a:ea typeface="Cambria" pitchFamily="34" charset="-122"/>
                <a:cs typeface="Cambria" pitchFamily="34" charset="-120"/>
              </a:rPr>
              <a:t>Gonzo</a:t>
            </a:r>
            <a:endParaRPr lang="en-US" sz="2100" dirty="0"/>
          </a:p>
        </p:txBody>
      </p:sp>
      <p:sp>
        <p:nvSpPr>
          <p:cNvPr id="12" name="Text 9"/>
          <p:cNvSpPr txBox="1"/>
          <p:nvPr/>
        </p:nvSpPr>
        <p:spPr>
          <a:xfrm>
            <a:off x="10104120" y="3410712"/>
            <a:ext cx="1554480" cy="493776"/>
          </a:xfrm>
          <a:prstGeom prst="rect">
            <a:avLst/>
          </a:prstGeom>
          <a:noFill/>
          <a:ln/>
        </p:spPr>
        <p:txBody>
          <a:bodyPr wrap="square" lIns="0" tIns="0" rIns="0" bIns="0" rtlCol="0" anchor="ctr"/>
          <a:lstStyle/>
          <a:p>
            <a:pPr algn="r" indent="0" marL="0">
              <a:buNone/>
            </a:pPr>
            <a:r>
              <a:rPr lang="en-US" sz="3200" b="1" dirty="0">
                <a:solidFill>
                  <a:srgbClr val="2A78D6"/>
                </a:solidFill>
                <a:latin typeface="Cambria" pitchFamily="34" charset="0"/>
                <a:ea typeface="Cambria" pitchFamily="34" charset="-122"/>
                <a:cs typeface="Cambria" pitchFamily="34" charset="-120"/>
              </a:rPr>
              <a:t>0.827</a:t>
            </a:r>
            <a:endParaRPr lang="en-US" sz="3200" dirty="0"/>
          </a:p>
        </p:txBody>
      </p:sp>
      <p:sp>
        <p:nvSpPr>
          <p:cNvPr id="13" name="Text 10"/>
          <p:cNvSpPr txBox="1"/>
          <p:nvPr/>
        </p:nvSpPr>
        <p:spPr>
          <a:xfrm>
            <a:off x="7726680" y="3886200"/>
            <a:ext cx="3931920" cy="274320"/>
          </a:xfrm>
          <a:prstGeom prst="rect">
            <a:avLst/>
          </a:prstGeom>
          <a:noFill/>
          <a:ln/>
        </p:spPr>
        <p:txBody>
          <a:bodyPr wrap="square" lIns="0" tIns="0" rIns="0" bIns="0" rtlCol="0" anchor="ctr"/>
          <a:lstStyle/>
          <a:p>
            <a:pPr indent="0" marL="0">
              <a:buNone/>
            </a:pPr>
            <a:r>
              <a:rPr lang="en-US" sz="1250" b="1" dirty="0">
                <a:solidFill>
                  <a:srgbClr val="24303C"/>
                </a:solidFill>
                <a:latin typeface="Calibri" pitchFamily="34" charset="0"/>
                <a:ea typeface="Calibri" pitchFamily="34" charset="-122"/>
                <a:cs typeface="Calibri" pitchFamily="34" charset="-120"/>
              </a:rPr>
              <a:t>52</a:t>
            </a:r>
            <a:pPr indent="0" marL="0">
              <a:buNone/>
            </a:pPr>
            <a:r>
              <a:rPr lang="en-US" sz="1250" dirty="0">
                <a:solidFill>
                  <a:srgbClr val="6E7681"/>
                </a:solidFill>
                <a:latin typeface="Calibri" pitchFamily="34" charset="0"/>
                <a:ea typeface="Calibri" pitchFamily="34" charset="-122"/>
                <a:cs typeface="Calibri" pitchFamily="34" charset="-120"/>
              </a:rPr>
              <a:t> photographs   ·   </a:t>
            </a:r>
            <a:pPr indent="0" marL="0">
              <a:buNone/>
            </a:pPr>
            <a:r>
              <a:rPr lang="en-US" sz="1250" b="1" dirty="0">
                <a:solidFill>
                  <a:srgbClr val="2A78D6"/>
                </a:solidFill>
                <a:latin typeface="Calibri" pitchFamily="34" charset="0"/>
                <a:ea typeface="Calibri" pitchFamily="34" charset="-122"/>
                <a:cs typeface="Calibri" pitchFamily="34" charset="-120"/>
              </a:rPr>
              <a:t>13</a:t>
            </a:r>
            <a:pPr indent="0" marL="0">
              <a:buNone/>
            </a:pPr>
            <a:r>
              <a:rPr lang="en-US" sz="1250" dirty="0">
                <a:solidFill>
                  <a:srgbClr val="6E7681"/>
                </a:solidFill>
                <a:latin typeface="Calibri" pitchFamily="34" charset="0"/>
                <a:ea typeface="Calibri" pitchFamily="34" charset="-122"/>
                <a:cs typeface="Calibri" pitchFamily="34" charset="-120"/>
              </a:rPr>
              <a:t> capture sessions</a:t>
            </a:r>
            <a:endParaRPr lang="en-US" sz="1250" dirty="0"/>
          </a:p>
        </p:txBody>
      </p:sp>
      <p:sp>
        <p:nvSpPr>
          <p:cNvPr id="14" name="Shape 11"/>
          <p:cNvSpPr/>
          <p:nvPr/>
        </p:nvSpPr>
        <p:spPr>
          <a:xfrm>
            <a:off x="7726680" y="4270248"/>
            <a:ext cx="155448" cy="155448"/>
          </a:xfrm>
          <a:prstGeom prst="ellipse">
            <a:avLst/>
          </a:prstGeom>
          <a:solidFill>
            <a:srgbClr val="2A78D6"/>
          </a:solidFill>
          <a:ln w="12700">
            <a:solidFill>
              <a:srgbClr val="2A78D6"/>
            </a:solidFill>
            <a:prstDash val="solid"/>
          </a:ln>
        </p:spPr>
      </p:sp>
      <p:sp>
        <p:nvSpPr>
          <p:cNvPr id="15" name="Shape 12"/>
          <p:cNvSpPr/>
          <p:nvPr/>
        </p:nvSpPr>
        <p:spPr>
          <a:xfrm>
            <a:off x="7973568" y="4270248"/>
            <a:ext cx="155448" cy="155448"/>
          </a:xfrm>
          <a:prstGeom prst="ellipse">
            <a:avLst/>
          </a:prstGeom>
          <a:solidFill>
            <a:srgbClr val="2A78D6"/>
          </a:solidFill>
          <a:ln w="12700">
            <a:solidFill>
              <a:srgbClr val="2A78D6"/>
            </a:solidFill>
            <a:prstDash val="solid"/>
          </a:ln>
        </p:spPr>
      </p:sp>
      <p:sp>
        <p:nvSpPr>
          <p:cNvPr id="16" name="Shape 13"/>
          <p:cNvSpPr/>
          <p:nvPr/>
        </p:nvSpPr>
        <p:spPr>
          <a:xfrm>
            <a:off x="8220456" y="4270248"/>
            <a:ext cx="155448" cy="155448"/>
          </a:xfrm>
          <a:prstGeom prst="ellipse">
            <a:avLst/>
          </a:prstGeom>
          <a:solidFill>
            <a:srgbClr val="2A78D6"/>
          </a:solidFill>
          <a:ln w="12700">
            <a:solidFill>
              <a:srgbClr val="2A78D6"/>
            </a:solidFill>
            <a:prstDash val="solid"/>
          </a:ln>
        </p:spPr>
      </p:sp>
      <p:sp>
        <p:nvSpPr>
          <p:cNvPr id="17" name="Shape 14"/>
          <p:cNvSpPr/>
          <p:nvPr/>
        </p:nvSpPr>
        <p:spPr>
          <a:xfrm>
            <a:off x="8467344" y="4270248"/>
            <a:ext cx="155448" cy="155448"/>
          </a:xfrm>
          <a:prstGeom prst="ellipse">
            <a:avLst/>
          </a:prstGeom>
          <a:solidFill>
            <a:srgbClr val="2A78D6"/>
          </a:solidFill>
          <a:ln w="12700">
            <a:solidFill>
              <a:srgbClr val="2A78D6"/>
            </a:solidFill>
            <a:prstDash val="solid"/>
          </a:ln>
        </p:spPr>
      </p:sp>
      <p:sp>
        <p:nvSpPr>
          <p:cNvPr id="18" name="Shape 15"/>
          <p:cNvSpPr/>
          <p:nvPr/>
        </p:nvSpPr>
        <p:spPr>
          <a:xfrm>
            <a:off x="8714232" y="4270248"/>
            <a:ext cx="155448" cy="155448"/>
          </a:xfrm>
          <a:prstGeom prst="ellipse">
            <a:avLst/>
          </a:prstGeom>
          <a:solidFill>
            <a:srgbClr val="2A78D6"/>
          </a:solidFill>
          <a:ln w="12700">
            <a:solidFill>
              <a:srgbClr val="2A78D6"/>
            </a:solidFill>
            <a:prstDash val="solid"/>
          </a:ln>
        </p:spPr>
      </p:sp>
      <p:sp>
        <p:nvSpPr>
          <p:cNvPr id="19" name="Shape 16"/>
          <p:cNvSpPr/>
          <p:nvPr/>
        </p:nvSpPr>
        <p:spPr>
          <a:xfrm>
            <a:off x="8961120" y="4270248"/>
            <a:ext cx="155448" cy="155448"/>
          </a:xfrm>
          <a:prstGeom prst="ellipse">
            <a:avLst/>
          </a:prstGeom>
          <a:solidFill>
            <a:srgbClr val="2A78D6"/>
          </a:solidFill>
          <a:ln w="12700">
            <a:solidFill>
              <a:srgbClr val="2A78D6"/>
            </a:solidFill>
            <a:prstDash val="solid"/>
          </a:ln>
        </p:spPr>
      </p:sp>
      <p:sp>
        <p:nvSpPr>
          <p:cNvPr id="20" name="Shape 17"/>
          <p:cNvSpPr/>
          <p:nvPr/>
        </p:nvSpPr>
        <p:spPr>
          <a:xfrm>
            <a:off x="9208008" y="4270248"/>
            <a:ext cx="155448" cy="155448"/>
          </a:xfrm>
          <a:prstGeom prst="ellipse">
            <a:avLst/>
          </a:prstGeom>
          <a:solidFill>
            <a:srgbClr val="2A78D6"/>
          </a:solidFill>
          <a:ln w="12700">
            <a:solidFill>
              <a:srgbClr val="2A78D6"/>
            </a:solidFill>
            <a:prstDash val="solid"/>
          </a:ln>
        </p:spPr>
      </p:sp>
      <p:sp>
        <p:nvSpPr>
          <p:cNvPr id="21" name="Shape 18"/>
          <p:cNvSpPr/>
          <p:nvPr/>
        </p:nvSpPr>
        <p:spPr>
          <a:xfrm>
            <a:off x="9454896" y="4270248"/>
            <a:ext cx="155448" cy="155448"/>
          </a:xfrm>
          <a:prstGeom prst="ellipse">
            <a:avLst/>
          </a:prstGeom>
          <a:solidFill>
            <a:srgbClr val="2A78D6"/>
          </a:solidFill>
          <a:ln w="12700">
            <a:solidFill>
              <a:srgbClr val="2A78D6"/>
            </a:solidFill>
            <a:prstDash val="solid"/>
          </a:ln>
        </p:spPr>
      </p:sp>
      <p:sp>
        <p:nvSpPr>
          <p:cNvPr id="22" name="Shape 19"/>
          <p:cNvSpPr/>
          <p:nvPr/>
        </p:nvSpPr>
        <p:spPr>
          <a:xfrm>
            <a:off x="9701784" y="4270248"/>
            <a:ext cx="155448" cy="155448"/>
          </a:xfrm>
          <a:prstGeom prst="ellipse">
            <a:avLst/>
          </a:prstGeom>
          <a:solidFill>
            <a:srgbClr val="2A78D6"/>
          </a:solidFill>
          <a:ln w="12700">
            <a:solidFill>
              <a:srgbClr val="2A78D6"/>
            </a:solidFill>
            <a:prstDash val="solid"/>
          </a:ln>
        </p:spPr>
      </p:sp>
      <p:sp>
        <p:nvSpPr>
          <p:cNvPr id="23" name="Shape 20"/>
          <p:cNvSpPr/>
          <p:nvPr/>
        </p:nvSpPr>
        <p:spPr>
          <a:xfrm>
            <a:off x="9948672" y="4270248"/>
            <a:ext cx="155448" cy="155448"/>
          </a:xfrm>
          <a:prstGeom prst="ellipse">
            <a:avLst/>
          </a:prstGeom>
          <a:solidFill>
            <a:srgbClr val="2A78D6"/>
          </a:solidFill>
          <a:ln w="12700">
            <a:solidFill>
              <a:srgbClr val="2A78D6"/>
            </a:solidFill>
            <a:prstDash val="solid"/>
          </a:ln>
        </p:spPr>
      </p:sp>
      <p:sp>
        <p:nvSpPr>
          <p:cNvPr id="24" name="Shape 21"/>
          <p:cNvSpPr/>
          <p:nvPr/>
        </p:nvSpPr>
        <p:spPr>
          <a:xfrm>
            <a:off x="10195560" y="4270248"/>
            <a:ext cx="155448" cy="155448"/>
          </a:xfrm>
          <a:prstGeom prst="ellipse">
            <a:avLst/>
          </a:prstGeom>
          <a:solidFill>
            <a:srgbClr val="2A78D6"/>
          </a:solidFill>
          <a:ln w="12700">
            <a:solidFill>
              <a:srgbClr val="2A78D6"/>
            </a:solidFill>
            <a:prstDash val="solid"/>
          </a:ln>
        </p:spPr>
      </p:sp>
      <p:sp>
        <p:nvSpPr>
          <p:cNvPr id="25" name="Shape 22"/>
          <p:cNvSpPr/>
          <p:nvPr/>
        </p:nvSpPr>
        <p:spPr>
          <a:xfrm>
            <a:off x="10442448" y="4270248"/>
            <a:ext cx="155448" cy="155448"/>
          </a:xfrm>
          <a:prstGeom prst="ellipse">
            <a:avLst/>
          </a:prstGeom>
          <a:solidFill>
            <a:srgbClr val="2A78D6"/>
          </a:solidFill>
          <a:ln w="12700">
            <a:solidFill>
              <a:srgbClr val="2A78D6"/>
            </a:solidFill>
            <a:prstDash val="solid"/>
          </a:ln>
        </p:spPr>
      </p:sp>
      <p:sp>
        <p:nvSpPr>
          <p:cNvPr id="26" name="Shape 23"/>
          <p:cNvSpPr/>
          <p:nvPr/>
        </p:nvSpPr>
        <p:spPr>
          <a:xfrm>
            <a:off x="10689336" y="4270248"/>
            <a:ext cx="155448" cy="155448"/>
          </a:xfrm>
          <a:prstGeom prst="ellipse">
            <a:avLst/>
          </a:prstGeom>
          <a:solidFill>
            <a:srgbClr val="2A78D6"/>
          </a:solidFill>
          <a:ln w="12700">
            <a:solidFill>
              <a:srgbClr val="2A78D6"/>
            </a:solidFill>
            <a:prstDash val="solid"/>
          </a:ln>
        </p:spPr>
      </p:sp>
      <p:sp>
        <p:nvSpPr>
          <p:cNvPr id="27" name="Text 24"/>
          <p:cNvSpPr txBox="1"/>
          <p:nvPr/>
        </p:nvSpPr>
        <p:spPr>
          <a:xfrm>
            <a:off x="7726680" y="5138928"/>
            <a:ext cx="3931920" cy="457200"/>
          </a:xfrm>
          <a:prstGeom prst="rect">
            <a:avLst/>
          </a:prstGeom>
          <a:noFill/>
          <a:ln/>
        </p:spPr>
        <p:txBody>
          <a:bodyPr wrap="square" lIns="0" tIns="0" rIns="0" bIns="0" rtlCol="0" anchor="t"/>
          <a:lstStyle/>
          <a:p>
            <a:pPr algn="l" indent="0" marL="0">
              <a:lnSpc>
                <a:spcPct val="95000"/>
              </a:lnSpc>
              <a:buNone/>
            </a:pPr>
            <a:r>
              <a:rPr lang="en-US" sz="1000" dirty="0">
                <a:solidFill>
                  <a:srgbClr val="6E7681"/>
                </a:solidFill>
                <a:latin typeface="Calibri" pitchFamily="34" charset="0"/>
                <a:ea typeface="Calibri" pitchFamily="34" charset="-122"/>
                <a:cs typeface="Calibri" pitchFamily="34" charset="-120"/>
              </a:rPr>
              <a:t>Each figure is the fraction of that bird's photographs identified correctly. Illustration, not evidence — the evidence is the partial rank correlation across all 35 birds: holding photograph count constant, sessions still predict accuracy (ρ = 0.518, P = 0.002); holding sessions constant, photograph count does not reach significance (ρ = 0.224, P = 0.203) — which does not exclude a modest effect this study is underpowered to detect.</a:t>
            </a:r>
            <a:endParaRPr lang="en-US" sz="1000" dirty="0"/>
          </a:p>
        </p:txBody>
      </p:sp>
      <p:sp>
        <p:nvSpPr>
          <p:cNvPr id="28" name="Text 25"/>
          <p:cNvSpPr txBox="1"/>
          <p:nvPr/>
        </p:nvSpPr>
        <p:spPr>
          <a:xfrm>
            <a:off x="566928" y="6437376"/>
            <a:ext cx="7772400" cy="256032"/>
          </a:xfrm>
          <a:prstGeom prst="rect">
            <a:avLst/>
          </a:prstGeom>
          <a:noFill/>
          <a:ln/>
        </p:spPr>
        <p:txBody>
          <a:bodyPr wrap="square" lIns="0" tIns="0" rIns="0" bIns="0" rtlCol="0" anchor="ctr"/>
          <a:lstStyle/>
          <a:p>
            <a:pPr indent="0" marL="0">
              <a:buNone/>
            </a:pPr>
            <a:r>
              <a:rPr lang="en-US" sz="1000" dirty="0">
                <a:solidFill>
                  <a:srgbClr val="A9AEB5"/>
                </a:solidFill>
                <a:latin typeface="Calibri" pitchFamily="34" charset="0"/>
                <a:ea typeface="Calibri" pitchFamily="34" charset="-122"/>
                <a:cs typeface="Calibri" pitchFamily="34" charset="-120"/>
              </a:rPr>
              <a:t>Automatic identification of Humboldt penguins · ZSL London Zoo</a:t>
            </a:r>
            <a:endParaRPr lang="en-US" sz="1000" dirty="0"/>
          </a:p>
        </p:txBody>
      </p:sp>
      <p:sp>
        <p:nvSpPr>
          <p:cNvPr id="29" name="Text 26"/>
          <p:cNvSpPr txBox="1"/>
          <p:nvPr/>
        </p:nvSpPr>
        <p:spPr>
          <a:xfrm>
            <a:off x="11076127" y="6437376"/>
            <a:ext cx="548640" cy="256032"/>
          </a:xfrm>
          <a:prstGeom prst="rect">
            <a:avLst/>
          </a:prstGeom>
          <a:noFill/>
          <a:ln/>
        </p:spPr>
        <p:txBody>
          <a:bodyPr wrap="square" lIns="0" tIns="0" rIns="0" bIns="0" rtlCol="0" anchor="ctr"/>
          <a:lstStyle/>
          <a:p>
            <a:pPr algn="r" indent="0" marL="0">
              <a:buNone/>
            </a:pPr>
            <a:r>
              <a:rPr lang="en-US" sz="1000" dirty="0">
                <a:solidFill>
                  <a:srgbClr val="A9AEB5"/>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CFCFB"/>
        </a:solidFill>
      </p:bgPr>
    </p:bg>
    <p:spTree>
      <p:nvGrpSpPr>
        <p:cNvPr id="1" name=""/>
        <p:cNvGrpSpPr/>
        <p:nvPr/>
      </p:nvGrpSpPr>
      <p:grpSpPr>
        <a:xfrm>
          <a:off x="0" y="0"/>
          <a:ext cx="0" cy="0"/>
          <a:chOff x="0" y="0"/>
          <a:chExt cx="0" cy="0"/>
        </a:xfrm>
      </p:grpSpPr>
      <p:sp>
        <p:nvSpPr>
          <p:cNvPr id="2" name="Text 0"/>
          <p:cNvSpPr txBox="1"/>
          <p:nvPr/>
        </p:nvSpPr>
        <p:spPr>
          <a:xfrm>
            <a:off x="566928" y="146304"/>
            <a:ext cx="11057839" cy="219456"/>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RESULT 4 — DEPLOYMENT READINESS</a:t>
            </a:r>
            <a:endParaRPr lang="en-US" sz="1100" dirty="0"/>
          </a:p>
        </p:txBody>
      </p:sp>
      <p:sp>
        <p:nvSpPr>
          <p:cNvPr id="3" name="Text 1"/>
          <p:cNvSpPr txBox="1"/>
          <p:nvPr/>
        </p:nvSpPr>
        <p:spPr>
          <a:xfrm>
            <a:off x="566928" y="384048"/>
            <a:ext cx="11057839" cy="1097280"/>
          </a:xfrm>
          <a:prstGeom prst="rect">
            <a:avLst/>
          </a:prstGeom>
          <a:noFill/>
          <a:ln/>
        </p:spPr>
        <p:txBody>
          <a:bodyPr wrap="square" lIns="0" tIns="0" rIns="0" bIns="0" rtlCol="0" anchor="t"/>
          <a:lstStyle/>
          <a:p>
            <a:pPr algn="l" indent="0" marL="0">
              <a:lnSpc>
                <a:spcPct val="95000"/>
              </a:lnSpc>
              <a:buNone/>
            </a:pPr>
            <a:r>
              <a:rPr lang="en-US" sz="2500" b="1" dirty="0">
                <a:solidFill>
                  <a:srgbClr val="0E2A47"/>
                </a:solidFill>
                <a:latin typeface="Cambria" pitchFamily="34" charset="0"/>
                <a:ea typeface="Cambria" pitchFamily="34" charset="-122"/>
                <a:cs typeface="Cambria" pitchFamily="34" charset="-120"/>
              </a:rPr>
              <a:t>One set of models, three questions — and only one of them</a:t>
            </a:r>
            <a:endParaRPr lang="en-US" sz="2500" dirty="0"/>
          </a:p>
          <a:p>
            <a:pPr algn="l" indent="0" marL="0">
              <a:lnSpc>
                <a:spcPct val="95000"/>
              </a:lnSpc>
              <a:buNone/>
            </a:pPr>
            <a:r>
              <a:rPr lang="en-US" sz="2500" b="1" dirty="0">
                <a:solidFill>
                  <a:srgbClr val="0E2A47"/>
                </a:solidFill>
                <a:latin typeface="Cambria" pitchFamily="34" charset="0"/>
                <a:ea typeface="Cambria" pitchFamily="34" charset="-122"/>
                <a:cs typeface="Cambria" pitchFamily="34" charset="-120"/>
              </a:rPr>
              <a:t>describes deployment</a:t>
            </a:r>
            <a:endParaRPr lang="en-US" sz="2500" dirty="0"/>
          </a:p>
        </p:txBody>
      </p:sp>
      <p:sp>
        <p:nvSpPr>
          <p:cNvPr id="4" name="Shape 2"/>
          <p:cNvSpPr/>
          <p:nvPr/>
        </p:nvSpPr>
        <p:spPr>
          <a:xfrm>
            <a:off x="566928" y="1874520"/>
            <a:ext cx="2200656" cy="2606040"/>
          </a:xfrm>
          <a:prstGeom prst="rect">
            <a:avLst/>
          </a:prstGeom>
          <a:solidFill>
            <a:srgbClr val="2A78D6"/>
          </a:solidFill>
          <a:ln w="12700">
            <a:solidFill>
              <a:srgbClr val="2A78D6"/>
            </a:solidFill>
            <a:prstDash val="solid"/>
          </a:ln>
        </p:spPr>
      </p:sp>
      <p:sp>
        <p:nvSpPr>
          <p:cNvPr id="5" name="Text 3"/>
          <p:cNvSpPr txBox="1"/>
          <p:nvPr/>
        </p:nvSpPr>
        <p:spPr>
          <a:xfrm>
            <a:off x="566928" y="1453896"/>
            <a:ext cx="2200656" cy="384048"/>
          </a:xfrm>
          <a:prstGeom prst="rect">
            <a:avLst/>
          </a:prstGeom>
          <a:noFill/>
          <a:ln/>
        </p:spPr>
        <p:txBody>
          <a:bodyPr wrap="square" lIns="0" tIns="0" rIns="0" bIns="0" rtlCol="0" anchor="b"/>
          <a:lstStyle/>
          <a:p>
            <a:pPr algn="ctr" indent="0" marL="0">
              <a:buNone/>
            </a:pPr>
            <a:r>
              <a:rPr lang="en-US" sz="2400" b="1" dirty="0">
                <a:solidFill>
                  <a:srgbClr val="2A78D6"/>
                </a:solidFill>
                <a:latin typeface="Cambria" pitchFamily="34" charset="0"/>
                <a:ea typeface="Cambria" pitchFamily="34" charset="-122"/>
                <a:cs typeface="Cambria" pitchFamily="34" charset="-120"/>
              </a:rPr>
              <a:t>0.559</a:t>
            </a:r>
            <a:endParaRPr lang="en-US" sz="2400" dirty="0"/>
          </a:p>
        </p:txBody>
      </p:sp>
      <p:sp>
        <p:nvSpPr>
          <p:cNvPr id="6" name="Text 4"/>
          <p:cNvSpPr txBox="1"/>
          <p:nvPr/>
        </p:nvSpPr>
        <p:spPr>
          <a:xfrm>
            <a:off x="566928" y="4572000"/>
            <a:ext cx="2200656" cy="566928"/>
          </a:xfrm>
          <a:prstGeom prst="rect">
            <a:avLst/>
          </a:prstGeom>
          <a:noFill/>
          <a:ln/>
        </p:spPr>
        <p:txBody>
          <a:bodyPr wrap="square" lIns="0" tIns="0" rIns="0" bIns="0" rtlCol="0" anchor="t"/>
          <a:lstStyle/>
          <a:p>
            <a:pPr algn="ctr" indent="0" marL="0">
              <a:lnSpc>
                <a:spcPct val="95000"/>
              </a:lnSpc>
              <a:buNone/>
            </a:pPr>
            <a:r>
              <a:rPr lang="en-US" sz="1200" b="1" dirty="0">
                <a:solidFill>
                  <a:srgbClr val="24303C"/>
                </a:solidFill>
                <a:latin typeface="Calibri" pitchFamily="34" charset="0"/>
                <a:ea typeface="Calibri" pitchFamily="34" charset="-122"/>
                <a:cs typeface="Calibri" pitchFamily="34" charset="-120"/>
              </a:rPr>
              <a:t>35 candidates,</a:t>
            </a:r>
            <a:endParaRPr lang="en-US" sz="1200" dirty="0"/>
          </a:p>
          <a:p>
            <a:pPr algn="ctr" indent="0" marL="0">
              <a:lnSpc>
                <a:spcPct val="95000"/>
              </a:lnSpc>
              <a:buNone/>
            </a:pPr>
            <a:r>
              <a:rPr lang="en-US" sz="1200" b="1" dirty="0">
                <a:solidFill>
                  <a:srgbClr val="24303C"/>
                </a:solidFill>
                <a:latin typeface="Calibri" pitchFamily="34" charset="0"/>
                <a:ea typeface="Calibri" pitchFamily="34" charset="-122"/>
                <a:cs typeface="Calibri" pitchFamily="34" charset="-120"/>
              </a:rPr>
              <a:t>closed set</a:t>
            </a:r>
            <a:endParaRPr lang="en-US" sz="1200" dirty="0"/>
          </a:p>
        </p:txBody>
      </p:sp>
      <p:sp>
        <p:nvSpPr>
          <p:cNvPr id="7" name="Text 5"/>
          <p:cNvSpPr txBox="1"/>
          <p:nvPr/>
        </p:nvSpPr>
        <p:spPr>
          <a:xfrm>
            <a:off x="566928" y="5157216"/>
            <a:ext cx="2200656" cy="640080"/>
          </a:xfrm>
          <a:prstGeom prst="rect">
            <a:avLst/>
          </a:prstGeom>
          <a:noFill/>
          <a:ln/>
        </p:spPr>
        <p:txBody>
          <a:bodyPr wrap="square" lIns="0" tIns="0" rIns="0" bIns="0" rtlCol="0" anchor="t"/>
          <a:lstStyle/>
          <a:p>
            <a:pPr algn="ctr" indent="0" marL="0">
              <a:lnSpc>
                <a:spcPct val="95000"/>
              </a:lnSpc>
              <a:buNone/>
            </a:pPr>
            <a:r>
              <a:rPr lang="en-US" sz="950" dirty="0">
                <a:solidFill>
                  <a:srgbClr val="6E7681"/>
                </a:solidFill>
                <a:latin typeface="Calibri" pitchFamily="34" charset="0"/>
                <a:ea typeface="Calibri" pitchFamily="34" charset="-122"/>
                <a:cs typeface="Calibri" pitchFamily="34" charset="-120"/>
              </a:rPr>
              <a:t>the reference —</a:t>
            </a:r>
            <a:endParaRPr lang="en-US" sz="950" dirty="0"/>
          </a:p>
          <a:p>
            <a:pPr algn="ctr" indent="0" marL="0">
              <a:lnSpc>
                <a:spcPct val="95000"/>
              </a:lnSpc>
              <a:buNone/>
            </a:pPr>
            <a:r>
              <a:rPr lang="en-US" sz="950" dirty="0">
                <a:solidFill>
                  <a:srgbClr val="6E7681"/>
                </a:solidFill>
                <a:latin typeface="Calibri" pitchFamily="34" charset="0"/>
                <a:ea typeface="Calibri" pitchFamily="34" charset="-122"/>
                <a:cs typeface="Calibri" pitchFamily="34" charset="-120"/>
              </a:rPr>
              <a:t>highest of the four</a:t>
            </a:r>
            <a:endParaRPr lang="en-US" sz="950" dirty="0"/>
          </a:p>
          <a:p>
            <a:pPr algn="ctr" indent="0" marL="0">
              <a:lnSpc>
                <a:spcPct val="95000"/>
              </a:lnSpc>
              <a:buNone/>
            </a:pPr>
            <a:r>
              <a:rPr lang="en-US" sz="950" dirty="0">
                <a:solidFill>
                  <a:srgbClr val="6E7681"/>
                </a:solidFill>
                <a:latin typeface="Calibri" pitchFamily="34" charset="0"/>
                <a:ea typeface="Calibri" pitchFamily="34" charset="-122"/>
                <a:cs typeface="Calibri" pitchFamily="34" charset="-120"/>
              </a:rPr>
              <a:t>configurations</a:t>
            </a:r>
            <a:endParaRPr lang="en-US" sz="950" dirty="0"/>
          </a:p>
        </p:txBody>
      </p:sp>
      <p:sp>
        <p:nvSpPr>
          <p:cNvPr id="8" name="Shape 6"/>
          <p:cNvSpPr/>
          <p:nvPr/>
        </p:nvSpPr>
        <p:spPr>
          <a:xfrm>
            <a:off x="2895600" y="2256801"/>
            <a:ext cx="2200656" cy="2223759"/>
          </a:xfrm>
          <a:prstGeom prst="rect">
            <a:avLst/>
          </a:prstGeom>
          <a:solidFill>
            <a:srgbClr val="2A78D6"/>
          </a:solidFill>
          <a:ln w="12700">
            <a:solidFill>
              <a:srgbClr val="2A78D6"/>
            </a:solidFill>
            <a:prstDash val="solid"/>
          </a:ln>
        </p:spPr>
      </p:sp>
      <p:sp>
        <p:nvSpPr>
          <p:cNvPr id="9" name="Text 7"/>
          <p:cNvSpPr txBox="1"/>
          <p:nvPr/>
        </p:nvSpPr>
        <p:spPr>
          <a:xfrm>
            <a:off x="2895600" y="1836177"/>
            <a:ext cx="2200656" cy="384048"/>
          </a:xfrm>
          <a:prstGeom prst="rect">
            <a:avLst/>
          </a:prstGeom>
          <a:noFill/>
          <a:ln/>
        </p:spPr>
        <p:txBody>
          <a:bodyPr wrap="square" lIns="0" tIns="0" rIns="0" bIns="0" rtlCol="0" anchor="b"/>
          <a:lstStyle/>
          <a:p>
            <a:pPr algn="ctr" indent="0" marL="0">
              <a:buNone/>
            </a:pPr>
            <a:r>
              <a:rPr lang="en-US" sz="2400" b="1" dirty="0">
                <a:solidFill>
                  <a:srgbClr val="2A78D6"/>
                </a:solidFill>
                <a:latin typeface="Cambria" pitchFamily="34" charset="0"/>
                <a:ea typeface="Cambria" pitchFamily="34" charset="-122"/>
                <a:cs typeface="Cambria" pitchFamily="34" charset="-120"/>
              </a:rPr>
              <a:t>0.477</a:t>
            </a:r>
            <a:endParaRPr lang="en-US" sz="2400" dirty="0"/>
          </a:p>
        </p:txBody>
      </p:sp>
      <p:sp>
        <p:nvSpPr>
          <p:cNvPr id="10" name="Text 8"/>
          <p:cNvSpPr txBox="1"/>
          <p:nvPr/>
        </p:nvSpPr>
        <p:spPr>
          <a:xfrm>
            <a:off x="2895600" y="4572000"/>
            <a:ext cx="2200656" cy="566928"/>
          </a:xfrm>
          <a:prstGeom prst="rect">
            <a:avLst/>
          </a:prstGeom>
          <a:noFill/>
          <a:ln/>
        </p:spPr>
        <p:txBody>
          <a:bodyPr wrap="square" lIns="0" tIns="0" rIns="0" bIns="0" rtlCol="0" anchor="t"/>
          <a:lstStyle/>
          <a:p>
            <a:pPr algn="ctr" indent="0" marL="0">
              <a:lnSpc>
                <a:spcPct val="95000"/>
              </a:lnSpc>
              <a:buNone/>
            </a:pPr>
            <a:r>
              <a:rPr lang="en-US" sz="1200" b="1" dirty="0">
                <a:solidFill>
                  <a:srgbClr val="24303C"/>
                </a:solidFill>
                <a:latin typeface="Calibri" pitchFamily="34" charset="0"/>
                <a:ea typeface="Calibri" pitchFamily="34" charset="-122"/>
                <a:cs typeface="Calibri" pitchFamily="34" charset="-120"/>
              </a:rPr>
              <a:t>…now rank against</a:t>
            </a:r>
            <a:endParaRPr lang="en-US" sz="1200" dirty="0"/>
          </a:p>
          <a:p>
            <a:pPr algn="ctr" indent="0" marL="0">
              <a:lnSpc>
                <a:spcPct val="95000"/>
              </a:lnSpc>
              <a:buNone/>
            </a:pPr>
            <a:r>
              <a:rPr lang="en-US" sz="1200" b="1" dirty="0">
                <a:solidFill>
                  <a:srgbClr val="24303C"/>
                </a:solidFill>
                <a:latin typeface="Calibri" pitchFamily="34" charset="0"/>
                <a:ea typeface="Calibri" pitchFamily="34" charset="-122"/>
                <a:cs typeface="Calibri" pitchFamily="34" charset="-120"/>
              </a:rPr>
              <a:t>all 81 colony</a:t>
            </a:r>
            <a:endParaRPr lang="en-US" sz="1200" dirty="0"/>
          </a:p>
          <a:p>
            <a:pPr algn="ctr" indent="0" marL="0">
              <a:lnSpc>
                <a:spcPct val="95000"/>
              </a:lnSpc>
              <a:buNone/>
            </a:pPr>
            <a:r>
              <a:rPr lang="en-US" sz="1200" b="1" dirty="0">
                <a:solidFill>
                  <a:srgbClr val="24303C"/>
                </a:solidFill>
                <a:latin typeface="Calibri" pitchFamily="34" charset="0"/>
                <a:ea typeface="Calibri" pitchFamily="34" charset="-122"/>
                <a:cs typeface="Calibri" pitchFamily="34" charset="-120"/>
              </a:rPr>
              <a:t>candidates</a:t>
            </a:r>
            <a:endParaRPr lang="en-US" sz="1200" dirty="0"/>
          </a:p>
        </p:txBody>
      </p:sp>
      <p:sp>
        <p:nvSpPr>
          <p:cNvPr id="11" name="Text 9"/>
          <p:cNvSpPr txBox="1"/>
          <p:nvPr/>
        </p:nvSpPr>
        <p:spPr>
          <a:xfrm>
            <a:off x="2895600" y="5157216"/>
            <a:ext cx="2200656" cy="640080"/>
          </a:xfrm>
          <a:prstGeom prst="rect">
            <a:avLst/>
          </a:prstGeom>
          <a:noFill/>
          <a:ln/>
        </p:spPr>
        <p:txBody>
          <a:bodyPr wrap="square" lIns="0" tIns="0" rIns="0" bIns="0" rtlCol="0" anchor="t"/>
          <a:lstStyle/>
          <a:p>
            <a:pPr algn="ctr" indent="0" marL="0">
              <a:lnSpc>
                <a:spcPct val="95000"/>
              </a:lnSpc>
              <a:buNone/>
            </a:pPr>
            <a:r>
              <a:rPr lang="en-US" sz="950" dirty="0">
                <a:solidFill>
                  <a:srgbClr val="6E7681"/>
                </a:solidFill>
                <a:latin typeface="Calibri" pitchFamily="34" charset="0"/>
                <a:ea typeface="Calibri" pitchFamily="34" charset="-122"/>
                <a:cs typeface="Calibri" pitchFamily="34" charset="-120"/>
              </a:rPr>
              <a:t>same 1,743 queries;</a:t>
            </a:r>
            <a:endParaRPr lang="en-US" sz="950" dirty="0"/>
          </a:p>
          <a:p>
            <a:pPr algn="ctr" indent="0" marL="0">
              <a:lnSpc>
                <a:spcPct val="95000"/>
              </a:lnSpc>
              <a:buNone/>
            </a:pPr>
            <a:r>
              <a:rPr lang="en-US" sz="950" dirty="0">
                <a:solidFill>
                  <a:srgbClr val="6E7681"/>
                </a:solidFill>
                <a:latin typeface="Calibri" pitchFamily="34" charset="0"/>
                <a:ea typeface="Calibri" pitchFamily="34" charset="-122"/>
                <a:cs typeface="Calibri" pitchFamily="34" charset="-120"/>
              </a:rPr>
              <a:t>46 identities added</a:t>
            </a:r>
            <a:endParaRPr lang="en-US" sz="950" dirty="0"/>
          </a:p>
          <a:p>
            <a:pPr algn="ctr" indent="0" marL="0">
              <a:lnSpc>
                <a:spcPct val="95000"/>
              </a:lnSpc>
              <a:buNone/>
            </a:pPr>
            <a:r>
              <a:rPr lang="en-US" sz="950" dirty="0">
                <a:solidFill>
                  <a:srgbClr val="6E7681"/>
                </a:solidFill>
                <a:latin typeface="Calibri" pitchFamily="34" charset="0"/>
                <a:ea typeface="Calibri" pitchFamily="34" charset="-122"/>
                <a:cs typeface="Calibri" pitchFamily="34" charset="-120"/>
              </a:rPr>
              <a:t>as distractors</a:t>
            </a:r>
            <a:endParaRPr lang="en-US" sz="950" dirty="0"/>
          </a:p>
        </p:txBody>
      </p:sp>
      <p:sp>
        <p:nvSpPr>
          <p:cNvPr id="12" name="Shape 10"/>
          <p:cNvSpPr/>
          <p:nvPr/>
        </p:nvSpPr>
        <p:spPr>
          <a:xfrm>
            <a:off x="5224272" y="3907138"/>
            <a:ext cx="2200656" cy="573422"/>
          </a:xfrm>
          <a:prstGeom prst="rect">
            <a:avLst/>
          </a:prstGeom>
          <a:solidFill>
            <a:srgbClr val="EB6834"/>
          </a:solidFill>
          <a:ln w="12700">
            <a:solidFill>
              <a:srgbClr val="EB6834"/>
            </a:solidFill>
            <a:prstDash val="solid"/>
          </a:ln>
        </p:spPr>
      </p:sp>
      <p:sp>
        <p:nvSpPr>
          <p:cNvPr id="13" name="Text 11"/>
          <p:cNvSpPr txBox="1"/>
          <p:nvPr/>
        </p:nvSpPr>
        <p:spPr>
          <a:xfrm>
            <a:off x="5224272" y="3486514"/>
            <a:ext cx="2200656" cy="384048"/>
          </a:xfrm>
          <a:prstGeom prst="rect">
            <a:avLst/>
          </a:prstGeom>
          <a:noFill/>
          <a:ln/>
        </p:spPr>
        <p:txBody>
          <a:bodyPr wrap="square" lIns="0" tIns="0" rIns="0" bIns="0" rtlCol="0" anchor="b"/>
          <a:lstStyle/>
          <a:p>
            <a:pPr algn="ctr" indent="0" marL="0">
              <a:buNone/>
            </a:pPr>
            <a:r>
              <a:rPr lang="en-US" sz="2400" b="1" dirty="0">
                <a:solidFill>
                  <a:srgbClr val="EB6834"/>
                </a:solidFill>
                <a:latin typeface="Cambria" pitchFamily="34" charset="0"/>
                <a:ea typeface="Cambria" pitchFamily="34" charset="-122"/>
                <a:cs typeface="Cambria" pitchFamily="34" charset="-120"/>
              </a:rPr>
              <a:t>0.123</a:t>
            </a:r>
            <a:endParaRPr lang="en-US" sz="2400" dirty="0"/>
          </a:p>
        </p:txBody>
      </p:sp>
      <p:sp>
        <p:nvSpPr>
          <p:cNvPr id="14" name="Text 12"/>
          <p:cNvSpPr txBox="1"/>
          <p:nvPr/>
        </p:nvSpPr>
        <p:spPr>
          <a:xfrm>
            <a:off x="5224272" y="4572000"/>
            <a:ext cx="2200656" cy="566928"/>
          </a:xfrm>
          <a:prstGeom prst="rect">
            <a:avLst/>
          </a:prstGeom>
          <a:noFill/>
          <a:ln/>
        </p:spPr>
        <p:txBody>
          <a:bodyPr wrap="square" lIns="0" tIns="0" rIns="0" bIns="0" rtlCol="0" anchor="t"/>
          <a:lstStyle/>
          <a:p>
            <a:pPr algn="ctr" indent="0" marL="0">
              <a:lnSpc>
                <a:spcPct val="95000"/>
              </a:lnSpc>
              <a:buNone/>
            </a:pPr>
            <a:r>
              <a:rPr lang="en-US" sz="1200" b="1" dirty="0">
                <a:solidFill>
                  <a:srgbClr val="24303C"/>
                </a:solidFill>
                <a:latin typeface="Calibri" pitchFamily="34" charset="0"/>
                <a:ea typeface="Calibri" pitchFamily="34" charset="-122"/>
                <a:cs typeface="Calibri" pitchFamily="34" charset="-120"/>
              </a:rPr>
              <a:t>…now strangers must</a:t>
            </a:r>
            <a:endParaRPr lang="en-US" sz="1200" dirty="0"/>
          </a:p>
          <a:p>
            <a:pPr algn="ctr" indent="0" marL="0">
              <a:lnSpc>
                <a:spcPct val="95000"/>
              </a:lnSpc>
              <a:buNone/>
            </a:pPr>
            <a:r>
              <a:rPr lang="en-US" sz="1200" b="1" dirty="0">
                <a:solidFill>
                  <a:srgbClr val="24303C"/>
                </a:solidFill>
                <a:latin typeface="Calibri" pitchFamily="34" charset="0"/>
                <a:ea typeface="Calibri" pitchFamily="34" charset="-122"/>
                <a:cs typeface="Calibri" pitchFamily="34" charset="-120"/>
              </a:rPr>
              <a:t>be refused 99% of</a:t>
            </a:r>
            <a:endParaRPr lang="en-US" sz="1200" dirty="0"/>
          </a:p>
          <a:p>
            <a:pPr algn="ctr" indent="0" marL="0">
              <a:lnSpc>
                <a:spcPct val="95000"/>
              </a:lnSpc>
              <a:buNone/>
            </a:pPr>
            <a:r>
              <a:rPr lang="en-US" sz="1200" b="1" dirty="0">
                <a:solidFill>
                  <a:srgbClr val="24303C"/>
                </a:solidFill>
                <a:latin typeface="Calibri" pitchFamily="34" charset="0"/>
                <a:ea typeface="Calibri" pitchFamily="34" charset="-122"/>
                <a:cs typeface="Calibri" pitchFamily="34" charset="-120"/>
              </a:rPr>
              <a:t>the time</a:t>
            </a:r>
            <a:endParaRPr lang="en-US" sz="1200" dirty="0"/>
          </a:p>
        </p:txBody>
      </p:sp>
      <p:sp>
        <p:nvSpPr>
          <p:cNvPr id="15" name="Text 13"/>
          <p:cNvSpPr txBox="1"/>
          <p:nvPr/>
        </p:nvSpPr>
        <p:spPr>
          <a:xfrm>
            <a:off x="5224272" y="5157216"/>
            <a:ext cx="2200656" cy="640080"/>
          </a:xfrm>
          <a:prstGeom prst="rect">
            <a:avLst/>
          </a:prstGeom>
          <a:noFill/>
          <a:ln/>
        </p:spPr>
        <p:txBody>
          <a:bodyPr wrap="square" lIns="0" tIns="0" rIns="0" bIns="0" rtlCol="0" anchor="t"/>
          <a:lstStyle/>
          <a:p>
            <a:pPr algn="ctr" indent="0" marL="0">
              <a:lnSpc>
                <a:spcPct val="95000"/>
              </a:lnSpc>
              <a:buNone/>
            </a:pPr>
            <a:r>
              <a:rPr lang="en-US" sz="950" dirty="0">
                <a:solidFill>
                  <a:srgbClr val="6E7681"/>
                </a:solidFill>
                <a:latin typeface="Calibri" pitchFamily="34" charset="0"/>
                <a:ea typeface="Calibri" pitchFamily="34" charset="-122"/>
                <a:cs typeface="Calibri" pitchFamily="34" charset="-120"/>
              </a:rPr>
              <a:t>DIR at 1% false-accept,</a:t>
            </a:r>
            <a:endParaRPr lang="en-US" sz="950" dirty="0"/>
          </a:p>
          <a:p>
            <a:pPr algn="ctr" indent="0" marL="0">
              <a:lnSpc>
                <a:spcPct val="95000"/>
              </a:lnSpc>
              <a:buNone/>
            </a:pPr>
            <a:r>
              <a:rPr lang="en-US" sz="950" dirty="0">
                <a:solidFill>
                  <a:srgbClr val="6E7681"/>
                </a:solidFill>
                <a:latin typeface="Calibri" pitchFamily="34" charset="0"/>
                <a:ea typeface="Calibri" pitchFamily="34" charset="-122"/>
                <a:cs typeface="Calibri" pitchFamily="34" charset="-120"/>
              </a:rPr>
              <a:t>against 564 photographs</a:t>
            </a:r>
            <a:endParaRPr lang="en-US" sz="950" dirty="0"/>
          </a:p>
          <a:p>
            <a:pPr algn="ctr" indent="0" marL="0">
              <a:lnSpc>
                <a:spcPct val="95000"/>
              </a:lnSpc>
              <a:buNone/>
            </a:pPr>
            <a:r>
              <a:rPr lang="en-US" sz="950" dirty="0">
                <a:solidFill>
                  <a:srgbClr val="6E7681"/>
                </a:solidFill>
                <a:latin typeface="Calibri" pitchFamily="34" charset="0"/>
                <a:ea typeface="Calibri" pitchFamily="34" charset="-122"/>
                <a:cs typeface="Calibri" pitchFamily="34" charset="-120"/>
              </a:rPr>
              <a:t>of 46 never-trained birds</a:t>
            </a:r>
            <a:endParaRPr lang="en-US" sz="950" dirty="0"/>
          </a:p>
        </p:txBody>
      </p:sp>
      <p:sp>
        <p:nvSpPr>
          <p:cNvPr id="16" name="Text 14"/>
          <p:cNvSpPr txBox="1"/>
          <p:nvPr/>
        </p:nvSpPr>
        <p:spPr>
          <a:xfrm>
            <a:off x="566928" y="5870448"/>
            <a:ext cx="6858000" cy="457200"/>
          </a:xfrm>
          <a:prstGeom prst="rect">
            <a:avLst/>
          </a:prstGeom>
          <a:noFill/>
          <a:ln/>
        </p:spPr>
        <p:txBody>
          <a:bodyPr wrap="square" lIns="0" tIns="0" rIns="0" bIns="0" rtlCol="0" anchor="t"/>
          <a:lstStyle/>
          <a:p>
            <a:pPr algn="l" indent="0" marL="0">
              <a:lnSpc>
                <a:spcPct val="95000"/>
              </a:lnSpc>
              <a:buNone/>
            </a:pPr>
            <a:r>
              <a:rPr lang="en-US" sz="1050" dirty="0">
                <a:solidFill>
                  <a:srgbClr val="6E7681"/>
                </a:solidFill>
                <a:latin typeface="Calibri" pitchFamily="34" charset="0"/>
                <a:ea typeface="Calibri" pitchFamily="34" charset="-122"/>
                <a:cs typeface="Calibri" pitchFamily="34" charset="-120"/>
              </a:rPr>
              <a:t>Each of the two is one change away from the first, not a chain: the gallery grows, or strangers must be refused. All three come from the same five cross-validated models and are macro over the 35 individuals.</a:t>
            </a:r>
            <a:endParaRPr lang="en-US" sz="1050" dirty="0"/>
          </a:p>
        </p:txBody>
      </p:sp>
      <p:sp>
        <p:nvSpPr>
          <p:cNvPr id="17" name="Shape 15"/>
          <p:cNvSpPr/>
          <p:nvPr/>
        </p:nvSpPr>
        <p:spPr>
          <a:xfrm>
            <a:off x="7772400" y="1874520"/>
            <a:ext cx="3858768" cy="2286000"/>
          </a:xfrm>
          <a:prstGeom prst="roundRect">
            <a:avLst>
              <a:gd name="adj" fmla="val 2400"/>
            </a:avLst>
          </a:prstGeom>
          <a:solidFill>
            <a:srgbClr val="F1F0EC"/>
          </a:solidFill>
          <a:ln w="12700">
            <a:solidFill>
              <a:srgbClr val="F1F0EC"/>
            </a:solidFill>
            <a:prstDash val="solid"/>
          </a:ln>
        </p:spPr>
      </p:sp>
      <p:sp>
        <p:nvSpPr>
          <p:cNvPr id="18" name="Text 16"/>
          <p:cNvSpPr txBox="1"/>
          <p:nvPr/>
        </p:nvSpPr>
        <p:spPr>
          <a:xfrm>
            <a:off x="8001000" y="2039112"/>
            <a:ext cx="3401568" cy="274320"/>
          </a:xfrm>
          <a:prstGeom prst="rect">
            <a:avLst/>
          </a:prstGeom>
          <a:noFill/>
          <a:ln/>
        </p:spPr>
        <p:txBody>
          <a:bodyPr wrap="square" lIns="0" tIns="0" rIns="0" bIns="0" rtlCol="0" anchor="ctr"/>
          <a:lstStyle/>
          <a:p>
            <a:pPr indent="0" marL="0">
              <a:buNone/>
            </a:pPr>
            <a:r>
              <a:rPr lang="en-US" sz="1300" b="1" dirty="0">
                <a:solidFill>
                  <a:srgbClr val="EB6834"/>
                </a:solidFill>
                <a:latin typeface="Calibri" pitchFamily="34" charset="0"/>
                <a:ea typeface="Calibri" pitchFamily="34" charset="-122"/>
                <a:cs typeface="Calibri" pitchFamily="34" charset="-120"/>
              </a:rPr>
              <a:t>The shortcut I did not take</a:t>
            </a:r>
            <a:endParaRPr lang="en-US" sz="1300" dirty="0"/>
          </a:p>
        </p:txBody>
      </p:sp>
      <p:sp>
        <p:nvSpPr>
          <p:cNvPr id="19" name="Text 17"/>
          <p:cNvSpPr txBox="1"/>
          <p:nvPr/>
        </p:nvSpPr>
        <p:spPr>
          <a:xfrm>
            <a:off x="8001000" y="2368296"/>
            <a:ext cx="3401568" cy="1691640"/>
          </a:xfrm>
          <a:prstGeom prst="rect">
            <a:avLst/>
          </a:prstGeom>
          <a:noFill/>
          <a:ln/>
        </p:spPr>
        <p:txBody>
          <a:bodyPr wrap="square" lIns="0" tIns="0" rIns="0" bIns="0" rtlCol="0" anchor="t"/>
          <a:lstStyle/>
          <a:p>
            <a:pPr indent="0" marL="0">
              <a:lnSpc>
                <a:spcPct val="110000"/>
              </a:lnSpc>
              <a:buNone/>
            </a:pPr>
            <a:r>
              <a:rPr lang="en-US" sz="1200" dirty="0">
                <a:solidFill>
                  <a:srgbClr val="24303C"/>
                </a:solidFill>
                <a:latin typeface="Calibri" pitchFamily="34" charset="0"/>
                <a:ea typeface="Calibri" pitchFamily="34" charset="-122"/>
                <a:cs typeface="Calibri" pitchFamily="34" charset="-120"/>
              </a:rPr>
              <a:t>Simulating strangers by hiding a bird's own prototype reports 0.230 instead of 0.123 — an overstatement of 87%. Both numbers come out of the same evaluation run, so this is a controlled comparison, not two studies stitched together.</a:t>
            </a:r>
            <a:endParaRPr lang="en-US" sz="1200" dirty="0"/>
          </a:p>
        </p:txBody>
      </p:sp>
      <p:sp>
        <p:nvSpPr>
          <p:cNvPr id="20" name="Text 18"/>
          <p:cNvSpPr txBox="1"/>
          <p:nvPr/>
        </p:nvSpPr>
        <p:spPr>
          <a:xfrm>
            <a:off x="7772400" y="4389120"/>
            <a:ext cx="3858768" cy="1234440"/>
          </a:xfrm>
          <a:prstGeom prst="rect">
            <a:avLst/>
          </a:prstGeom>
          <a:noFill/>
          <a:ln/>
        </p:spPr>
        <p:txBody>
          <a:bodyPr wrap="square" lIns="0" tIns="0" rIns="0" bIns="0" rtlCol="0" anchor="t"/>
          <a:lstStyle/>
          <a:p>
            <a:pPr indent="0" marL="0">
              <a:lnSpc>
                <a:spcPct val="105000"/>
              </a:lnSpc>
              <a:buNone/>
            </a:pPr>
            <a:r>
              <a:rPr lang="en-US" sz="1600" b="1" i="1" dirty="0">
                <a:solidFill>
                  <a:srgbClr val="0E2A47"/>
                </a:solidFill>
                <a:latin typeface="Cambria" pitchFamily="34" charset="0"/>
                <a:ea typeface="Cambria" pitchFamily="34" charset="-122"/>
                <a:cs typeface="Cambria" pitchFamily="34" charset="-120"/>
              </a:rPr>
              <a:t>“The number that describes</a:t>
            </a:r>
            <a:endParaRPr lang="en-US" sz="1600" dirty="0"/>
          </a:p>
          <a:p>
            <a:pPr indent="0" marL="0">
              <a:lnSpc>
                <a:spcPct val="105000"/>
              </a:lnSpc>
              <a:buNone/>
            </a:pPr>
            <a:r>
              <a:rPr lang="en-US" sz="1600" b="1" i="1" dirty="0">
                <a:solidFill>
                  <a:srgbClr val="0E2A47"/>
                </a:solidFill>
                <a:latin typeface="Cambria" pitchFamily="34" charset="0"/>
                <a:ea typeface="Cambria" pitchFamily="34" charset="-122"/>
                <a:cs typeface="Cambria" pitchFamily="34" charset="-120"/>
              </a:rPr>
              <a:t>deployment readiness</a:t>
            </a:r>
            <a:endParaRPr lang="en-US" sz="1600" dirty="0"/>
          </a:p>
          <a:p>
            <a:pPr indent="0" marL="0">
              <a:lnSpc>
                <a:spcPct val="105000"/>
              </a:lnSpc>
              <a:buNone/>
            </a:pPr>
            <a:r>
              <a:rPr lang="en-US" sz="1600" b="1" i="1" dirty="0">
                <a:solidFill>
                  <a:srgbClr val="0E2A47"/>
                </a:solidFill>
                <a:latin typeface="Cambria" pitchFamily="34" charset="0"/>
                <a:ea typeface="Cambria" pitchFamily="34" charset="-122"/>
                <a:cs typeface="Cambria" pitchFamily="34" charset="-120"/>
              </a:rPr>
              <a:t>is 0.123, not 0.559.”</a:t>
            </a:r>
            <a:endParaRPr lang="en-US" sz="1600" dirty="0"/>
          </a:p>
        </p:txBody>
      </p:sp>
      <p:sp>
        <p:nvSpPr>
          <p:cNvPr id="21" name="Text 19"/>
          <p:cNvSpPr txBox="1"/>
          <p:nvPr/>
        </p:nvSpPr>
        <p:spPr>
          <a:xfrm>
            <a:off x="7772400" y="5669280"/>
            <a:ext cx="3858768" cy="457200"/>
          </a:xfrm>
          <a:prstGeom prst="rect">
            <a:avLst/>
          </a:prstGeom>
          <a:noFill/>
          <a:ln/>
        </p:spPr>
        <p:txBody>
          <a:bodyPr wrap="square" lIns="0" tIns="0" rIns="0" bIns="0" rtlCol="0" anchor="t"/>
          <a:lstStyle/>
          <a:p>
            <a:pPr algn="l" indent="0" marL="0">
              <a:lnSpc>
                <a:spcPct val="95000"/>
              </a:lnSpc>
              <a:buNone/>
            </a:pPr>
            <a:r>
              <a:rPr lang="en-US" sz="1050" dirty="0">
                <a:solidFill>
                  <a:srgbClr val="6E7681"/>
                </a:solidFill>
                <a:latin typeface="Calibri" pitchFamily="34" charset="0"/>
                <a:ea typeface="Calibri" pitchFamily="34" charset="-122"/>
                <a:cs typeface="Calibri" pitchFamily="34" charset="-120"/>
              </a:rPr>
              <a:t>The deployed configuration's five-candidate shortlist contains the right bird 78.2% of the time (35 candidates; softmax + strong is better at rank-5, at 0.809).</a:t>
            </a:r>
            <a:endParaRPr lang="en-US" sz="1050" dirty="0"/>
          </a:p>
        </p:txBody>
      </p:sp>
      <p:sp>
        <p:nvSpPr>
          <p:cNvPr id="22" name="Text 20"/>
          <p:cNvSpPr txBox="1"/>
          <p:nvPr/>
        </p:nvSpPr>
        <p:spPr>
          <a:xfrm>
            <a:off x="566928" y="6437376"/>
            <a:ext cx="7772400" cy="256032"/>
          </a:xfrm>
          <a:prstGeom prst="rect">
            <a:avLst/>
          </a:prstGeom>
          <a:noFill/>
          <a:ln/>
        </p:spPr>
        <p:txBody>
          <a:bodyPr wrap="square" lIns="0" tIns="0" rIns="0" bIns="0" rtlCol="0" anchor="ctr"/>
          <a:lstStyle/>
          <a:p>
            <a:pPr indent="0" marL="0">
              <a:buNone/>
            </a:pPr>
            <a:r>
              <a:rPr lang="en-US" sz="1000" dirty="0">
                <a:solidFill>
                  <a:srgbClr val="A9AEB5"/>
                </a:solidFill>
                <a:latin typeface="Calibri" pitchFamily="34" charset="0"/>
                <a:ea typeface="Calibri" pitchFamily="34" charset="-122"/>
                <a:cs typeface="Calibri" pitchFamily="34" charset="-120"/>
              </a:rPr>
              <a:t>Automatic identification of Humboldt penguins · ZSL London Zoo</a:t>
            </a:r>
            <a:endParaRPr lang="en-US" sz="1000" dirty="0"/>
          </a:p>
        </p:txBody>
      </p:sp>
      <p:sp>
        <p:nvSpPr>
          <p:cNvPr id="23" name="Text 21"/>
          <p:cNvSpPr txBox="1"/>
          <p:nvPr/>
        </p:nvSpPr>
        <p:spPr>
          <a:xfrm>
            <a:off x="11076127" y="6437376"/>
            <a:ext cx="548640" cy="256032"/>
          </a:xfrm>
          <a:prstGeom prst="rect">
            <a:avLst/>
          </a:prstGeom>
          <a:noFill/>
          <a:ln/>
        </p:spPr>
        <p:txBody>
          <a:bodyPr wrap="square" lIns="0" tIns="0" rIns="0" bIns="0" rtlCol="0" anchor="ctr"/>
          <a:lstStyle/>
          <a:p>
            <a:pPr algn="r" indent="0" marL="0">
              <a:buNone/>
            </a:pPr>
            <a:r>
              <a:rPr lang="en-US" sz="1000" dirty="0">
                <a:solidFill>
                  <a:srgbClr val="A9AEB5"/>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CFCFB"/>
        </a:solidFill>
      </p:bgPr>
    </p:bg>
    <p:spTree>
      <p:nvGrpSpPr>
        <p:cNvPr id="1" name=""/>
        <p:cNvGrpSpPr/>
        <p:nvPr/>
      </p:nvGrpSpPr>
      <p:grpSpPr>
        <a:xfrm>
          <a:off x="0" y="0"/>
          <a:ext cx="0" cy="0"/>
          <a:chOff x="0" y="0"/>
          <a:chExt cx="0" cy="0"/>
        </a:xfrm>
      </p:grpSpPr>
      <p:sp>
        <p:nvSpPr>
          <p:cNvPr id="2" name="Text 0"/>
          <p:cNvSpPr txBox="1"/>
          <p:nvPr/>
        </p:nvSpPr>
        <p:spPr>
          <a:xfrm>
            <a:off x="566928" y="146304"/>
            <a:ext cx="11057839" cy="219456"/>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WHAT EXISTS</a:t>
            </a:r>
            <a:endParaRPr lang="en-US" sz="1100" dirty="0"/>
          </a:p>
        </p:txBody>
      </p:sp>
      <p:sp>
        <p:nvSpPr>
          <p:cNvPr id="3" name="Text 1"/>
          <p:cNvSpPr txBox="1"/>
          <p:nvPr/>
        </p:nvSpPr>
        <p:spPr>
          <a:xfrm>
            <a:off x="566928" y="384048"/>
            <a:ext cx="11057839" cy="1097280"/>
          </a:xfrm>
          <a:prstGeom prst="rect">
            <a:avLst/>
          </a:prstGeom>
          <a:noFill/>
          <a:ln/>
        </p:spPr>
        <p:txBody>
          <a:bodyPr wrap="square" lIns="0" tIns="0" rIns="0" bIns="0" rtlCol="0" anchor="t"/>
          <a:lstStyle/>
          <a:p>
            <a:pPr algn="l" indent="0" marL="0">
              <a:lnSpc>
                <a:spcPct val="95000"/>
              </a:lnSpc>
              <a:buNone/>
            </a:pPr>
            <a:r>
              <a:rPr lang="en-US" sz="2500" b="1" dirty="0">
                <a:solidFill>
                  <a:srgbClr val="0E2A47"/>
                </a:solidFill>
                <a:latin typeface="Cambria" pitchFamily="34" charset="0"/>
                <a:ea typeface="Cambria" pitchFamily="34" charset="-122"/>
                <a:cs typeface="Cambria" pitchFamily="34" charset="-120"/>
              </a:rPr>
              <a:t>Retrieval, not classification — so a new bird costs</a:t>
            </a:r>
            <a:endParaRPr lang="en-US" sz="2500" dirty="0"/>
          </a:p>
          <a:p>
            <a:pPr algn="l" indent="0" marL="0">
              <a:lnSpc>
                <a:spcPct val="95000"/>
              </a:lnSpc>
              <a:buNone/>
            </a:pPr>
            <a:r>
              <a:rPr lang="en-US" sz="2500" b="1" dirty="0">
                <a:solidFill>
                  <a:srgbClr val="0E2A47"/>
                </a:solidFill>
                <a:latin typeface="Cambria" pitchFamily="34" charset="0"/>
                <a:ea typeface="Cambria" pitchFamily="34" charset="-122"/>
                <a:cs typeface="Cambria" pitchFamily="34" charset="-120"/>
              </a:rPr>
              <a:t>an enrolment, not a retraining</a:t>
            </a:r>
            <a:endParaRPr lang="en-US" sz="2500" dirty="0"/>
          </a:p>
        </p:txBody>
      </p:sp>
      <p:sp>
        <p:nvSpPr>
          <p:cNvPr id="4" name="Shape 2"/>
          <p:cNvSpPr/>
          <p:nvPr/>
        </p:nvSpPr>
        <p:spPr>
          <a:xfrm>
            <a:off x="566928" y="1810512"/>
            <a:ext cx="4025189" cy="566928"/>
          </a:xfrm>
          <a:prstGeom prst="roundRect">
            <a:avLst>
              <a:gd name="adj" fmla="val 9677"/>
            </a:avLst>
          </a:prstGeom>
          <a:solidFill>
            <a:srgbClr val="0E2A47"/>
          </a:solidFill>
          <a:ln w="12700">
            <a:solidFill>
              <a:srgbClr val="0E2A47"/>
            </a:solidFill>
            <a:prstDash val="solid"/>
          </a:ln>
        </p:spPr>
      </p:sp>
      <p:sp>
        <p:nvSpPr>
          <p:cNvPr id="5" name="Text 3"/>
          <p:cNvSpPr txBox="1"/>
          <p:nvPr/>
        </p:nvSpPr>
        <p:spPr>
          <a:xfrm>
            <a:off x="731520" y="1865376"/>
            <a:ext cx="3696005" cy="27432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Photograph</a:t>
            </a:r>
            <a:endParaRPr lang="en-US" sz="1350" dirty="0"/>
          </a:p>
        </p:txBody>
      </p:sp>
      <p:sp>
        <p:nvSpPr>
          <p:cNvPr id="6" name="Text 4"/>
          <p:cNvSpPr txBox="1"/>
          <p:nvPr/>
        </p:nvSpPr>
        <p:spPr>
          <a:xfrm>
            <a:off x="731520" y="2112264"/>
            <a:ext cx="3696005" cy="219456"/>
          </a:xfrm>
          <a:prstGeom prst="rect">
            <a:avLst/>
          </a:prstGeom>
          <a:noFill/>
          <a:ln/>
        </p:spPr>
        <p:txBody>
          <a:bodyPr wrap="square" lIns="0" tIns="0" rIns="0" bIns="0" rtlCol="0" anchor="ctr"/>
          <a:lstStyle/>
          <a:p>
            <a:pPr indent="0" marL="0">
              <a:buNone/>
            </a:pPr>
            <a:r>
              <a:rPr lang="en-US" sz="1000" dirty="0">
                <a:solidFill>
                  <a:srgbClr val="DDE6F2"/>
                </a:solidFill>
                <a:latin typeface="Calibri" pitchFamily="34" charset="0"/>
                <a:ea typeface="Calibri" pitchFamily="34" charset="-122"/>
                <a:cs typeface="Calibri" pitchFamily="34" charset="-120"/>
              </a:rPr>
              <a:t>one uncropped image</a:t>
            </a:r>
            <a:endParaRPr lang="en-US" sz="1000" dirty="0"/>
          </a:p>
        </p:txBody>
      </p:sp>
      <p:sp>
        <p:nvSpPr>
          <p:cNvPr id="7" name="Shape 5"/>
          <p:cNvSpPr/>
          <p:nvPr/>
        </p:nvSpPr>
        <p:spPr>
          <a:xfrm>
            <a:off x="2510942" y="2395728"/>
            <a:ext cx="137160" cy="146304"/>
          </a:xfrm>
          <a:prstGeom prst="downArrow">
            <a:avLst/>
          </a:prstGeom>
          <a:solidFill>
            <a:srgbClr val="E1E0D9"/>
          </a:solidFill>
          <a:ln w="12700">
            <a:solidFill>
              <a:srgbClr val="E1E0D9"/>
            </a:solidFill>
            <a:prstDash val="solid"/>
          </a:ln>
        </p:spPr>
      </p:sp>
      <p:sp>
        <p:nvSpPr>
          <p:cNvPr id="8" name="Shape 6"/>
          <p:cNvSpPr/>
          <p:nvPr/>
        </p:nvSpPr>
        <p:spPr>
          <a:xfrm>
            <a:off x="566928" y="2560320"/>
            <a:ext cx="4025189" cy="566928"/>
          </a:xfrm>
          <a:prstGeom prst="roundRect">
            <a:avLst>
              <a:gd name="adj" fmla="val 9677"/>
            </a:avLst>
          </a:prstGeom>
          <a:solidFill>
            <a:srgbClr val="2A78D6"/>
          </a:solidFill>
          <a:ln w="12700">
            <a:solidFill>
              <a:srgbClr val="2A78D6"/>
            </a:solidFill>
            <a:prstDash val="solid"/>
          </a:ln>
        </p:spPr>
      </p:sp>
      <p:sp>
        <p:nvSpPr>
          <p:cNvPr id="9" name="Text 7"/>
          <p:cNvSpPr txBox="1"/>
          <p:nvPr/>
        </p:nvSpPr>
        <p:spPr>
          <a:xfrm>
            <a:off x="731520" y="2615184"/>
            <a:ext cx="3696005" cy="27432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ResNet18 embedding</a:t>
            </a:r>
            <a:endParaRPr lang="en-US" sz="1350" dirty="0"/>
          </a:p>
        </p:txBody>
      </p:sp>
      <p:sp>
        <p:nvSpPr>
          <p:cNvPr id="10" name="Text 8"/>
          <p:cNvSpPr txBox="1"/>
          <p:nvPr/>
        </p:nvSpPr>
        <p:spPr>
          <a:xfrm>
            <a:off x="731520" y="2862072"/>
            <a:ext cx="3696005" cy="219456"/>
          </a:xfrm>
          <a:prstGeom prst="rect">
            <a:avLst/>
          </a:prstGeom>
          <a:noFill/>
          <a:ln/>
        </p:spPr>
        <p:txBody>
          <a:bodyPr wrap="square" lIns="0" tIns="0" rIns="0" bIns="0" rtlCol="0" anchor="ctr"/>
          <a:lstStyle/>
          <a:p>
            <a:pPr indent="0" marL="0">
              <a:buNone/>
            </a:pPr>
            <a:r>
              <a:rPr lang="en-US" sz="1000" dirty="0">
                <a:solidFill>
                  <a:srgbClr val="DDE6F2"/>
                </a:solidFill>
                <a:latin typeface="Calibri" pitchFamily="34" charset="0"/>
                <a:ea typeface="Calibri" pitchFamily="34" charset="-122"/>
                <a:cs typeface="Calibri" pitchFamily="34" charset="-120"/>
              </a:rPr>
              <a:t>ArcFace-trained · 512-d · L2-normalised</a:t>
            </a:r>
            <a:endParaRPr lang="en-US" sz="1000" dirty="0"/>
          </a:p>
        </p:txBody>
      </p:sp>
      <p:sp>
        <p:nvSpPr>
          <p:cNvPr id="11" name="Shape 9"/>
          <p:cNvSpPr/>
          <p:nvPr/>
        </p:nvSpPr>
        <p:spPr>
          <a:xfrm>
            <a:off x="2510942" y="3145536"/>
            <a:ext cx="137160" cy="146304"/>
          </a:xfrm>
          <a:prstGeom prst="downArrow">
            <a:avLst/>
          </a:prstGeom>
          <a:solidFill>
            <a:srgbClr val="E1E0D9"/>
          </a:solidFill>
          <a:ln w="12700">
            <a:solidFill>
              <a:srgbClr val="E1E0D9"/>
            </a:solidFill>
            <a:prstDash val="solid"/>
          </a:ln>
        </p:spPr>
      </p:sp>
      <p:sp>
        <p:nvSpPr>
          <p:cNvPr id="12" name="Shape 10"/>
          <p:cNvSpPr/>
          <p:nvPr/>
        </p:nvSpPr>
        <p:spPr>
          <a:xfrm>
            <a:off x="566928" y="3310128"/>
            <a:ext cx="4025189" cy="566928"/>
          </a:xfrm>
          <a:prstGeom prst="roundRect">
            <a:avLst>
              <a:gd name="adj" fmla="val 9677"/>
            </a:avLst>
          </a:prstGeom>
          <a:solidFill>
            <a:srgbClr val="2A78D6"/>
          </a:solidFill>
          <a:ln w="12700">
            <a:solidFill>
              <a:srgbClr val="2A78D6"/>
            </a:solidFill>
            <a:prstDash val="solid"/>
          </a:ln>
        </p:spPr>
      </p:sp>
      <p:sp>
        <p:nvSpPr>
          <p:cNvPr id="13" name="Text 11"/>
          <p:cNvSpPr txBox="1"/>
          <p:nvPr/>
        </p:nvSpPr>
        <p:spPr>
          <a:xfrm>
            <a:off x="731520" y="3364992"/>
            <a:ext cx="3696005" cy="27432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Search 81 enrolled identities</a:t>
            </a:r>
            <a:endParaRPr lang="en-US" sz="1350" dirty="0"/>
          </a:p>
        </p:txBody>
      </p:sp>
      <p:sp>
        <p:nvSpPr>
          <p:cNvPr id="14" name="Text 12"/>
          <p:cNvSpPr txBox="1"/>
          <p:nvPr/>
        </p:nvSpPr>
        <p:spPr>
          <a:xfrm>
            <a:off x="731520" y="3611880"/>
            <a:ext cx="3696005" cy="219456"/>
          </a:xfrm>
          <a:prstGeom prst="rect">
            <a:avLst/>
          </a:prstGeom>
          <a:noFill/>
          <a:ln/>
        </p:spPr>
        <p:txBody>
          <a:bodyPr wrap="square" lIns="0" tIns="0" rIns="0" bIns="0" rtlCol="0" anchor="ctr"/>
          <a:lstStyle/>
          <a:p>
            <a:pPr indent="0" marL="0">
              <a:buNone/>
            </a:pPr>
            <a:r>
              <a:rPr lang="en-US" sz="1000" dirty="0">
                <a:solidFill>
                  <a:srgbClr val="DDE6F2"/>
                </a:solidFill>
                <a:latin typeface="Calibri" pitchFamily="34" charset="0"/>
                <a:ea typeface="Calibri" pitchFamily="34" charset="-122"/>
                <a:cs typeface="Calibri" pitchFamily="34" charset="-120"/>
              </a:rPr>
              <a:t>FAISS · cosine vs class prototypes</a:t>
            </a:r>
            <a:endParaRPr lang="en-US" sz="1000" dirty="0"/>
          </a:p>
        </p:txBody>
      </p:sp>
      <p:sp>
        <p:nvSpPr>
          <p:cNvPr id="15" name="Shape 13"/>
          <p:cNvSpPr/>
          <p:nvPr/>
        </p:nvSpPr>
        <p:spPr>
          <a:xfrm>
            <a:off x="2510942" y="3895344"/>
            <a:ext cx="137160" cy="146304"/>
          </a:xfrm>
          <a:prstGeom prst="downArrow">
            <a:avLst/>
          </a:prstGeom>
          <a:solidFill>
            <a:srgbClr val="E1E0D9"/>
          </a:solidFill>
          <a:ln w="12700">
            <a:solidFill>
              <a:srgbClr val="E1E0D9"/>
            </a:solidFill>
            <a:prstDash val="solid"/>
          </a:ln>
        </p:spPr>
      </p:sp>
      <p:sp>
        <p:nvSpPr>
          <p:cNvPr id="16" name="Shape 14"/>
          <p:cNvSpPr/>
          <p:nvPr/>
        </p:nvSpPr>
        <p:spPr>
          <a:xfrm>
            <a:off x="566928" y="4059936"/>
            <a:ext cx="4025189" cy="566928"/>
          </a:xfrm>
          <a:prstGeom prst="roundRect">
            <a:avLst>
              <a:gd name="adj" fmla="val 9677"/>
            </a:avLst>
          </a:prstGeom>
          <a:solidFill>
            <a:srgbClr val="EB6834"/>
          </a:solidFill>
          <a:ln w="12700">
            <a:solidFill>
              <a:srgbClr val="EB6834"/>
            </a:solidFill>
            <a:prstDash val="solid"/>
          </a:ln>
        </p:spPr>
      </p:sp>
      <p:sp>
        <p:nvSpPr>
          <p:cNvPr id="17" name="Text 15"/>
          <p:cNvSpPr txBox="1"/>
          <p:nvPr/>
        </p:nvSpPr>
        <p:spPr>
          <a:xfrm>
            <a:off x="731520" y="4114800"/>
            <a:ext cx="3696005" cy="27432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Open-set threshold  0.938</a:t>
            </a:r>
            <a:endParaRPr lang="en-US" sz="1350" dirty="0"/>
          </a:p>
        </p:txBody>
      </p:sp>
      <p:sp>
        <p:nvSpPr>
          <p:cNvPr id="18" name="Text 16"/>
          <p:cNvSpPr txBox="1"/>
          <p:nvPr/>
        </p:nvSpPr>
        <p:spPr>
          <a:xfrm>
            <a:off x="731520" y="4361688"/>
            <a:ext cx="3696005" cy="219456"/>
          </a:xfrm>
          <a:prstGeom prst="rect">
            <a:avLst/>
          </a:prstGeom>
          <a:noFill/>
          <a:ln/>
        </p:spPr>
        <p:txBody>
          <a:bodyPr wrap="square" lIns="0" tIns="0" rIns="0" bIns="0" rtlCol="0" anchor="ctr"/>
          <a:lstStyle/>
          <a:p>
            <a:pPr indent="0" marL="0">
              <a:buNone/>
            </a:pPr>
            <a:r>
              <a:rPr lang="en-US" sz="1000" dirty="0">
                <a:solidFill>
                  <a:srgbClr val="DDE6F2"/>
                </a:solidFill>
                <a:latin typeface="Calibri" pitchFamily="34" charset="0"/>
                <a:ea typeface="Calibri" pitchFamily="34" charset="-122"/>
                <a:cs typeface="Calibri" pitchFamily="34" charset="-120"/>
              </a:rPr>
              <a:t>accept · or refuse</a:t>
            </a:r>
            <a:endParaRPr lang="en-US" sz="1000" dirty="0"/>
          </a:p>
        </p:txBody>
      </p:sp>
      <p:sp>
        <p:nvSpPr>
          <p:cNvPr id="19" name="Shape 17"/>
          <p:cNvSpPr/>
          <p:nvPr/>
        </p:nvSpPr>
        <p:spPr>
          <a:xfrm>
            <a:off x="2510942" y="4645152"/>
            <a:ext cx="137160" cy="146304"/>
          </a:xfrm>
          <a:prstGeom prst="downArrow">
            <a:avLst/>
          </a:prstGeom>
          <a:solidFill>
            <a:srgbClr val="E1E0D9"/>
          </a:solidFill>
          <a:ln w="12700">
            <a:solidFill>
              <a:srgbClr val="E1E0D9"/>
            </a:solidFill>
            <a:prstDash val="solid"/>
          </a:ln>
        </p:spPr>
      </p:sp>
      <p:sp>
        <p:nvSpPr>
          <p:cNvPr id="20" name="Shape 18"/>
          <p:cNvSpPr/>
          <p:nvPr/>
        </p:nvSpPr>
        <p:spPr>
          <a:xfrm>
            <a:off x="566928" y="4809744"/>
            <a:ext cx="4025189" cy="566928"/>
          </a:xfrm>
          <a:prstGeom prst="roundRect">
            <a:avLst>
              <a:gd name="adj" fmla="val 9677"/>
            </a:avLst>
          </a:prstGeom>
          <a:solidFill>
            <a:srgbClr val="0E2A47"/>
          </a:solidFill>
          <a:ln w="12700">
            <a:solidFill>
              <a:srgbClr val="0E2A47"/>
            </a:solidFill>
            <a:prstDash val="solid"/>
          </a:ln>
        </p:spPr>
      </p:sp>
      <p:sp>
        <p:nvSpPr>
          <p:cNvPr id="21" name="Text 19"/>
          <p:cNvSpPr txBox="1"/>
          <p:nvPr/>
        </p:nvSpPr>
        <p:spPr>
          <a:xfrm>
            <a:off x="731520" y="4864608"/>
            <a:ext cx="3696005" cy="27432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Ranked shortlist for a keeper</a:t>
            </a:r>
            <a:endParaRPr lang="en-US" sz="1350" dirty="0"/>
          </a:p>
        </p:txBody>
      </p:sp>
      <p:sp>
        <p:nvSpPr>
          <p:cNvPr id="22" name="Text 20"/>
          <p:cNvSpPr txBox="1"/>
          <p:nvPr/>
        </p:nvSpPr>
        <p:spPr>
          <a:xfrm>
            <a:off x="731520" y="5111496"/>
            <a:ext cx="3696005" cy="219456"/>
          </a:xfrm>
          <a:prstGeom prst="rect">
            <a:avLst/>
          </a:prstGeom>
          <a:noFill/>
          <a:ln/>
        </p:spPr>
        <p:txBody>
          <a:bodyPr wrap="square" lIns="0" tIns="0" rIns="0" bIns="0" rtlCol="0" anchor="ctr"/>
          <a:lstStyle/>
          <a:p>
            <a:pPr indent="0" marL="0">
              <a:buNone/>
            </a:pPr>
            <a:r>
              <a:rPr lang="en-US" sz="1000" dirty="0">
                <a:solidFill>
                  <a:srgbClr val="DDE6F2"/>
                </a:solidFill>
                <a:latin typeface="Calibri" pitchFamily="34" charset="0"/>
                <a:ea typeface="Calibri" pitchFamily="34" charset="-122"/>
                <a:cs typeface="Calibri" pitchFamily="34" charset="-120"/>
              </a:rPr>
              <a:t>identity + alternatives, human confirms</a:t>
            </a:r>
            <a:endParaRPr lang="en-US" sz="1000" dirty="0"/>
          </a:p>
        </p:txBody>
      </p:sp>
      <p:sp>
        <p:nvSpPr>
          <p:cNvPr id="23" name="Shape 21"/>
          <p:cNvSpPr/>
          <p:nvPr/>
        </p:nvSpPr>
        <p:spPr>
          <a:xfrm>
            <a:off x="4637837" y="4261104"/>
            <a:ext cx="384048" cy="164592"/>
          </a:xfrm>
          <a:prstGeom prst="rightArrow">
            <a:avLst/>
          </a:prstGeom>
          <a:solidFill>
            <a:srgbClr val="EB6834"/>
          </a:solidFill>
          <a:ln w="12700">
            <a:solidFill>
              <a:srgbClr val="EB6834"/>
            </a:solidFill>
            <a:prstDash val="solid"/>
          </a:ln>
        </p:spPr>
      </p:sp>
      <p:sp>
        <p:nvSpPr>
          <p:cNvPr id="24" name="Text 22"/>
          <p:cNvSpPr txBox="1"/>
          <p:nvPr/>
        </p:nvSpPr>
        <p:spPr>
          <a:xfrm>
            <a:off x="5067605" y="4078224"/>
            <a:ext cx="1991563" cy="274320"/>
          </a:xfrm>
          <a:prstGeom prst="rect">
            <a:avLst/>
          </a:prstGeom>
          <a:noFill/>
          <a:ln/>
        </p:spPr>
        <p:txBody>
          <a:bodyPr wrap="square" lIns="0" tIns="0" rIns="0" bIns="0" rtlCol="0" anchor="ctr"/>
          <a:lstStyle/>
          <a:p>
            <a:pPr indent="0" marL="0">
              <a:buNone/>
            </a:pPr>
            <a:r>
              <a:rPr lang="en-US" sz="1200" b="1" dirty="0">
                <a:solidFill>
                  <a:srgbClr val="EB6834"/>
                </a:solidFill>
                <a:latin typeface="Calibri" pitchFamily="34" charset="0"/>
                <a:ea typeface="Calibri" pitchFamily="34" charset="-122"/>
                <a:cs typeface="Calibri" pitchFamily="34" charset="-120"/>
              </a:rPr>
              <a:t>“not a bird I know”</a:t>
            </a:r>
            <a:endParaRPr lang="en-US" sz="1200" dirty="0"/>
          </a:p>
        </p:txBody>
      </p:sp>
      <p:sp>
        <p:nvSpPr>
          <p:cNvPr id="25" name="Text 23"/>
          <p:cNvSpPr txBox="1"/>
          <p:nvPr/>
        </p:nvSpPr>
        <p:spPr>
          <a:xfrm>
            <a:off x="5067605" y="4334256"/>
            <a:ext cx="1991563" cy="237744"/>
          </a:xfrm>
          <a:prstGeom prst="rect">
            <a:avLst/>
          </a:prstGeom>
          <a:noFill/>
          <a:ln/>
        </p:spPr>
        <p:txBody>
          <a:bodyPr wrap="square" lIns="0" tIns="0" rIns="0" bIns="0" rtlCol="0" anchor="ctr"/>
          <a:lstStyle/>
          <a:p>
            <a:pPr indent="0" marL="0">
              <a:buNone/>
            </a:pPr>
            <a:r>
              <a:rPr lang="en-US" sz="1000" dirty="0">
                <a:solidFill>
                  <a:srgbClr val="6E7681"/>
                </a:solidFill>
                <a:latin typeface="Calibri" pitchFamily="34" charset="0"/>
                <a:ea typeface="Calibri" pitchFamily="34" charset="-122"/>
                <a:cs typeface="Calibri" pitchFamily="34" charset="-120"/>
              </a:rPr>
              <a:t>best score below 0.938</a:t>
            </a:r>
            <a:endParaRPr lang="en-US" sz="1000" dirty="0"/>
          </a:p>
        </p:txBody>
      </p:sp>
      <p:sp>
        <p:nvSpPr>
          <p:cNvPr id="26" name="Shape 24"/>
          <p:cNvSpPr/>
          <p:nvPr/>
        </p:nvSpPr>
        <p:spPr>
          <a:xfrm>
            <a:off x="7635240" y="1810512"/>
            <a:ext cx="4023360" cy="1691640"/>
          </a:xfrm>
          <a:prstGeom prst="roundRect">
            <a:avLst>
              <a:gd name="adj" fmla="val 3243"/>
            </a:avLst>
          </a:prstGeom>
          <a:solidFill>
            <a:srgbClr val="F1F0EC"/>
          </a:solidFill>
          <a:ln w="12700">
            <a:solidFill>
              <a:srgbClr val="F1F0EC"/>
            </a:solidFill>
            <a:prstDash val="solid"/>
          </a:ln>
        </p:spPr>
      </p:sp>
      <p:sp>
        <p:nvSpPr>
          <p:cNvPr id="27" name="Text 25"/>
          <p:cNvSpPr txBox="1"/>
          <p:nvPr/>
        </p:nvSpPr>
        <p:spPr>
          <a:xfrm>
            <a:off x="7863840" y="1947672"/>
            <a:ext cx="3566160" cy="502920"/>
          </a:xfrm>
          <a:prstGeom prst="rect">
            <a:avLst/>
          </a:prstGeom>
          <a:noFill/>
          <a:ln/>
        </p:spPr>
        <p:txBody>
          <a:bodyPr wrap="square" lIns="0" tIns="0" rIns="0" bIns="0" rtlCol="0" anchor="ctr"/>
          <a:lstStyle/>
          <a:p>
            <a:pPr indent="0" marL="0">
              <a:buNone/>
            </a:pPr>
            <a:r>
              <a:rPr lang="en-US" sz="3000" b="1" dirty="0">
                <a:solidFill>
                  <a:srgbClr val="0E2A47"/>
                </a:solidFill>
                <a:latin typeface="Cambria" pitchFamily="34" charset="0"/>
                <a:ea typeface="Cambria" pitchFamily="34" charset="-122"/>
                <a:cs typeface="Cambria" pitchFamily="34" charset="-120"/>
              </a:rPr>
              <a:t>79</a:t>
            </a:r>
            <a:pPr indent="0" marL="0">
              <a:buNone/>
            </a:pPr>
            <a:r>
              <a:rPr lang="en-US" sz="1300" dirty="0">
                <a:solidFill>
                  <a:srgbClr val="24303C"/>
                </a:solidFill>
              </a:rPr>
              <a:t>  trained on          </a:t>
            </a:r>
            <a:pPr indent="0" marL="0">
              <a:buNone/>
            </a:pPr>
            <a:r>
              <a:rPr lang="en-US" sz="3000" b="1" dirty="0">
                <a:solidFill>
                  <a:srgbClr val="EB6834"/>
                </a:solidFill>
                <a:latin typeface="Cambria" pitchFamily="34" charset="0"/>
                <a:ea typeface="Cambria" pitchFamily="34" charset="-122"/>
                <a:cs typeface="Cambria" pitchFamily="34" charset="-120"/>
              </a:rPr>
              <a:t>81</a:t>
            </a:r>
            <a:pPr indent="0" marL="0">
              <a:buNone/>
            </a:pPr>
            <a:r>
              <a:rPr lang="en-US" sz="1300" dirty="0">
                <a:solidFill>
                  <a:srgbClr val="24303C"/>
                </a:solidFill>
              </a:rPr>
              <a:t>  enrolled</a:t>
            </a:r>
            <a:endParaRPr lang="en-US" sz="3000" dirty="0"/>
          </a:p>
        </p:txBody>
      </p:sp>
      <p:sp>
        <p:nvSpPr>
          <p:cNvPr id="28" name="Text 26"/>
          <p:cNvSpPr txBox="1"/>
          <p:nvPr/>
        </p:nvSpPr>
        <p:spPr>
          <a:xfrm>
            <a:off x="7863840" y="2468880"/>
            <a:ext cx="3566160" cy="960120"/>
          </a:xfrm>
          <a:prstGeom prst="rect">
            <a:avLst/>
          </a:prstGeom>
          <a:noFill/>
          <a:ln/>
        </p:spPr>
        <p:txBody>
          <a:bodyPr wrap="square" lIns="0" tIns="0" rIns="0" bIns="0" rtlCol="0" anchor="t"/>
          <a:lstStyle/>
          <a:p>
            <a:pPr indent="0" marL="0">
              <a:lnSpc>
                <a:spcPct val="108000"/>
              </a:lnSpc>
              <a:buNone/>
            </a:pPr>
            <a:r>
              <a:rPr lang="en-US" sz="1150" dirty="0">
                <a:solidFill>
                  <a:srgbClr val="24303C"/>
                </a:solidFill>
                <a:latin typeface="Calibri" pitchFamily="34" charset="0"/>
                <a:ea typeface="Calibri" pitchFamily="34" charset="-122"/>
                <a:cs typeface="Calibri" pitchFamily="34" charset="-120"/>
              </a:rPr>
              <a:t>Smew and Skunk have one and two photographs. Never trained on, in the gallery, searchable. A softmax head would need a new output layer and a full retrain for each arrival. The deployed model has no held-out partition of its own — the cross-validated 0.559 is its estimate.</a:t>
            </a:r>
            <a:endParaRPr lang="en-US" sz="1150" dirty="0"/>
          </a:p>
        </p:txBody>
      </p:sp>
      <p:sp>
        <p:nvSpPr>
          <p:cNvPr id="29" name="Shape 27"/>
          <p:cNvSpPr/>
          <p:nvPr/>
        </p:nvSpPr>
        <p:spPr>
          <a:xfrm>
            <a:off x="7635240" y="3730752"/>
            <a:ext cx="4023360" cy="1828800"/>
          </a:xfrm>
          <a:prstGeom prst="roundRect">
            <a:avLst>
              <a:gd name="adj" fmla="val 3000"/>
            </a:avLst>
          </a:prstGeom>
          <a:solidFill>
            <a:srgbClr val="F1F0EC"/>
          </a:solidFill>
          <a:ln w="12700">
            <a:solidFill>
              <a:srgbClr val="F1F0EC"/>
            </a:solidFill>
            <a:prstDash val="solid"/>
          </a:ln>
        </p:spPr>
      </p:sp>
      <p:sp>
        <p:nvSpPr>
          <p:cNvPr id="30" name="Text 28"/>
          <p:cNvSpPr txBox="1"/>
          <p:nvPr/>
        </p:nvSpPr>
        <p:spPr>
          <a:xfrm>
            <a:off x="7863840" y="3895344"/>
            <a:ext cx="3566160" cy="274320"/>
          </a:xfrm>
          <a:prstGeom prst="rect">
            <a:avLst/>
          </a:prstGeom>
          <a:noFill/>
          <a:ln/>
        </p:spPr>
        <p:txBody>
          <a:bodyPr wrap="square" lIns="0" tIns="0" rIns="0" bIns="0" rtlCol="0" anchor="ctr"/>
          <a:lstStyle/>
          <a:p>
            <a:pPr indent="0" marL="0">
              <a:buNone/>
            </a:pPr>
            <a:r>
              <a:rPr lang="en-US" sz="1300" b="1" dirty="0">
                <a:solidFill>
                  <a:srgbClr val="EB6834"/>
                </a:solidFill>
                <a:latin typeface="Calibri" pitchFamily="34" charset="0"/>
                <a:ea typeface="Calibri" pitchFamily="34" charset="-122"/>
                <a:cs typeface="Calibri" pitchFamily="34" charset="-120"/>
              </a:rPr>
              <a:t>It refuses in two ways</a:t>
            </a:r>
            <a:endParaRPr lang="en-US" sz="1300" dirty="0"/>
          </a:p>
        </p:txBody>
      </p:sp>
      <p:sp>
        <p:nvSpPr>
          <p:cNvPr id="31" name="Text 29"/>
          <p:cNvSpPr txBox="1"/>
          <p:nvPr/>
        </p:nvSpPr>
        <p:spPr>
          <a:xfrm>
            <a:off x="7863840" y="4224528"/>
            <a:ext cx="3566160" cy="1234440"/>
          </a:xfrm>
          <a:prstGeom prst="rect">
            <a:avLst/>
          </a:prstGeom>
          <a:noFill/>
          <a:ln/>
        </p:spPr>
        <p:txBody>
          <a:bodyPr wrap="square" lIns="0" tIns="0" rIns="0" bIns="0" rtlCol="0" anchor="t"/>
          <a:lstStyle/>
          <a:p>
            <a:pPr indent="0" marL="0">
              <a:lnSpc>
                <a:spcPct val="108000"/>
              </a:lnSpc>
              <a:buNone/>
            </a:pPr>
            <a:r>
              <a:rPr lang="en-US" sz="1150" dirty="0">
                <a:solidFill>
                  <a:srgbClr val="24303C"/>
                </a:solidFill>
                <a:latin typeface="Calibri" pitchFamily="34" charset="0"/>
                <a:ea typeface="Calibri" pitchFamily="34" charset="-122"/>
                <a:cs typeface="Calibri" pitchFamily="34" charset="-120"/>
              </a:rPr>
              <a:t>Below 0.938 it returns “not a bird I know” and asks for a clearer photograph. Above it, but with a top-two margin under 0.05, it returns a shortlist and asks the keeper to confirm. It never emits a name it is not confident in.</a:t>
            </a:r>
            <a:endParaRPr lang="en-US" sz="1150" dirty="0"/>
          </a:p>
        </p:txBody>
      </p:sp>
      <p:sp>
        <p:nvSpPr>
          <p:cNvPr id="32" name="Text 30"/>
          <p:cNvSpPr txBox="1"/>
          <p:nvPr/>
        </p:nvSpPr>
        <p:spPr>
          <a:xfrm>
            <a:off x="566928" y="6437376"/>
            <a:ext cx="7772400" cy="256032"/>
          </a:xfrm>
          <a:prstGeom prst="rect">
            <a:avLst/>
          </a:prstGeom>
          <a:noFill/>
          <a:ln/>
        </p:spPr>
        <p:txBody>
          <a:bodyPr wrap="square" lIns="0" tIns="0" rIns="0" bIns="0" rtlCol="0" anchor="ctr"/>
          <a:lstStyle/>
          <a:p>
            <a:pPr indent="0" marL="0">
              <a:buNone/>
            </a:pPr>
            <a:r>
              <a:rPr lang="en-US" sz="1000" dirty="0">
                <a:solidFill>
                  <a:srgbClr val="A9AEB5"/>
                </a:solidFill>
                <a:latin typeface="Calibri" pitchFamily="34" charset="0"/>
                <a:ea typeface="Calibri" pitchFamily="34" charset="-122"/>
                <a:cs typeface="Calibri" pitchFamily="34" charset="-120"/>
              </a:rPr>
              <a:t>Automatic identification of Humboldt penguins · ZSL London Zoo</a:t>
            </a:r>
            <a:endParaRPr lang="en-US" sz="1000" dirty="0"/>
          </a:p>
        </p:txBody>
      </p:sp>
      <p:sp>
        <p:nvSpPr>
          <p:cNvPr id="33" name="Text 31"/>
          <p:cNvSpPr txBox="1"/>
          <p:nvPr/>
        </p:nvSpPr>
        <p:spPr>
          <a:xfrm>
            <a:off x="11076127" y="6437376"/>
            <a:ext cx="548640" cy="256032"/>
          </a:xfrm>
          <a:prstGeom prst="rect">
            <a:avLst/>
          </a:prstGeom>
          <a:noFill/>
          <a:ln/>
        </p:spPr>
        <p:txBody>
          <a:bodyPr wrap="square" lIns="0" tIns="0" rIns="0" bIns="0" rtlCol="0" anchor="ctr"/>
          <a:lstStyle/>
          <a:p>
            <a:pPr algn="r" indent="0" marL="0">
              <a:buNone/>
            </a:pPr>
            <a:r>
              <a:rPr lang="en-US" sz="1000" dirty="0">
                <a:solidFill>
                  <a:srgbClr val="A9AEB5"/>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CFCFB"/>
        </a:solidFill>
      </p:bgPr>
    </p:bg>
    <p:spTree>
      <p:nvGrpSpPr>
        <p:cNvPr id="1" name=""/>
        <p:cNvGrpSpPr/>
        <p:nvPr/>
      </p:nvGrpSpPr>
      <p:grpSpPr>
        <a:xfrm>
          <a:off x="0" y="0"/>
          <a:ext cx="0" cy="0"/>
          <a:chOff x="0" y="0"/>
          <a:chExt cx="0" cy="0"/>
        </a:xfrm>
      </p:grpSpPr>
      <p:sp>
        <p:nvSpPr>
          <p:cNvPr id="2" name="Text 0"/>
          <p:cNvSpPr txBox="1"/>
          <p:nvPr/>
        </p:nvSpPr>
        <p:spPr>
          <a:xfrm>
            <a:off x="566928" y="146304"/>
            <a:ext cx="11057839" cy="219456"/>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SCOPE</a:t>
            </a:r>
            <a:endParaRPr lang="en-US" sz="1100" dirty="0"/>
          </a:p>
        </p:txBody>
      </p:sp>
      <p:sp>
        <p:nvSpPr>
          <p:cNvPr id="3" name="Text 1"/>
          <p:cNvSpPr txBox="1"/>
          <p:nvPr/>
        </p:nvSpPr>
        <p:spPr>
          <a:xfrm>
            <a:off x="566928" y="384048"/>
            <a:ext cx="11057839" cy="658368"/>
          </a:xfrm>
          <a:prstGeom prst="rect">
            <a:avLst/>
          </a:prstGeom>
          <a:noFill/>
          <a:ln/>
        </p:spPr>
        <p:txBody>
          <a:bodyPr wrap="square" lIns="0" tIns="0" rIns="0" bIns="0" rtlCol="0" anchor="t"/>
          <a:lstStyle/>
          <a:p>
            <a:pPr algn="l" indent="0" marL="0">
              <a:lnSpc>
                <a:spcPct val="95000"/>
              </a:lnSpc>
              <a:buNone/>
            </a:pPr>
            <a:r>
              <a:rPr lang="en-US" sz="2700" b="1" dirty="0">
                <a:solidFill>
                  <a:srgbClr val="0E2A47"/>
                </a:solidFill>
                <a:latin typeface="Cambria" pitchFamily="34" charset="0"/>
                <a:ea typeface="Cambria" pitchFamily="34" charset="-122"/>
                <a:cs typeface="Cambria" pitchFamily="34" charset="-120"/>
              </a:rPr>
              <a:t>What this study does not show</a:t>
            </a:r>
            <a:endParaRPr lang="en-US" sz="2700" dirty="0"/>
          </a:p>
        </p:txBody>
      </p:sp>
      <p:sp>
        <p:nvSpPr>
          <p:cNvPr id="4" name="Shape 2"/>
          <p:cNvSpPr/>
          <p:nvPr/>
        </p:nvSpPr>
        <p:spPr>
          <a:xfrm>
            <a:off x="566928" y="1380744"/>
            <a:ext cx="182880" cy="182880"/>
          </a:xfrm>
          <a:prstGeom prst="ellipse">
            <a:avLst/>
          </a:prstGeom>
          <a:solidFill>
            <a:srgbClr val="EB6834"/>
          </a:solidFill>
          <a:ln w="12700">
            <a:solidFill>
              <a:srgbClr val="EB6834"/>
            </a:solidFill>
            <a:prstDash val="solid"/>
          </a:ln>
        </p:spPr>
      </p:sp>
      <p:sp>
        <p:nvSpPr>
          <p:cNvPr id="5" name="Text 3"/>
          <p:cNvSpPr txBox="1"/>
          <p:nvPr/>
        </p:nvSpPr>
        <p:spPr>
          <a:xfrm>
            <a:off x="950976" y="1325880"/>
            <a:ext cx="3794760" cy="566928"/>
          </a:xfrm>
          <a:prstGeom prst="rect">
            <a:avLst/>
          </a:prstGeom>
          <a:noFill/>
          <a:ln/>
        </p:spPr>
        <p:txBody>
          <a:bodyPr wrap="square" lIns="0" tIns="0" rIns="0" bIns="0" rtlCol="0" anchor="t"/>
          <a:lstStyle/>
          <a:p>
            <a:pPr indent="0" marL="0">
              <a:lnSpc>
                <a:spcPct val="95000"/>
              </a:lnSpc>
              <a:buNone/>
            </a:pPr>
            <a:r>
              <a:rPr lang="en-US" sz="1450" b="1" dirty="0">
                <a:solidFill>
                  <a:srgbClr val="0E2A47"/>
                </a:solidFill>
                <a:latin typeface="Calibri" pitchFamily="34" charset="0"/>
                <a:ea typeface="Calibri" pitchFamily="34" charset="-122"/>
                <a:cs typeface="Calibri" pitchFamily="34" charset="-120"/>
              </a:rPr>
              <a:t>No end-to-end test</a:t>
            </a:r>
            <a:endParaRPr lang="en-US" sz="1450" dirty="0"/>
          </a:p>
        </p:txBody>
      </p:sp>
      <p:sp>
        <p:nvSpPr>
          <p:cNvPr id="6" name="Text 4"/>
          <p:cNvSpPr txBox="1"/>
          <p:nvPr/>
        </p:nvSpPr>
        <p:spPr>
          <a:xfrm>
            <a:off x="4910328" y="1325880"/>
            <a:ext cx="6714439" cy="960120"/>
          </a:xfrm>
          <a:prstGeom prst="rect">
            <a:avLst/>
          </a:prstGeom>
          <a:noFill/>
          <a:ln/>
        </p:spPr>
        <p:txBody>
          <a:bodyPr wrap="square" lIns="0" tIns="0" rIns="0" bIns="0" rtlCol="0" anchor="t"/>
          <a:lstStyle/>
          <a:p>
            <a:pPr indent="0" marL="0">
              <a:lnSpc>
                <a:spcPct val="108000"/>
              </a:lnSpc>
              <a:buNone/>
            </a:pPr>
            <a:r>
              <a:rPr lang="en-US" sz="1250" dirty="0">
                <a:solidFill>
                  <a:srgbClr val="24303C"/>
                </a:solidFill>
                <a:latin typeface="Calibri" pitchFamily="34" charset="0"/>
                <a:ea typeface="Calibri" pitchFamily="34" charset="-122"/>
                <a:cs typeface="Calibri" pitchFamily="34" charset="-120"/>
              </a:rPr>
              <a:t>Identification is measured from the archive as photographed. There is no detector in the deployed path, so every claim is conditional on inputs that resemble the existing archive.</a:t>
            </a:r>
            <a:endParaRPr lang="en-US" sz="1250" dirty="0"/>
          </a:p>
        </p:txBody>
      </p:sp>
      <p:sp>
        <p:nvSpPr>
          <p:cNvPr id="7" name="Shape 5"/>
          <p:cNvSpPr/>
          <p:nvPr/>
        </p:nvSpPr>
        <p:spPr>
          <a:xfrm>
            <a:off x="566928" y="2587752"/>
            <a:ext cx="182880" cy="182880"/>
          </a:xfrm>
          <a:prstGeom prst="ellipse">
            <a:avLst/>
          </a:prstGeom>
          <a:solidFill>
            <a:srgbClr val="EB6834"/>
          </a:solidFill>
          <a:ln w="12700">
            <a:solidFill>
              <a:srgbClr val="EB6834"/>
            </a:solidFill>
            <a:prstDash val="solid"/>
          </a:ln>
        </p:spPr>
      </p:sp>
      <p:sp>
        <p:nvSpPr>
          <p:cNvPr id="8" name="Text 6"/>
          <p:cNvSpPr txBox="1"/>
          <p:nvPr/>
        </p:nvSpPr>
        <p:spPr>
          <a:xfrm>
            <a:off x="950976" y="2532888"/>
            <a:ext cx="3794760" cy="566928"/>
          </a:xfrm>
          <a:prstGeom prst="rect">
            <a:avLst/>
          </a:prstGeom>
          <a:noFill/>
          <a:ln/>
        </p:spPr>
        <p:txBody>
          <a:bodyPr wrap="square" lIns="0" tIns="0" rIns="0" bIns="0" rtlCol="0" anchor="t"/>
          <a:lstStyle/>
          <a:p>
            <a:pPr indent="0" marL="0">
              <a:lnSpc>
                <a:spcPct val="95000"/>
              </a:lnSpc>
              <a:buNone/>
            </a:pPr>
            <a:r>
              <a:rPr lang="en-US" sz="1450" b="1" dirty="0">
                <a:solidFill>
                  <a:srgbClr val="0E2A47"/>
                </a:solidFill>
                <a:latin typeface="Calibri" pitchFamily="34" charset="0"/>
                <a:ea typeface="Calibri" pitchFamily="34" charset="-122"/>
                <a:cs typeface="Calibri" pitchFamily="34" charset="-120"/>
              </a:rPr>
              <a:t>The threshold is transferred, not recalibrated</a:t>
            </a:r>
            <a:endParaRPr lang="en-US" sz="1450" dirty="0"/>
          </a:p>
        </p:txBody>
      </p:sp>
      <p:sp>
        <p:nvSpPr>
          <p:cNvPr id="9" name="Text 7"/>
          <p:cNvSpPr txBox="1"/>
          <p:nvPr/>
        </p:nvSpPr>
        <p:spPr>
          <a:xfrm>
            <a:off x="4910328" y="2532888"/>
            <a:ext cx="6714439" cy="960120"/>
          </a:xfrm>
          <a:prstGeom prst="rect">
            <a:avLst/>
          </a:prstGeom>
          <a:noFill/>
          <a:ln/>
        </p:spPr>
        <p:txBody>
          <a:bodyPr wrap="square" lIns="0" tIns="0" rIns="0" bIns="0" rtlCol="0" anchor="t"/>
          <a:lstStyle/>
          <a:p>
            <a:pPr indent="0" marL="0">
              <a:lnSpc>
                <a:spcPct val="108000"/>
              </a:lnSpc>
              <a:buNone/>
            </a:pPr>
            <a:r>
              <a:rPr lang="en-US" sz="1250" dirty="0">
                <a:solidFill>
                  <a:srgbClr val="24303C"/>
                </a:solidFill>
                <a:latin typeface="Calibri" pitchFamily="34" charset="0"/>
                <a:ea typeface="Calibri" pitchFamily="34" charset="-122"/>
                <a:cs typeface="Calibri" pitchFamily="34" charset="-120"/>
              </a:rPr>
              <a:t>0.938 was measured at 5% false-accept on the cross-validated models. Once all 81 birds are enrolled the realistic unknown is a blurred, rear-facing or non-penguin image — which it has never been calibrated against.</a:t>
            </a:r>
            <a:endParaRPr lang="en-US" sz="1250" dirty="0"/>
          </a:p>
        </p:txBody>
      </p:sp>
      <p:sp>
        <p:nvSpPr>
          <p:cNvPr id="10" name="Shape 8"/>
          <p:cNvSpPr/>
          <p:nvPr/>
        </p:nvSpPr>
        <p:spPr>
          <a:xfrm>
            <a:off x="566928" y="3794760"/>
            <a:ext cx="182880" cy="182880"/>
          </a:xfrm>
          <a:prstGeom prst="ellipse">
            <a:avLst/>
          </a:prstGeom>
          <a:solidFill>
            <a:srgbClr val="EB6834"/>
          </a:solidFill>
          <a:ln w="12700">
            <a:solidFill>
              <a:srgbClr val="EB6834"/>
            </a:solidFill>
            <a:prstDash val="solid"/>
          </a:ln>
        </p:spPr>
      </p:sp>
      <p:sp>
        <p:nvSpPr>
          <p:cNvPr id="11" name="Text 9"/>
          <p:cNvSpPr txBox="1"/>
          <p:nvPr/>
        </p:nvSpPr>
        <p:spPr>
          <a:xfrm>
            <a:off x="950976" y="3739896"/>
            <a:ext cx="3794760" cy="566928"/>
          </a:xfrm>
          <a:prstGeom prst="rect">
            <a:avLst/>
          </a:prstGeom>
          <a:noFill/>
          <a:ln/>
        </p:spPr>
        <p:txBody>
          <a:bodyPr wrap="square" lIns="0" tIns="0" rIns="0" bIns="0" rtlCol="0" anchor="t"/>
          <a:lstStyle/>
          <a:p>
            <a:pPr indent="0" marL="0">
              <a:lnSpc>
                <a:spcPct val="95000"/>
              </a:lnSpc>
              <a:buNone/>
            </a:pPr>
            <a:r>
              <a:rPr lang="en-US" sz="1450" b="1" dirty="0">
                <a:solidFill>
                  <a:srgbClr val="0E2A47"/>
                </a:solidFill>
                <a:latin typeface="Calibri" pitchFamily="34" charset="0"/>
                <a:ea typeface="Calibri" pitchFamily="34" charset="-122"/>
                <a:cs typeface="Calibri" pitchFamily="34" charset="-120"/>
              </a:rPr>
              <a:t>35 of 81 birds</a:t>
            </a:r>
            <a:endParaRPr lang="en-US" sz="1450" dirty="0"/>
          </a:p>
        </p:txBody>
      </p:sp>
      <p:sp>
        <p:nvSpPr>
          <p:cNvPr id="12" name="Text 10"/>
          <p:cNvSpPr txBox="1"/>
          <p:nvPr/>
        </p:nvSpPr>
        <p:spPr>
          <a:xfrm>
            <a:off x="4910328" y="3739896"/>
            <a:ext cx="6714439" cy="960120"/>
          </a:xfrm>
          <a:prstGeom prst="rect">
            <a:avLst/>
          </a:prstGeom>
          <a:noFill/>
          <a:ln/>
        </p:spPr>
        <p:txBody>
          <a:bodyPr wrap="square" lIns="0" tIns="0" rIns="0" bIns="0" rtlCol="0" anchor="t"/>
          <a:lstStyle/>
          <a:p>
            <a:pPr indent="0" marL="0">
              <a:lnSpc>
                <a:spcPct val="108000"/>
              </a:lnSpc>
              <a:buNone/>
            </a:pPr>
            <a:r>
              <a:rPr lang="en-US" sz="1250" dirty="0">
                <a:solidFill>
                  <a:srgbClr val="24303C"/>
                </a:solidFill>
                <a:latin typeface="Calibri" pitchFamily="34" charset="0"/>
                <a:ea typeface="Calibri" pitchFamily="34" charset="-122"/>
                <a:cs typeface="Calibri" pitchFamily="34" charset="-120"/>
              </a:rPr>
              <a:t>The evaluated set is the better-photographed 43% of the colony. Given the session gradient, the rest are likely to be harder, and they were not measured.</a:t>
            </a:r>
            <a:endParaRPr lang="en-US" sz="1250" dirty="0"/>
          </a:p>
        </p:txBody>
      </p:sp>
      <p:sp>
        <p:nvSpPr>
          <p:cNvPr id="13" name="Shape 11"/>
          <p:cNvSpPr/>
          <p:nvPr/>
        </p:nvSpPr>
        <p:spPr>
          <a:xfrm>
            <a:off x="566928" y="5001768"/>
            <a:ext cx="182880" cy="182880"/>
          </a:xfrm>
          <a:prstGeom prst="ellipse">
            <a:avLst/>
          </a:prstGeom>
          <a:solidFill>
            <a:srgbClr val="EB6834"/>
          </a:solidFill>
          <a:ln w="12700">
            <a:solidFill>
              <a:srgbClr val="EB6834"/>
            </a:solidFill>
            <a:prstDash val="solid"/>
          </a:ln>
        </p:spPr>
      </p:sp>
      <p:sp>
        <p:nvSpPr>
          <p:cNvPr id="14" name="Text 12"/>
          <p:cNvSpPr txBox="1"/>
          <p:nvPr/>
        </p:nvSpPr>
        <p:spPr>
          <a:xfrm>
            <a:off x="950976" y="4946904"/>
            <a:ext cx="3794760" cy="566928"/>
          </a:xfrm>
          <a:prstGeom prst="rect">
            <a:avLst/>
          </a:prstGeom>
          <a:noFill/>
          <a:ln/>
        </p:spPr>
        <p:txBody>
          <a:bodyPr wrap="square" lIns="0" tIns="0" rIns="0" bIns="0" rtlCol="0" anchor="t"/>
          <a:lstStyle/>
          <a:p>
            <a:pPr indent="0" marL="0">
              <a:lnSpc>
                <a:spcPct val="95000"/>
              </a:lnSpc>
              <a:buNone/>
            </a:pPr>
            <a:r>
              <a:rPr lang="en-US" sz="1450" b="1" dirty="0">
                <a:solidFill>
                  <a:srgbClr val="0E2A47"/>
                </a:solidFill>
                <a:latin typeface="Calibri" pitchFamily="34" charset="0"/>
                <a:ea typeface="Calibri" pitchFamily="34" charset="-122"/>
                <a:cs typeface="Calibri" pitchFamily="34" charset="-120"/>
              </a:rPr>
              <a:t>One backbone, reconstructed sessions</a:t>
            </a:r>
            <a:endParaRPr lang="en-US" sz="1450" dirty="0"/>
          </a:p>
        </p:txBody>
      </p:sp>
      <p:sp>
        <p:nvSpPr>
          <p:cNvPr id="15" name="Text 13"/>
          <p:cNvSpPr txBox="1"/>
          <p:nvPr/>
        </p:nvSpPr>
        <p:spPr>
          <a:xfrm>
            <a:off x="4910328" y="4946904"/>
            <a:ext cx="6714439" cy="960120"/>
          </a:xfrm>
          <a:prstGeom prst="rect">
            <a:avLst/>
          </a:prstGeom>
          <a:noFill/>
          <a:ln/>
        </p:spPr>
        <p:txBody>
          <a:bodyPr wrap="square" lIns="0" tIns="0" rIns="0" bIns="0" rtlCol="0" anchor="t"/>
          <a:lstStyle/>
          <a:p>
            <a:pPr indent="0" marL="0">
              <a:lnSpc>
                <a:spcPct val="108000"/>
              </a:lnSpc>
              <a:buNone/>
            </a:pPr>
            <a:r>
              <a:rPr lang="en-US" sz="1250" dirty="0">
                <a:solidFill>
                  <a:srgbClr val="24303C"/>
                </a:solidFill>
                <a:latin typeface="Calibri" pitchFamily="34" charset="0"/>
                <a:ea typeface="Calibri" pitchFamily="34" charset="-122"/>
                <a:cs typeface="Calibri" pitchFamily="34" charset="-120"/>
              </a:rPr>
              <a:t>Only ResNet18, so this compares objective and augmentation, not architectures — 0.559 is not a ceiling. And sessions were inferred from filenames and frame gaps, not recorded at capture.</a:t>
            </a:r>
            <a:endParaRPr lang="en-US" sz="1250" dirty="0"/>
          </a:p>
        </p:txBody>
      </p:sp>
      <p:sp>
        <p:nvSpPr>
          <p:cNvPr id="16" name="Text 14"/>
          <p:cNvSpPr txBox="1"/>
          <p:nvPr/>
        </p:nvSpPr>
        <p:spPr>
          <a:xfrm>
            <a:off x="566928" y="6437376"/>
            <a:ext cx="7772400" cy="256032"/>
          </a:xfrm>
          <a:prstGeom prst="rect">
            <a:avLst/>
          </a:prstGeom>
          <a:noFill/>
          <a:ln/>
        </p:spPr>
        <p:txBody>
          <a:bodyPr wrap="square" lIns="0" tIns="0" rIns="0" bIns="0" rtlCol="0" anchor="ctr"/>
          <a:lstStyle/>
          <a:p>
            <a:pPr indent="0" marL="0">
              <a:buNone/>
            </a:pPr>
            <a:r>
              <a:rPr lang="en-US" sz="1000" dirty="0">
                <a:solidFill>
                  <a:srgbClr val="A9AEB5"/>
                </a:solidFill>
                <a:latin typeface="Calibri" pitchFamily="34" charset="0"/>
                <a:ea typeface="Calibri" pitchFamily="34" charset="-122"/>
                <a:cs typeface="Calibri" pitchFamily="34" charset="-120"/>
              </a:rPr>
              <a:t>Automatic identification of Humboldt penguins · ZSL London Zoo</a:t>
            </a:r>
            <a:endParaRPr lang="en-US" sz="1000" dirty="0"/>
          </a:p>
        </p:txBody>
      </p:sp>
      <p:sp>
        <p:nvSpPr>
          <p:cNvPr id="17" name="Text 15"/>
          <p:cNvSpPr txBox="1"/>
          <p:nvPr/>
        </p:nvSpPr>
        <p:spPr>
          <a:xfrm>
            <a:off x="11076127" y="6437376"/>
            <a:ext cx="548640" cy="256032"/>
          </a:xfrm>
          <a:prstGeom prst="rect">
            <a:avLst/>
          </a:prstGeom>
          <a:noFill/>
          <a:ln/>
        </p:spPr>
        <p:txBody>
          <a:bodyPr wrap="square" lIns="0" tIns="0" rIns="0" bIns="0" rtlCol="0" anchor="ctr"/>
          <a:lstStyle/>
          <a:p>
            <a:pPr algn="r" indent="0" marL="0">
              <a:buNone/>
            </a:pPr>
            <a:r>
              <a:rPr lang="en-US" sz="1000" dirty="0">
                <a:solidFill>
                  <a:srgbClr val="A9AEB5"/>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CFCFB"/>
        </a:solidFill>
      </p:bgPr>
    </p:bg>
    <p:spTree>
      <p:nvGrpSpPr>
        <p:cNvPr id="1" name=""/>
        <p:cNvGrpSpPr/>
        <p:nvPr/>
      </p:nvGrpSpPr>
      <p:grpSpPr>
        <a:xfrm>
          <a:off x="0" y="0"/>
          <a:ext cx="0" cy="0"/>
          <a:chOff x="0" y="0"/>
          <a:chExt cx="0" cy="0"/>
        </a:xfrm>
      </p:grpSpPr>
      <p:sp>
        <p:nvSpPr>
          <p:cNvPr id="2" name="Text 0"/>
          <p:cNvSpPr txBox="1"/>
          <p:nvPr/>
        </p:nvSpPr>
        <p:spPr>
          <a:xfrm>
            <a:off x="566928" y="146304"/>
            <a:ext cx="11057839" cy="219456"/>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WHAT TO DO ABOUT IT</a:t>
            </a:r>
            <a:endParaRPr lang="en-US" sz="1100" dirty="0"/>
          </a:p>
        </p:txBody>
      </p:sp>
      <p:sp>
        <p:nvSpPr>
          <p:cNvPr id="3" name="Text 1"/>
          <p:cNvSpPr txBox="1"/>
          <p:nvPr/>
        </p:nvSpPr>
        <p:spPr>
          <a:xfrm>
            <a:off x="566928" y="384048"/>
            <a:ext cx="11057839" cy="658368"/>
          </a:xfrm>
          <a:prstGeom prst="rect">
            <a:avLst/>
          </a:prstGeom>
          <a:noFill/>
          <a:ln/>
        </p:spPr>
        <p:txBody>
          <a:bodyPr wrap="square" lIns="0" tIns="0" rIns="0" bIns="0" rtlCol="0" anchor="t"/>
          <a:lstStyle/>
          <a:p>
            <a:pPr algn="l" indent="0" marL="0">
              <a:lnSpc>
                <a:spcPct val="95000"/>
              </a:lnSpc>
              <a:buNone/>
            </a:pPr>
            <a:r>
              <a:rPr lang="en-US" sz="2700" b="1" dirty="0">
                <a:solidFill>
                  <a:srgbClr val="0E2A47"/>
                </a:solidFill>
                <a:latin typeface="Cambria" pitchFamily="34" charset="0"/>
                <a:ea typeface="Cambria" pitchFamily="34" charset="-122"/>
                <a:cs typeface="Cambria" pitchFamily="34" charset="-120"/>
              </a:rPr>
              <a:t>The next gain is a camera, not a loss function</a:t>
            </a:r>
            <a:endParaRPr lang="en-US" sz="2700" dirty="0"/>
          </a:p>
        </p:txBody>
      </p:sp>
      <p:pic>
        <p:nvPicPr>
          <p:cNvPr id="4" name="Image 0" descr="/home/user/pgs/presentation/assets/13_colony_sessions_per_individual_notitle.png">    </p:cNvPr>
          <p:cNvPicPr>
            <a:picLocks noChangeAspect="1"/>
          </p:cNvPicPr>
          <p:nvPr/>
        </p:nvPicPr>
        <p:blipFill>
          <a:blip r:embed="rId1"/>
          <a:stretch>
            <a:fillRect/>
          </a:stretch>
        </p:blipFill>
        <p:spPr>
          <a:xfrm>
            <a:off x="1674573" y="1188720"/>
            <a:ext cx="8842549" cy="3657600"/>
          </a:xfrm>
          <a:prstGeom prst="rect">
            <a:avLst/>
          </a:prstGeom>
        </p:spPr>
      </p:pic>
      <p:sp>
        <p:nvSpPr>
          <p:cNvPr id="5" name="Text 2"/>
          <p:cNvSpPr txBox="1"/>
          <p:nvPr/>
        </p:nvSpPr>
        <p:spPr>
          <a:xfrm>
            <a:off x="566928" y="4956048"/>
            <a:ext cx="3566160" cy="599090"/>
          </a:xfrm>
          <a:prstGeom prst="rect">
            <a:avLst/>
          </a:prstGeom>
          <a:noFill/>
          <a:ln/>
        </p:spPr>
        <p:txBody>
          <a:bodyPr wrap="square" lIns="0" tIns="0" rIns="0" bIns="0" rtlCol="0" anchor="b"/>
          <a:lstStyle/>
          <a:p>
            <a:pPr algn="l" indent="0" marL="0">
              <a:buNone/>
            </a:pPr>
            <a:r>
              <a:rPr lang="en-US" sz="3800" b="1" dirty="0">
                <a:solidFill>
                  <a:srgbClr val="EB6834"/>
                </a:solidFill>
                <a:latin typeface="Cambria" pitchFamily="34" charset="0"/>
                <a:ea typeface="Cambria" pitchFamily="34" charset="-122"/>
                <a:cs typeface="Cambria" pitchFamily="34" charset="-120"/>
              </a:rPr>
              <a:t>53 of 81</a:t>
            </a:r>
            <a:endParaRPr lang="en-US" sz="3800" dirty="0"/>
          </a:p>
        </p:txBody>
      </p:sp>
      <p:sp>
        <p:nvSpPr>
          <p:cNvPr id="6" name="Text 3"/>
          <p:cNvSpPr txBox="1"/>
          <p:nvPr/>
        </p:nvSpPr>
        <p:spPr>
          <a:xfrm>
            <a:off x="566928" y="5591714"/>
            <a:ext cx="3566160" cy="237744"/>
          </a:xfrm>
          <a:prstGeom prst="rect">
            <a:avLst/>
          </a:prstGeom>
          <a:noFill/>
          <a:ln/>
        </p:spPr>
        <p:txBody>
          <a:bodyPr wrap="square" lIns="0" tIns="0" rIns="0" bIns="0" rtlCol="0" anchor="t"/>
          <a:lstStyle/>
          <a:p>
            <a:pPr indent="0" marL="0">
              <a:lnSpc>
                <a:spcPct val="100000"/>
              </a:lnSpc>
              <a:buNone/>
            </a:pPr>
            <a:r>
              <a:rPr lang="en-US" sz="1250" b="1" dirty="0">
                <a:solidFill>
                  <a:srgbClr val="24303C"/>
                </a:solidFill>
                <a:latin typeface="Calibri" pitchFamily="34" charset="0"/>
                <a:ea typeface="Calibri" pitchFamily="34" charset="-122"/>
                <a:cs typeface="Calibri" pitchFamily="34" charset="-120"/>
              </a:rPr>
              <a:t>birds below four sessions</a:t>
            </a:r>
            <a:endParaRPr lang="en-US" sz="1250" dirty="0"/>
          </a:p>
        </p:txBody>
      </p:sp>
      <p:sp>
        <p:nvSpPr>
          <p:cNvPr id="7" name="Text 4"/>
          <p:cNvSpPr txBox="1"/>
          <p:nvPr/>
        </p:nvSpPr>
        <p:spPr>
          <a:xfrm>
            <a:off x="566928" y="5829458"/>
            <a:ext cx="3566160" cy="566928"/>
          </a:xfrm>
          <a:prstGeom prst="rect">
            <a:avLst/>
          </a:prstGeom>
          <a:noFill/>
          <a:ln/>
        </p:spPr>
        <p:txBody>
          <a:bodyPr wrap="square" lIns="0" tIns="0" rIns="0" bIns="0" rtlCol="0" anchor="t"/>
          <a:lstStyle/>
          <a:p>
            <a:pPr indent="0" marL="0">
              <a:lnSpc>
                <a:spcPct val="95000"/>
              </a:lnSpc>
              <a:buNone/>
            </a:pPr>
            <a:r>
              <a:rPr lang="en-US" sz="1050" dirty="0">
                <a:solidFill>
                  <a:srgbClr val="6E7681"/>
                </a:solidFill>
                <a:latin typeface="Calibri" pitchFamily="34" charset="0"/>
                <a:ea typeface="Calibri" pitchFamily="34" charset="-122"/>
                <a:cs typeface="Calibri" pitchFamily="34" charset="-120"/>
              </a:rPr>
              <a:t>only 28 reach the provisional target</a:t>
            </a:r>
            <a:endParaRPr lang="en-US" sz="1050" dirty="0"/>
          </a:p>
        </p:txBody>
      </p:sp>
      <p:sp>
        <p:nvSpPr>
          <p:cNvPr id="8" name="Text 5"/>
          <p:cNvSpPr txBox="1"/>
          <p:nvPr/>
        </p:nvSpPr>
        <p:spPr>
          <a:xfrm>
            <a:off x="4315968" y="4956048"/>
            <a:ext cx="3566160" cy="599090"/>
          </a:xfrm>
          <a:prstGeom prst="rect">
            <a:avLst/>
          </a:prstGeom>
          <a:noFill/>
          <a:ln/>
        </p:spPr>
        <p:txBody>
          <a:bodyPr wrap="square" lIns="0" tIns="0" rIns="0" bIns="0" rtlCol="0" anchor="b"/>
          <a:lstStyle/>
          <a:p>
            <a:pPr algn="l" indent="0" marL="0">
              <a:buNone/>
            </a:pPr>
            <a:r>
              <a:rPr lang="en-US" sz="3800" b="1" dirty="0">
                <a:solidFill>
                  <a:srgbClr val="0E2A47"/>
                </a:solidFill>
                <a:latin typeface="Cambria" pitchFamily="34" charset="0"/>
                <a:ea typeface="Cambria" pitchFamily="34" charset="-122"/>
                <a:cs typeface="Cambria" pitchFamily="34" charset="-120"/>
              </a:rPr>
              <a:t>116</a:t>
            </a:r>
            <a:endParaRPr lang="en-US" sz="3800" dirty="0"/>
          </a:p>
        </p:txBody>
      </p:sp>
      <p:sp>
        <p:nvSpPr>
          <p:cNvPr id="9" name="Text 6"/>
          <p:cNvSpPr txBox="1"/>
          <p:nvPr/>
        </p:nvSpPr>
        <p:spPr>
          <a:xfrm>
            <a:off x="4315968" y="5591714"/>
            <a:ext cx="3566160" cy="237744"/>
          </a:xfrm>
          <a:prstGeom prst="rect">
            <a:avLst/>
          </a:prstGeom>
          <a:noFill/>
          <a:ln/>
        </p:spPr>
        <p:txBody>
          <a:bodyPr wrap="square" lIns="0" tIns="0" rIns="0" bIns="0" rtlCol="0" anchor="t"/>
          <a:lstStyle/>
          <a:p>
            <a:pPr indent="0" marL="0">
              <a:lnSpc>
                <a:spcPct val="100000"/>
              </a:lnSpc>
              <a:buNone/>
            </a:pPr>
            <a:r>
              <a:rPr lang="en-US" sz="1250" b="1" dirty="0">
                <a:solidFill>
                  <a:srgbClr val="24303C"/>
                </a:solidFill>
                <a:latin typeface="Calibri" pitchFamily="34" charset="0"/>
                <a:ea typeface="Calibri" pitchFamily="34" charset="-122"/>
                <a:cs typeface="Calibri" pitchFamily="34" charset="-120"/>
              </a:rPr>
              <a:t>further individual encounters</a:t>
            </a:r>
            <a:endParaRPr lang="en-US" sz="1250" dirty="0"/>
          </a:p>
        </p:txBody>
      </p:sp>
      <p:sp>
        <p:nvSpPr>
          <p:cNvPr id="10" name="Text 7"/>
          <p:cNvSpPr txBox="1"/>
          <p:nvPr/>
        </p:nvSpPr>
        <p:spPr>
          <a:xfrm>
            <a:off x="4315968" y="5829458"/>
            <a:ext cx="3566160" cy="566928"/>
          </a:xfrm>
          <a:prstGeom prst="rect">
            <a:avLst/>
          </a:prstGeom>
          <a:noFill/>
          <a:ln/>
        </p:spPr>
        <p:txBody>
          <a:bodyPr wrap="square" lIns="0" tIns="0" rIns="0" bIns="0" rtlCol="0" anchor="t"/>
          <a:lstStyle/>
          <a:p>
            <a:pPr indent="0" marL="0">
              <a:lnSpc>
                <a:spcPct val="95000"/>
              </a:lnSpc>
              <a:buNone/>
            </a:pPr>
            <a:r>
              <a:rPr lang="en-US" sz="1050" dirty="0">
                <a:solidFill>
                  <a:srgbClr val="6E7681"/>
                </a:solidFill>
                <a:latin typeface="Calibri" pitchFamily="34" charset="0"/>
                <a:ea typeface="Calibri" pitchFamily="34" charset="-122"/>
                <a:cs typeface="Calibri" pitchFamily="34" charset="-120"/>
              </a:rPr>
              <a:t>to bring the whole colony to four</a:t>
            </a:r>
            <a:endParaRPr lang="en-US" sz="1050" dirty="0"/>
          </a:p>
        </p:txBody>
      </p:sp>
      <p:sp>
        <p:nvSpPr>
          <p:cNvPr id="11" name="Text 8"/>
          <p:cNvSpPr txBox="1"/>
          <p:nvPr/>
        </p:nvSpPr>
        <p:spPr>
          <a:xfrm>
            <a:off x="8065008" y="4956048"/>
            <a:ext cx="3566160" cy="599090"/>
          </a:xfrm>
          <a:prstGeom prst="rect">
            <a:avLst/>
          </a:prstGeom>
          <a:noFill/>
          <a:ln/>
        </p:spPr>
        <p:txBody>
          <a:bodyPr wrap="square" lIns="0" tIns="0" rIns="0" bIns="0" rtlCol="0" anchor="b"/>
          <a:lstStyle/>
          <a:p>
            <a:pPr algn="l" indent="0" marL="0">
              <a:buNone/>
            </a:pPr>
            <a:r>
              <a:rPr lang="en-US" sz="3800" b="1" dirty="0">
                <a:solidFill>
                  <a:srgbClr val="0E2A47"/>
                </a:solidFill>
                <a:latin typeface="Cambria" pitchFamily="34" charset="0"/>
                <a:ea typeface="Cambria" pitchFamily="34" charset="-122"/>
                <a:cs typeface="Cambria" pitchFamily="34" charset="-120"/>
              </a:rPr>
              <a:t>≈ 8</a:t>
            </a:r>
            <a:endParaRPr lang="en-US" sz="3800" dirty="0"/>
          </a:p>
        </p:txBody>
      </p:sp>
      <p:sp>
        <p:nvSpPr>
          <p:cNvPr id="12" name="Text 9"/>
          <p:cNvSpPr txBox="1"/>
          <p:nvPr/>
        </p:nvSpPr>
        <p:spPr>
          <a:xfrm>
            <a:off x="8065008" y="5591714"/>
            <a:ext cx="3566160" cy="237744"/>
          </a:xfrm>
          <a:prstGeom prst="rect">
            <a:avLst/>
          </a:prstGeom>
          <a:noFill/>
          <a:ln/>
        </p:spPr>
        <p:txBody>
          <a:bodyPr wrap="square" lIns="0" tIns="0" rIns="0" bIns="0" rtlCol="0" anchor="t"/>
          <a:lstStyle/>
          <a:p>
            <a:pPr indent="0" marL="0">
              <a:lnSpc>
                <a:spcPct val="100000"/>
              </a:lnSpc>
              <a:buNone/>
            </a:pPr>
            <a:r>
              <a:rPr lang="en-US" sz="1250" b="1" dirty="0">
                <a:solidFill>
                  <a:srgbClr val="24303C"/>
                </a:solidFill>
                <a:latin typeface="Calibri" pitchFamily="34" charset="0"/>
                <a:ea typeface="Calibri" pitchFamily="34" charset="-122"/>
                <a:cs typeface="Calibri" pitchFamily="34" charset="-120"/>
              </a:rPr>
              <a:t>separate outings</a:t>
            </a:r>
            <a:endParaRPr lang="en-US" sz="1250" dirty="0"/>
          </a:p>
        </p:txBody>
      </p:sp>
      <p:sp>
        <p:nvSpPr>
          <p:cNvPr id="13" name="Text 10"/>
          <p:cNvSpPr txBox="1"/>
          <p:nvPr/>
        </p:nvSpPr>
        <p:spPr>
          <a:xfrm>
            <a:off x="8065008" y="5829458"/>
            <a:ext cx="3566160" cy="566928"/>
          </a:xfrm>
          <a:prstGeom prst="rect">
            <a:avLst/>
          </a:prstGeom>
          <a:noFill/>
          <a:ln/>
        </p:spPr>
        <p:txBody>
          <a:bodyPr wrap="square" lIns="0" tIns="0" rIns="0" bIns="0" rtlCol="0" anchor="t"/>
          <a:lstStyle/>
          <a:p>
            <a:pPr indent="0" marL="0">
              <a:lnSpc>
                <a:spcPct val="95000"/>
              </a:lnSpc>
              <a:buNone/>
            </a:pPr>
            <a:r>
              <a:rPr lang="en-US" sz="1050" dirty="0">
                <a:solidFill>
                  <a:srgbClr val="6E7681"/>
                </a:solidFill>
                <a:latin typeface="Calibri" pitchFamily="34" charset="0"/>
                <a:ea typeface="Calibri" pitchFamily="34" charset="-122"/>
                <a:cs typeface="Calibri" pitchFamily="34" charset="-120"/>
              </a:rPr>
              <a:t>at ~15 birds each — on different days</a:t>
            </a:r>
            <a:endParaRPr lang="en-US" sz="1050" dirty="0"/>
          </a:p>
        </p:txBody>
      </p:sp>
      <p:sp>
        <p:nvSpPr>
          <p:cNvPr id="14" name="Text 11"/>
          <p:cNvSpPr txBox="1"/>
          <p:nvPr/>
        </p:nvSpPr>
        <p:spPr>
          <a:xfrm>
            <a:off x="566928" y="6437376"/>
            <a:ext cx="7772400" cy="256032"/>
          </a:xfrm>
          <a:prstGeom prst="rect">
            <a:avLst/>
          </a:prstGeom>
          <a:noFill/>
          <a:ln/>
        </p:spPr>
        <p:txBody>
          <a:bodyPr wrap="square" lIns="0" tIns="0" rIns="0" bIns="0" rtlCol="0" anchor="ctr"/>
          <a:lstStyle/>
          <a:p>
            <a:pPr indent="0" marL="0">
              <a:buNone/>
            </a:pPr>
            <a:r>
              <a:rPr lang="en-US" sz="1000" dirty="0">
                <a:solidFill>
                  <a:srgbClr val="A9AEB5"/>
                </a:solidFill>
                <a:latin typeface="Calibri" pitchFamily="34" charset="0"/>
                <a:ea typeface="Calibri" pitchFamily="34" charset="-122"/>
                <a:cs typeface="Calibri" pitchFamily="34" charset="-120"/>
              </a:rPr>
              <a:t>Automatic identification of Humboldt penguins · ZSL London Zoo</a:t>
            </a:r>
            <a:endParaRPr lang="en-US" sz="1000" dirty="0"/>
          </a:p>
        </p:txBody>
      </p:sp>
      <p:sp>
        <p:nvSpPr>
          <p:cNvPr id="15" name="Text 12"/>
          <p:cNvSpPr txBox="1"/>
          <p:nvPr/>
        </p:nvSpPr>
        <p:spPr>
          <a:xfrm>
            <a:off x="11076127" y="6437376"/>
            <a:ext cx="548640" cy="256032"/>
          </a:xfrm>
          <a:prstGeom prst="rect">
            <a:avLst/>
          </a:prstGeom>
          <a:noFill/>
          <a:ln/>
        </p:spPr>
        <p:txBody>
          <a:bodyPr wrap="square" lIns="0" tIns="0" rIns="0" bIns="0" rtlCol="0" anchor="ctr"/>
          <a:lstStyle/>
          <a:p>
            <a:pPr algn="r" indent="0" marL="0">
              <a:buNone/>
            </a:pPr>
            <a:r>
              <a:rPr lang="en-US" sz="1000" dirty="0">
                <a:solidFill>
                  <a:srgbClr val="A9AEB5"/>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2A47"/>
        </a:solidFill>
      </p:bgPr>
    </p:bg>
    <p:spTree>
      <p:nvGrpSpPr>
        <p:cNvPr id="1" name=""/>
        <p:cNvGrpSpPr/>
        <p:nvPr/>
      </p:nvGrpSpPr>
      <p:grpSpPr>
        <a:xfrm>
          <a:off x="0" y="0"/>
          <a:ext cx="0" cy="0"/>
          <a:chOff x="0" y="0"/>
          <a:chExt cx="0" cy="0"/>
        </a:xfrm>
      </p:grpSpPr>
      <p:sp>
        <p:nvSpPr>
          <p:cNvPr id="2" name="Text 0"/>
          <p:cNvSpPr txBox="1"/>
          <p:nvPr/>
        </p:nvSpPr>
        <p:spPr>
          <a:xfrm>
            <a:off x="566928" y="1874520"/>
            <a:ext cx="11057839" cy="68580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The number I would defend is not 0.559.</a:t>
            </a:r>
            <a:endParaRPr lang="en-US" sz="3200" dirty="0"/>
          </a:p>
        </p:txBody>
      </p:sp>
      <p:sp>
        <p:nvSpPr>
          <p:cNvPr id="3" name="Text 1"/>
          <p:cNvSpPr txBox="1"/>
          <p:nvPr/>
        </p:nvSpPr>
        <p:spPr>
          <a:xfrm>
            <a:off x="566928" y="2697480"/>
            <a:ext cx="11057839" cy="1188720"/>
          </a:xfrm>
          <a:prstGeom prst="rect">
            <a:avLst/>
          </a:prstGeom>
          <a:noFill/>
          <a:ln/>
        </p:spPr>
        <p:txBody>
          <a:bodyPr wrap="square" lIns="0" tIns="0" rIns="0" bIns="0" rtlCol="0" anchor="t"/>
          <a:lstStyle/>
          <a:p>
            <a:pPr indent="0" marL="0">
              <a:lnSpc>
                <a:spcPct val="110000"/>
              </a:lnSpc>
              <a:buNone/>
            </a:pPr>
            <a:r>
              <a:rPr lang="en-US" sz="2700" b="1" dirty="0">
                <a:solidFill>
                  <a:srgbClr val="9FC0E4"/>
                </a:solidFill>
                <a:latin typeface="Cambria" pitchFamily="34" charset="0"/>
                <a:ea typeface="Cambria" pitchFamily="34" charset="-122"/>
                <a:cs typeface="Cambria" pitchFamily="34" charset="-120"/>
              </a:rPr>
              <a:t>It is </a:t>
            </a:r>
            <a:pPr indent="0" marL="0">
              <a:lnSpc>
                <a:spcPct val="110000"/>
              </a:lnSpc>
              <a:buNone/>
            </a:pPr>
            <a:r>
              <a:rPr lang="en-US" sz="2700" b="1" dirty="0">
                <a:solidFill>
                  <a:srgbClr val="EB6834"/>
                </a:solidFill>
                <a:latin typeface="Cambria" pitchFamily="34" charset="0"/>
                <a:ea typeface="Cambria" pitchFamily="34" charset="-122"/>
                <a:cs typeface="Cambria" pitchFamily="34" charset="-120"/>
              </a:rPr>
              <a:t>0.531</a:t>
            </a:r>
            <a:pPr indent="0" marL="0">
              <a:lnSpc>
                <a:spcPct val="110000"/>
              </a:lnSpc>
              <a:buNone/>
            </a:pPr>
            <a:r>
              <a:rPr lang="en-US" sz="2700" b="1" dirty="0">
                <a:solidFill>
                  <a:srgbClr val="9FC0E4"/>
                </a:solidFill>
                <a:latin typeface="Cambria" pitchFamily="34" charset="0"/>
                <a:ea typeface="Cambria" pitchFamily="34" charset="-122"/>
                <a:cs typeface="Cambria" pitchFamily="34" charset="-120"/>
              </a:rPr>
              <a:t> — the amount a conventional random split</a:t>
            </a:r>
            <a:endParaRPr lang="en-US" sz="2700" dirty="0"/>
          </a:p>
          <a:p>
            <a:pPr indent="0" marL="0">
              <a:lnSpc>
                <a:spcPct val="110000"/>
              </a:lnSpc>
              <a:buNone/>
            </a:pPr>
            <a:r>
              <a:rPr lang="en-US" sz="2700" b="1" dirty="0">
                <a:solidFill>
                  <a:srgbClr val="9FC0E4"/>
                </a:solidFill>
                <a:latin typeface="Cambria" pitchFamily="34" charset="0"/>
                <a:ea typeface="Cambria" pitchFamily="34" charset="-122"/>
                <a:cs typeface="Cambria" pitchFamily="34" charset="-120"/>
              </a:rPr>
              <a:t>silently added to a result that already looked finished.</a:t>
            </a:r>
            <a:endParaRPr lang="en-US" sz="2700" dirty="0"/>
          </a:p>
        </p:txBody>
      </p:sp>
      <p:sp>
        <p:nvSpPr>
          <p:cNvPr id="4" name="Shape 2"/>
          <p:cNvSpPr/>
          <p:nvPr/>
        </p:nvSpPr>
        <p:spPr>
          <a:xfrm>
            <a:off x="566928" y="4114800"/>
            <a:ext cx="137160" cy="137160"/>
          </a:xfrm>
          <a:prstGeom prst="ellipse">
            <a:avLst/>
          </a:prstGeom>
          <a:solidFill>
            <a:srgbClr val="2A78D6"/>
          </a:solidFill>
          <a:ln w="12700">
            <a:solidFill>
              <a:srgbClr val="2A78D6"/>
            </a:solidFill>
            <a:prstDash val="solid"/>
          </a:ln>
        </p:spPr>
      </p:sp>
      <p:sp>
        <p:nvSpPr>
          <p:cNvPr id="5" name="Shape 3"/>
          <p:cNvSpPr/>
          <p:nvPr/>
        </p:nvSpPr>
        <p:spPr>
          <a:xfrm>
            <a:off x="795528" y="4114800"/>
            <a:ext cx="137160" cy="137160"/>
          </a:xfrm>
          <a:prstGeom prst="ellipse">
            <a:avLst/>
          </a:prstGeom>
          <a:solidFill>
            <a:srgbClr val="2A78D6"/>
          </a:solidFill>
          <a:ln w="12700">
            <a:solidFill>
              <a:srgbClr val="2A78D6"/>
            </a:solidFill>
            <a:prstDash val="solid"/>
          </a:ln>
        </p:spPr>
      </p:sp>
      <p:sp>
        <p:nvSpPr>
          <p:cNvPr id="6" name="Shape 4"/>
          <p:cNvSpPr/>
          <p:nvPr/>
        </p:nvSpPr>
        <p:spPr>
          <a:xfrm>
            <a:off x="1024128" y="4114800"/>
            <a:ext cx="137160" cy="137160"/>
          </a:xfrm>
          <a:prstGeom prst="ellipse">
            <a:avLst/>
          </a:prstGeom>
          <a:solidFill>
            <a:srgbClr val="2A78D6"/>
          </a:solidFill>
          <a:ln w="12700">
            <a:solidFill>
              <a:srgbClr val="2A78D6"/>
            </a:solidFill>
            <a:prstDash val="solid"/>
          </a:ln>
        </p:spPr>
      </p:sp>
      <p:sp>
        <p:nvSpPr>
          <p:cNvPr id="7" name="Shape 5"/>
          <p:cNvSpPr/>
          <p:nvPr/>
        </p:nvSpPr>
        <p:spPr>
          <a:xfrm>
            <a:off x="1252728" y="4114800"/>
            <a:ext cx="137160" cy="137160"/>
          </a:xfrm>
          <a:prstGeom prst="ellipse">
            <a:avLst/>
          </a:prstGeom>
          <a:solidFill>
            <a:srgbClr val="2A78D6"/>
          </a:solidFill>
          <a:ln w="12700">
            <a:solidFill>
              <a:srgbClr val="2A78D6"/>
            </a:solidFill>
            <a:prstDash val="solid"/>
          </a:ln>
        </p:spPr>
      </p:sp>
      <p:sp>
        <p:nvSpPr>
          <p:cNvPr id="8" name="Shape 6"/>
          <p:cNvSpPr/>
          <p:nvPr/>
        </p:nvSpPr>
        <p:spPr>
          <a:xfrm>
            <a:off x="1481328" y="4114800"/>
            <a:ext cx="137160" cy="137160"/>
          </a:xfrm>
          <a:prstGeom prst="ellipse">
            <a:avLst/>
          </a:prstGeom>
          <a:solidFill>
            <a:srgbClr val="2A78D6"/>
          </a:solidFill>
          <a:ln w="12700">
            <a:solidFill>
              <a:srgbClr val="2A78D6"/>
            </a:solidFill>
            <a:prstDash val="solid"/>
          </a:ln>
        </p:spPr>
      </p:sp>
      <p:sp>
        <p:nvSpPr>
          <p:cNvPr id="9" name="Shape 7"/>
          <p:cNvSpPr/>
          <p:nvPr/>
        </p:nvSpPr>
        <p:spPr>
          <a:xfrm>
            <a:off x="1709928" y="4114800"/>
            <a:ext cx="137160" cy="137160"/>
          </a:xfrm>
          <a:prstGeom prst="ellipse">
            <a:avLst/>
          </a:prstGeom>
          <a:solidFill>
            <a:srgbClr val="2A78D6"/>
          </a:solidFill>
          <a:ln w="12700">
            <a:solidFill>
              <a:srgbClr val="2A78D6"/>
            </a:solidFill>
            <a:prstDash val="solid"/>
          </a:ln>
        </p:spPr>
      </p:sp>
      <p:sp>
        <p:nvSpPr>
          <p:cNvPr id="10" name="Shape 8"/>
          <p:cNvSpPr/>
          <p:nvPr/>
        </p:nvSpPr>
        <p:spPr>
          <a:xfrm>
            <a:off x="1938528" y="4114800"/>
            <a:ext cx="137160" cy="137160"/>
          </a:xfrm>
          <a:prstGeom prst="ellipse">
            <a:avLst/>
          </a:prstGeom>
          <a:solidFill>
            <a:srgbClr val="2A78D6"/>
          </a:solidFill>
          <a:ln w="12700">
            <a:solidFill>
              <a:srgbClr val="2A78D6"/>
            </a:solidFill>
            <a:prstDash val="solid"/>
          </a:ln>
        </p:spPr>
      </p:sp>
      <p:sp>
        <p:nvSpPr>
          <p:cNvPr id="11" name="Shape 9"/>
          <p:cNvSpPr/>
          <p:nvPr/>
        </p:nvSpPr>
        <p:spPr>
          <a:xfrm>
            <a:off x="2167128" y="4114800"/>
            <a:ext cx="137160" cy="137160"/>
          </a:xfrm>
          <a:prstGeom prst="ellipse">
            <a:avLst/>
          </a:prstGeom>
          <a:solidFill>
            <a:srgbClr val="2A78D6"/>
          </a:solidFill>
          <a:ln w="12700">
            <a:solidFill>
              <a:srgbClr val="2A78D6"/>
            </a:solidFill>
            <a:prstDash val="solid"/>
          </a:ln>
        </p:spPr>
      </p:sp>
      <p:sp>
        <p:nvSpPr>
          <p:cNvPr id="12" name="Shape 10"/>
          <p:cNvSpPr/>
          <p:nvPr/>
        </p:nvSpPr>
        <p:spPr>
          <a:xfrm>
            <a:off x="2395728" y="4114800"/>
            <a:ext cx="137160" cy="137160"/>
          </a:xfrm>
          <a:prstGeom prst="ellipse">
            <a:avLst/>
          </a:prstGeom>
          <a:solidFill>
            <a:srgbClr val="2A78D6"/>
          </a:solidFill>
          <a:ln w="12700">
            <a:solidFill>
              <a:srgbClr val="2A78D6"/>
            </a:solidFill>
            <a:prstDash val="solid"/>
          </a:ln>
        </p:spPr>
      </p:sp>
      <p:sp>
        <p:nvSpPr>
          <p:cNvPr id="13" name="Shape 11"/>
          <p:cNvSpPr/>
          <p:nvPr/>
        </p:nvSpPr>
        <p:spPr>
          <a:xfrm>
            <a:off x="2624328" y="4114800"/>
            <a:ext cx="137160" cy="137160"/>
          </a:xfrm>
          <a:prstGeom prst="ellipse">
            <a:avLst/>
          </a:prstGeom>
          <a:solidFill>
            <a:srgbClr val="2A78D6"/>
          </a:solidFill>
          <a:ln w="12700">
            <a:solidFill>
              <a:srgbClr val="2A78D6"/>
            </a:solidFill>
            <a:prstDash val="solid"/>
          </a:ln>
        </p:spPr>
      </p:sp>
      <p:sp>
        <p:nvSpPr>
          <p:cNvPr id="14" name="Shape 12"/>
          <p:cNvSpPr/>
          <p:nvPr/>
        </p:nvSpPr>
        <p:spPr>
          <a:xfrm>
            <a:off x="2852928" y="4114800"/>
            <a:ext cx="137160" cy="137160"/>
          </a:xfrm>
          <a:prstGeom prst="ellipse">
            <a:avLst/>
          </a:prstGeom>
          <a:solidFill>
            <a:srgbClr val="2A78D6"/>
          </a:solidFill>
          <a:ln w="12700">
            <a:solidFill>
              <a:srgbClr val="2A78D6"/>
            </a:solidFill>
            <a:prstDash val="solid"/>
          </a:ln>
        </p:spPr>
      </p:sp>
      <p:sp>
        <p:nvSpPr>
          <p:cNvPr id="15" name="Shape 13"/>
          <p:cNvSpPr/>
          <p:nvPr/>
        </p:nvSpPr>
        <p:spPr>
          <a:xfrm>
            <a:off x="3081528" y="4114800"/>
            <a:ext cx="137160" cy="137160"/>
          </a:xfrm>
          <a:prstGeom prst="ellipse">
            <a:avLst/>
          </a:prstGeom>
          <a:solidFill>
            <a:srgbClr val="2A78D6"/>
          </a:solidFill>
          <a:ln w="12700">
            <a:solidFill>
              <a:srgbClr val="2A78D6"/>
            </a:solidFill>
            <a:prstDash val="solid"/>
          </a:ln>
        </p:spPr>
      </p:sp>
      <p:sp>
        <p:nvSpPr>
          <p:cNvPr id="16" name="Shape 14"/>
          <p:cNvSpPr/>
          <p:nvPr/>
        </p:nvSpPr>
        <p:spPr>
          <a:xfrm>
            <a:off x="3310128" y="4114800"/>
            <a:ext cx="137160" cy="137160"/>
          </a:xfrm>
          <a:prstGeom prst="ellipse">
            <a:avLst/>
          </a:prstGeom>
          <a:solidFill>
            <a:srgbClr val="2A78D6"/>
          </a:solidFill>
          <a:ln w="12700">
            <a:solidFill>
              <a:srgbClr val="2A78D6"/>
            </a:solidFill>
            <a:prstDash val="solid"/>
          </a:ln>
        </p:spPr>
      </p:sp>
      <p:sp>
        <p:nvSpPr>
          <p:cNvPr id="17" name="Text 15"/>
          <p:cNvSpPr txBox="1"/>
          <p:nvPr/>
        </p:nvSpPr>
        <p:spPr>
          <a:xfrm>
            <a:off x="566928" y="4663440"/>
            <a:ext cx="11057839" cy="822960"/>
          </a:xfrm>
          <a:prstGeom prst="rect">
            <a:avLst/>
          </a:prstGeom>
          <a:noFill/>
          <a:ln/>
        </p:spPr>
        <p:txBody>
          <a:bodyPr wrap="square" lIns="0" tIns="0" rIns="0" bIns="0" rtlCol="0" anchor="t"/>
          <a:lstStyle/>
          <a:p>
            <a:pPr indent="0" marL="0">
              <a:lnSpc>
                <a:spcPct val="140000"/>
              </a:lnSpc>
              <a:buNone/>
            </a:pPr>
            <a:r>
              <a:rPr lang="en-US" sz="1400" dirty="0">
                <a:solidFill>
                  <a:srgbClr val="C9D6E6"/>
                </a:solidFill>
                <a:latin typeface="Calibri" pitchFamily="34" charset="0"/>
                <a:ea typeface="Calibri" pitchFamily="34" charset="-122"/>
                <a:cs typeface="Calibri" pitchFamily="34" charset="-120"/>
              </a:rPr>
              <a:t>If you can tell me which day a photograph was taken, you can tell me whether it belongs in your test set.</a:t>
            </a:r>
            <a:endParaRPr lang="en-US" sz="1400" dirty="0"/>
          </a:p>
          <a:p>
            <a:pPr indent="0" marL="0">
              <a:lnSpc>
                <a:spcPct val="140000"/>
              </a:lnSpc>
              <a:buNone/>
            </a:pPr>
            <a:r>
              <a:rPr lang="en-US" sz="1400" dirty="0">
                <a:solidFill>
                  <a:srgbClr val="C9D6E6"/>
                </a:solidFill>
                <a:latin typeface="Calibri" pitchFamily="34" charset="0"/>
                <a:ea typeface="Calibri" pitchFamily="34" charset="-122"/>
                <a:cs typeface="Calibri" pitchFamily="34" charset="-120"/>
              </a:rPr>
              <a:t>github.com/aoaoguo2003/pgs</a:t>
            </a:r>
            <a:endParaRPr lang="en-US" sz="1400" dirty="0"/>
          </a:p>
        </p:txBody>
      </p:sp>
      <p:sp>
        <p:nvSpPr>
          <p:cNvPr id="18" name="Text 16"/>
          <p:cNvSpPr txBox="1"/>
          <p:nvPr/>
        </p:nvSpPr>
        <p:spPr>
          <a:xfrm>
            <a:off x="11076127" y="6437376"/>
            <a:ext cx="548640" cy="256032"/>
          </a:xfrm>
          <a:prstGeom prst="rect">
            <a:avLst/>
          </a:prstGeom>
          <a:noFill/>
          <a:ln/>
        </p:spPr>
        <p:txBody>
          <a:bodyPr wrap="square" lIns="0" tIns="0" rIns="0" bIns="0" rtlCol="0" anchor="ctr"/>
          <a:lstStyle/>
          <a:p>
            <a:pPr algn="r" indent="0" marL="0">
              <a:buNone/>
            </a:pPr>
            <a:r>
              <a:rPr lang="en-US" sz="1000" dirty="0">
                <a:solidFill>
                  <a:srgbClr val="A9AEB5"/>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E2A47"/>
        </a:solidFill>
      </p:bgPr>
    </p:bg>
    <p:spTree>
      <p:nvGrpSpPr>
        <p:cNvPr id="1" name=""/>
        <p:cNvGrpSpPr/>
        <p:nvPr/>
      </p:nvGrpSpPr>
      <p:grpSpPr>
        <a:xfrm>
          <a:off x="0" y="0"/>
          <a:ext cx="0" cy="0"/>
          <a:chOff x="0" y="0"/>
          <a:chExt cx="0" cy="0"/>
        </a:xfrm>
      </p:grpSpPr>
      <p:sp>
        <p:nvSpPr>
          <p:cNvPr id="2" name="Text 0"/>
          <p:cNvSpPr txBox="1"/>
          <p:nvPr/>
        </p:nvSpPr>
        <p:spPr>
          <a:xfrm>
            <a:off x="566928" y="2743200"/>
            <a:ext cx="548640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Backup</a:t>
            </a:r>
            <a:endParaRPr lang="en-US" sz="4000" dirty="0"/>
          </a:p>
        </p:txBody>
      </p:sp>
      <p:sp>
        <p:nvSpPr>
          <p:cNvPr id="3" name="Text 1"/>
          <p:cNvSpPr txBox="1"/>
          <p:nvPr/>
        </p:nvSpPr>
        <p:spPr>
          <a:xfrm>
            <a:off x="566928" y="3566160"/>
            <a:ext cx="5486400" cy="365760"/>
          </a:xfrm>
          <a:prstGeom prst="rect">
            <a:avLst/>
          </a:prstGeom>
          <a:noFill/>
          <a:ln/>
        </p:spPr>
        <p:txBody>
          <a:bodyPr wrap="square" lIns="0" tIns="0" rIns="0" bIns="0" rtlCol="0" anchor="ctr"/>
          <a:lstStyle/>
          <a:p>
            <a:pPr indent="0" marL="0">
              <a:buNone/>
            </a:pPr>
            <a:r>
              <a:rPr lang="en-US" sz="1600" dirty="0">
                <a:solidFill>
                  <a:srgbClr val="9FC0E4"/>
                </a:solidFill>
                <a:latin typeface="Calibri" pitchFamily="34" charset="0"/>
                <a:ea typeface="Calibri" pitchFamily="34" charset="-122"/>
                <a:cs typeface="Calibri" pitchFamily="34" charset="-120"/>
              </a:rPr>
              <a:t>Prepared answers</a:t>
            </a:r>
            <a:endParaRPr lang="en-US" sz="1600" dirty="0"/>
          </a:p>
        </p:txBody>
      </p:sp>
      <p:sp>
        <p:nvSpPr>
          <p:cNvPr id="4" name="Shape 2"/>
          <p:cNvSpPr/>
          <p:nvPr/>
        </p:nvSpPr>
        <p:spPr>
          <a:xfrm>
            <a:off x="566928" y="4206240"/>
            <a:ext cx="137160" cy="137160"/>
          </a:xfrm>
          <a:prstGeom prst="ellipse">
            <a:avLst/>
          </a:prstGeom>
          <a:solidFill>
            <a:srgbClr val="2A78D6"/>
          </a:solidFill>
          <a:ln w="12700">
            <a:solidFill>
              <a:srgbClr val="2A78D6"/>
            </a:solidFill>
            <a:prstDash val="solid"/>
          </a:ln>
        </p:spPr>
      </p:sp>
      <p:sp>
        <p:nvSpPr>
          <p:cNvPr id="5" name="Shape 3"/>
          <p:cNvSpPr/>
          <p:nvPr/>
        </p:nvSpPr>
        <p:spPr>
          <a:xfrm>
            <a:off x="795528" y="4206240"/>
            <a:ext cx="137160" cy="137160"/>
          </a:xfrm>
          <a:prstGeom prst="ellipse">
            <a:avLst/>
          </a:prstGeom>
          <a:solidFill>
            <a:srgbClr val="2A78D6"/>
          </a:solidFill>
          <a:ln w="12700">
            <a:solidFill>
              <a:srgbClr val="2A78D6"/>
            </a:solidFill>
            <a:prstDash val="solid"/>
          </a:ln>
        </p:spPr>
      </p:sp>
      <p:sp>
        <p:nvSpPr>
          <p:cNvPr id="6" name="Shape 4"/>
          <p:cNvSpPr/>
          <p:nvPr/>
        </p:nvSpPr>
        <p:spPr>
          <a:xfrm>
            <a:off x="1024128" y="4206240"/>
            <a:ext cx="137160" cy="137160"/>
          </a:xfrm>
          <a:prstGeom prst="ellipse">
            <a:avLst/>
          </a:prstGeom>
          <a:solidFill>
            <a:srgbClr val="2A78D6"/>
          </a:solidFill>
          <a:ln w="12700">
            <a:solidFill>
              <a:srgbClr val="2A78D6"/>
            </a:solidFill>
            <a:prstDash val="solid"/>
          </a:ln>
        </p:spPr>
      </p:sp>
      <p:sp>
        <p:nvSpPr>
          <p:cNvPr id="7" name="Shape 5"/>
          <p:cNvSpPr/>
          <p:nvPr/>
        </p:nvSpPr>
        <p:spPr>
          <a:xfrm>
            <a:off x="1252728" y="4206240"/>
            <a:ext cx="137160" cy="137160"/>
          </a:xfrm>
          <a:prstGeom prst="ellipse">
            <a:avLst/>
          </a:prstGeom>
          <a:solidFill>
            <a:srgbClr val="2A78D6"/>
          </a:solidFill>
          <a:ln w="12700">
            <a:solidFill>
              <a:srgbClr val="2A78D6"/>
            </a:solidFill>
            <a:prstDash val="solid"/>
          </a:ln>
        </p:spPr>
      </p:sp>
      <p:sp>
        <p:nvSpPr>
          <p:cNvPr id="8" name="Shape 6"/>
          <p:cNvSpPr/>
          <p:nvPr/>
        </p:nvSpPr>
        <p:spPr>
          <a:xfrm>
            <a:off x="1481328" y="4206240"/>
            <a:ext cx="137160" cy="137160"/>
          </a:xfrm>
          <a:prstGeom prst="ellipse">
            <a:avLst/>
          </a:prstGeom>
          <a:solidFill>
            <a:srgbClr val="2A78D6"/>
          </a:solidFill>
          <a:ln w="12700">
            <a:solidFill>
              <a:srgbClr val="2A78D6"/>
            </a:solidFill>
            <a:prstDash val="solid"/>
          </a:ln>
        </p:spPr>
      </p:sp>
      <p:sp>
        <p:nvSpPr>
          <p:cNvPr id="9" name="Shape 7"/>
          <p:cNvSpPr/>
          <p:nvPr/>
        </p:nvSpPr>
        <p:spPr>
          <a:xfrm>
            <a:off x="1709928" y="4206240"/>
            <a:ext cx="137160" cy="137160"/>
          </a:xfrm>
          <a:prstGeom prst="ellipse">
            <a:avLst/>
          </a:prstGeom>
          <a:solidFill>
            <a:srgbClr val="2A78D6"/>
          </a:solidFill>
          <a:ln w="12700">
            <a:solidFill>
              <a:srgbClr val="2A78D6"/>
            </a:solidFill>
            <a:prstDash val="solid"/>
          </a:ln>
        </p:spPr>
      </p:sp>
      <p:sp>
        <p:nvSpPr>
          <p:cNvPr id="10" name="Shape 8"/>
          <p:cNvSpPr/>
          <p:nvPr/>
        </p:nvSpPr>
        <p:spPr>
          <a:xfrm>
            <a:off x="1938528" y="4206240"/>
            <a:ext cx="137160" cy="137160"/>
          </a:xfrm>
          <a:prstGeom prst="ellipse">
            <a:avLst/>
          </a:prstGeom>
          <a:solidFill>
            <a:srgbClr val="2A78D6"/>
          </a:solidFill>
          <a:ln w="12700">
            <a:solidFill>
              <a:srgbClr val="2A78D6"/>
            </a:solidFill>
            <a:prstDash val="solid"/>
          </a:ln>
        </p:spPr>
      </p:sp>
      <p:sp>
        <p:nvSpPr>
          <p:cNvPr id="11" name="Shape 9"/>
          <p:cNvSpPr/>
          <p:nvPr/>
        </p:nvSpPr>
        <p:spPr>
          <a:xfrm>
            <a:off x="2167128" y="4206240"/>
            <a:ext cx="137160" cy="137160"/>
          </a:xfrm>
          <a:prstGeom prst="ellipse">
            <a:avLst/>
          </a:prstGeom>
          <a:solidFill>
            <a:srgbClr val="2A78D6"/>
          </a:solidFill>
          <a:ln w="12700">
            <a:solidFill>
              <a:srgbClr val="2A78D6"/>
            </a:solidFill>
            <a:prstDash val="solid"/>
          </a:ln>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CFCFB"/>
        </a:solidFill>
      </p:bgPr>
    </p:bg>
    <p:spTree>
      <p:nvGrpSpPr>
        <p:cNvPr id="1" name=""/>
        <p:cNvGrpSpPr/>
        <p:nvPr/>
      </p:nvGrpSpPr>
      <p:grpSpPr>
        <a:xfrm>
          <a:off x="0" y="0"/>
          <a:ext cx="0" cy="0"/>
          <a:chOff x="0" y="0"/>
          <a:chExt cx="0" cy="0"/>
        </a:xfrm>
      </p:grpSpPr>
      <p:sp>
        <p:nvSpPr>
          <p:cNvPr id="2" name="Text 0"/>
          <p:cNvSpPr txBox="1"/>
          <p:nvPr/>
        </p:nvSpPr>
        <p:spPr>
          <a:xfrm>
            <a:off x="566928" y="146304"/>
            <a:ext cx="11057839" cy="219456"/>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Q — INCLUSION CRITERIA</a:t>
            </a:r>
            <a:endParaRPr lang="en-US" sz="1100" dirty="0"/>
          </a:p>
        </p:txBody>
      </p:sp>
      <p:sp>
        <p:nvSpPr>
          <p:cNvPr id="3" name="Text 1"/>
          <p:cNvSpPr txBox="1"/>
          <p:nvPr/>
        </p:nvSpPr>
        <p:spPr>
          <a:xfrm>
            <a:off x="566928" y="384048"/>
            <a:ext cx="11057839" cy="658368"/>
          </a:xfrm>
          <a:prstGeom prst="rect">
            <a:avLst/>
          </a:prstGeom>
          <a:noFill/>
          <a:ln/>
        </p:spPr>
        <p:txBody>
          <a:bodyPr wrap="square" lIns="0" tIns="0" rIns="0" bIns="0" rtlCol="0" anchor="t"/>
          <a:lstStyle/>
          <a:p>
            <a:pPr algn="l" indent="0" marL="0">
              <a:lnSpc>
                <a:spcPct val="95000"/>
              </a:lnSpc>
              <a:buNone/>
            </a:pPr>
            <a:r>
              <a:rPr lang="en-US" sz="2500" b="1" dirty="0">
                <a:solidFill>
                  <a:srgbClr val="0E2A47"/>
                </a:solidFill>
                <a:latin typeface="Cambria" pitchFamily="34" charset="0"/>
                <a:ea typeface="Cambria" pitchFamily="34" charset="-122"/>
                <a:cs typeface="Cambria" pitchFamily="34" charset="-120"/>
              </a:rPr>
              <a:t>Why 35 of 81? The session rule binds, not the photo rule</a:t>
            </a:r>
            <a:endParaRPr lang="en-US" sz="2500" dirty="0"/>
          </a:p>
        </p:txBody>
      </p:sp>
      <p:pic>
        <p:nvPicPr>
          <p:cNvPr id="4" name="Image 0" descr="/home/user/pgs/presentation/assets/14_photos_vs_sessions_notitle.png">    </p:cNvPr>
          <p:cNvPicPr>
            <a:picLocks noChangeAspect="1"/>
          </p:cNvPicPr>
          <p:nvPr/>
        </p:nvPicPr>
        <p:blipFill>
          <a:blip r:embed="rId1"/>
          <a:stretch>
            <a:fillRect/>
          </a:stretch>
        </p:blipFill>
        <p:spPr>
          <a:xfrm>
            <a:off x="924150" y="1234440"/>
            <a:ext cx="6234996" cy="4480560"/>
          </a:xfrm>
          <a:prstGeom prst="rect">
            <a:avLst/>
          </a:prstGeom>
        </p:spPr>
      </p:pic>
      <p:sp>
        <p:nvSpPr>
          <p:cNvPr id="5" name="Text 2"/>
          <p:cNvSpPr txBox="1"/>
          <p:nvPr/>
        </p:nvSpPr>
        <p:spPr>
          <a:xfrm>
            <a:off x="7635240" y="1371600"/>
            <a:ext cx="4023360" cy="4206240"/>
          </a:xfrm>
          <a:prstGeom prst="rect">
            <a:avLst/>
          </a:prstGeom>
          <a:noFill/>
          <a:ln/>
        </p:spPr>
        <p:txBody>
          <a:bodyPr wrap="square" lIns="0" tIns="0" rIns="0" bIns="0" rtlCol="0" anchor="t"/>
          <a:lstStyle/>
          <a:p>
            <a:pPr marL="342900" indent="-342900">
              <a:lnSpc>
                <a:spcPct val="105000"/>
              </a:lnSpc>
              <a:spcAft>
                <a:spcPts val="1200"/>
              </a:spcAft>
              <a:buSzPct val="100000"/>
              <a:buChar char="•"/>
            </a:pPr>
            <a:r>
              <a:rPr lang="en-US" sz="1250" dirty="0">
                <a:solidFill>
                  <a:srgbClr val="24303C"/>
                </a:solidFill>
                <a:latin typeface="Calibri" pitchFamily="34" charset="0"/>
                <a:ea typeface="Calibri" pitchFamily="34" charset="-122"/>
                <a:cs typeface="Calibri" pitchFamily="34" charset="-120"/>
              </a:rPr>
              <a:t>37 of 81 birds fall below 16 photographs; 43 fall below 3 sessions; 34 fail both</a:t>
            </a:r>
            <a:endParaRPr lang="en-US" sz="1250" dirty="0"/>
          </a:p>
          <a:p>
            <a:pPr marL="342900" indent="-342900">
              <a:lnSpc>
                <a:spcPct val="105000"/>
              </a:lnSpc>
              <a:spcAft>
                <a:spcPts val="1200"/>
              </a:spcAft>
              <a:buSzPct val="100000"/>
              <a:buChar char="•"/>
            </a:pPr>
            <a:r>
              <a:rPr lang="en-US" sz="1250" dirty="0">
                <a:solidFill>
                  <a:srgbClr val="24303C"/>
                </a:solidFill>
                <a:latin typeface="Calibri" pitchFamily="34" charset="0"/>
                <a:ea typeface="Calibri" pitchFamily="34" charset="-122"/>
                <a:cs typeface="Calibri" pitchFamily="34" charset="-120"/>
              </a:rPr>
              <a:t>The 46 excluded birds are never queries — they are gallery distractors and, in the open-set test, genuine strangers</a:t>
            </a:r>
            <a:endParaRPr lang="en-US" sz="1250" dirty="0"/>
          </a:p>
          <a:p>
            <a:pPr marL="342900" indent="-342900">
              <a:lnSpc>
                <a:spcPct val="105000"/>
              </a:lnSpc>
              <a:spcAft>
                <a:spcPts val="1200"/>
              </a:spcAft>
              <a:buSzPct val="100000"/>
              <a:buChar char="•"/>
            </a:pPr>
            <a:r>
              <a:rPr lang="en-US" sz="1250" dirty="0">
                <a:solidFill>
                  <a:srgbClr val="24303C"/>
                </a:solidFill>
                <a:latin typeface="Calibri" pitchFamily="34" charset="0"/>
                <a:ea typeface="Calibri" pitchFamily="34" charset="-122"/>
                <a:cs typeface="Calibri" pitchFamily="34" charset="-120"/>
              </a:rPr>
              <a:t>Nicki and Gonzo sit at almost the same photo count and thirteen sessions apart</a:t>
            </a:r>
            <a:endParaRPr lang="en-US" sz="1250" dirty="0"/>
          </a:p>
          <a:p>
            <a:pPr marL="342900" indent="-342900">
              <a:lnSpc>
                <a:spcPct val="105000"/>
              </a:lnSpc>
              <a:spcAft>
                <a:spcPts val="1200"/>
              </a:spcAft>
              <a:buSzPct val="100000"/>
              <a:buChar char="•"/>
            </a:pPr>
            <a:r>
              <a:rPr lang="en-US" sz="1250" dirty="0">
                <a:solidFill>
                  <a:srgbClr val="24303C"/>
                </a:solidFill>
                <a:latin typeface="Calibri" pitchFamily="34" charset="0"/>
                <a:ea typeface="Calibri" pitchFamily="34" charset="-122"/>
                <a:cs typeface="Calibri" pitchFamily="34" charset="-120"/>
              </a:rPr>
              <a:t>Consequence to concede: 0.559 describes the better-photographed 43% of the colony</a:t>
            </a:r>
            <a:endParaRPr lang="en-US" sz="1250" dirty="0"/>
          </a:p>
        </p:txBody>
      </p:sp>
      <p:sp>
        <p:nvSpPr>
          <p:cNvPr id="6" name="Text 3"/>
          <p:cNvSpPr txBox="1"/>
          <p:nvPr/>
        </p:nvSpPr>
        <p:spPr>
          <a:xfrm>
            <a:off x="10527487" y="6437376"/>
            <a:ext cx="1097280" cy="256032"/>
          </a:xfrm>
          <a:prstGeom prst="rect">
            <a:avLst/>
          </a:prstGeom>
          <a:noFill/>
          <a:ln/>
        </p:spPr>
        <p:txBody>
          <a:bodyPr wrap="square" lIns="0" tIns="0" rIns="0" bIns="0" rtlCol="0" anchor="ctr"/>
          <a:lstStyle/>
          <a:p>
            <a:pPr algn="r" indent="0" marL="0">
              <a:buNone/>
            </a:pPr>
            <a:r>
              <a:rPr lang="en-US" sz="900" b="1" spc="120" kern="0" dirty="0">
                <a:solidFill>
                  <a:srgbClr val="A9AEB5"/>
                </a:solidFill>
                <a:latin typeface="Calibri" pitchFamily="34" charset="0"/>
                <a:ea typeface="Calibri" pitchFamily="34" charset="-122"/>
                <a:cs typeface="Calibri" pitchFamily="34" charset="-120"/>
              </a:rPr>
              <a:t>BACKUP</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CFCFB"/>
        </a:solidFill>
      </p:bgPr>
    </p:bg>
    <p:spTree>
      <p:nvGrpSpPr>
        <p:cNvPr id="1" name=""/>
        <p:cNvGrpSpPr/>
        <p:nvPr/>
      </p:nvGrpSpPr>
      <p:grpSpPr>
        <a:xfrm>
          <a:off x="0" y="0"/>
          <a:ext cx="0" cy="0"/>
          <a:chOff x="0" y="0"/>
          <a:chExt cx="0" cy="0"/>
        </a:xfrm>
      </p:grpSpPr>
      <p:sp>
        <p:nvSpPr>
          <p:cNvPr id="2" name="Text 0"/>
          <p:cNvSpPr txBox="1"/>
          <p:nvPr/>
        </p:nvSpPr>
        <p:spPr>
          <a:xfrm>
            <a:off x="566928" y="146304"/>
            <a:ext cx="11057839" cy="219456"/>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Q — IS THE GAIN BROAD?</a:t>
            </a:r>
            <a:endParaRPr lang="en-US" sz="1100" dirty="0"/>
          </a:p>
        </p:txBody>
      </p:sp>
      <p:sp>
        <p:nvSpPr>
          <p:cNvPr id="3" name="Text 1"/>
          <p:cNvSpPr txBox="1"/>
          <p:nvPr/>
        </p:nvSpPr>
        <p:spPr>
          <a:xfrm>
            <a:off x="566928" y="384048"/>
            <a:ext cx="11057839" cy="658368"/>
          </a:xfrm>
          <a:prstGeom prst="rect">
            <a:avLst/>
          </a:prstGeom>
          <a:noFill/>
          <a:ln/>
        </p:spPr>
        <p:txBody>
          <a:bodyPr wrap="square" lIns="0" tIns="0" rIns="0" bIns="0" rtlCol="0" anchor="t"/>
          <a:lstStyle/>
          <a:p>
            <a:pPr algn="l" indent="0" marL="0">
              <a:lnSpc>
                <a:spcPct val="95000"/>
              </a:lnSpc>
              <a:buNone/>
            </a:pPr>
            <a:r>
              <a:rPr lang="en-US" sz="2500" b="1" dirty="0">
                <a:solidFill>
                  <a:srgbClr val="0E2A47"/>
                </a:solidFill>
                <a:latin typeface="Cambria" pitchFamily="34" charset="0"/>
                <a:ea typeface="Cambria" pitchFamily="34" charset="-122"/>
                <a:cs typeface="Cambria" pitchFamily="34" charset="-120"/>
              </a:rPr>
              <a:t>Did ArcFace help everyone, or did the macro mean hide it?</a:t>
            </a:r>
            <a:endParaRPr lang="en-US" sz="2500" dirty="0"/>
          </a:p>
        </p:txBody>
      </p:sp>
      <p:pic>
        <p:nvPicPr>
          <p:cNvPr id="4" name="Image 0" descr="/home/user/pgs/presentation/assets/09_per_individual_change_notitle.png">    </p:cNvPr>
          <p:cNvPicPr>
            <a:picLocks noChangeAspect="1"/>
          </p:cNvPicPr>
          <p:nvPr/>
        </p:nvPicPr>
        <p:blipFill>
          <a:blip r:embed="rId1"/>
          <a:stretch>
            <a:fillRect/>
          </a:stretch>
        </p:blipFill>
        <p:spPr>
          <a:xfrm>
            <a:off x="651587" y="1234440"/>
            <a:ext cx="7237322" cy="4480560"/>
          </a:xfrm>
          <a:prstGeom prst="rect">
            <a:avLst/>
          </a:prstGeom>
        </p:spPr>
      </p:pic>
      <p:sp>
        <p:nvSpPr>
          <p:cNvPr id="5" name="Text 2"/>
          <p:cNvSpPr txBox="1"/>
          <p:nvPr/>
        </p:nvSpPr>
        <p:spPr>
          <a:xfrm>
            <a:off x="8092440" y="1371600"/>
            <a:ext cx="3566160" cy="4206240"/>
          </a:xfrm>
          <a:prstGeom prst="rect">
            <a:avLst/>
          </a:prstGeom>
          <a:noFill/>
          <a:ln/>
        </p:spPr>
        <p:txBody>
          <a:bodyPr wrap="square" lIns="0" tIns="0" rIns="0" bIns="0" rtlCol="0" anchor="t"/>
          <a:lstStyle/>
          <a:p>
            <a:pPr marL="342900" indent="-342900">
              <a:lnSpc>
                <a:spcPct val="105000"/>
              </a:lnSpc>
              <a:spcAft>
                <a:spcPts val="1200"/>
              </a:spcAft>
              <a:buSzPct val="100000"/>
              <a:buChar char="•"/>
            </a:pPr>
            <a:r>
              <a:rPr lang="en-US" sz="1250" dirty="0">
                <a:solidFill>
                  <a:srgbClr val="24303C"/>
                </a:solidFill>
                <a:latin typeface="Calibri" pitchFamily="34" charset="0"/>
                <a:ea typeface="Calibri" pitchFamily="34" charset="-122"/>
                <a:cs typeface="Calibri" pitchFamily="34" charset="-120"/>
              </a:rPr>
              <a:t>31 of 35 birds improve from softmax+basic to ArcFace+strong</a:t>
            </a:r>
            <a:endParaRPr lang="en-US" sz="1250" dirty="0"/>
          </a:p>
          <a:p>
            <a:pPr marL="342900" indent="-342900">
              <a:lnSpc>
                <a:spcPct val="105000"/>
              </a:lnSpc>
              <a:spcAft>
                <a:spcPts val="1200"/>
              </a:spcAft>
              <a:buSzPct val="100000"/>
              <a:buChar char="•"/>
            </a:pPr>
            <a:r>
              <a:rPr lang="en-US" sz="1250" dirty="0">
                <a:solidFill>
                  <a:srgbClr val="24303C"/>
                </a:solidFill>
                <a:latin typeface="Calibri" pitchFamily="34" charset="0"/>
                <a:ea typeface="Calibri" pitchFamily="34" charset="-122"/>
                <a:cs typeface="Calibri" pitchFamily="34" charset="-120"/>
              </a:rPr>
              <a:t>Three decline: Beau 0.632→0.579, Nicki 0.207→0.189, Peapod 0.136→0.045</a:t>
            </a:r>
            <a:endParaRPr lang="en-US" sz="1250" dirty="0"/>
          </a:p>
          <a:p>
            <a:pPr marL="342900" indent="-342900">
              <a:lnSpc>
                <a:spcPct val="105000"/>
              </a:lnSpc>
              <a:spcAft>
                <a:spcPts val="1200"/>
              </a:spcAft>
              <a:buSzPct val="100000"/>
              <a:buChar char="•"/>
            </a:pPr>
            <a:r>
              <a:rPr lang="en-US" sz="1250" dirty="0">
                <a:solidFill>
                  <a:srgbClr val="24303C"/>
                </a:solidFill>
                <a:latin typeface="Calibri" pitchFamily="34" charset="0"/>
                <a:ea typeface="Calibri" pitchFamily="34" charset="-122"/>
                <a:cs typeface="Calibri" pitchFamily="34" charset="-120"/>
              </a:rPr>
              <a:t>Greyjoy is 0.000 under both — the only bird never identified by the best configuration</a:t>
            </a:r>
            <a:endParaRPr lang="en-US" sz="1250" dirty="0"/>
          </a:p>
          <a:p>
            <a:pPr marL="342900" indent="-342900">
              <a:lnSpc>
                <a:spcPct val="105000"/>
              </a:lnSpc>
              <a:spcAft>
                <a:spcPts val="1200"/>
              </a:spcAft>
              <a:buSzPct val="100000"/>
              <a:buChar char="•"/>
            </a:pPr>
            <a:r>
              <a:rPr lang="en-US" sz="1250" dirty="0">
                <a:solidFill>
                  <a:srgbClr val="24303C"/>
                </a:solidFill>
                <a:latin typeface="Calibri" pitchFamily="34" charset="0"/>
                <a:ea typeface="Calibri" pitchFamily="34" charset="-122"/>
                <a:cs typeface="Calibri" pitchFamily="34" charset="-120"/>
              </a:rPr>
              <a:t>The four that do not gain are all 3-to-5-session birds: the same session story</a:t>
            </a:r>
            <a:endParaRPr lang="en-US" sz="1250" dirty="0"/>
          </a:p>
        </p:txBody>
      </p:sp>
      <p:sp>
        <p:nvSpPr>
          <p:cNvPr id="6" name="Text 3"/>
          <p:cNvSpPr txBox="1"/>
          <p:nvPr/>
        </p:nvSpPr>
        <p:spPr>
          <a:xfrm>
            <a:off x="10527487" y="6437376"/>
            <a:ext cx="1097280" cy="256032"/>
          </a:xfrm>
          <a:prstGeom prst="rect">
            <a:avLst/>
          </a:prstGeom>
          <a:noFill/>
          <a:ln/>
        </p:spPr>
        <p:txBody>
          <a:bodyPr wrap="square" lIns="0" tIns="0" rIns="0" bIns="0" rtlCol="0" anchor="ctr"/>
          <a:lstStyle/>
          <a:p>
            <a:pPr algn="r" indent="0" marL="0">
              <a:buNone/>
            </a:pPr>
            <a:r>
              <a:rPr lang="en-US" sz="900" b="1" spc="120" kern="0" dirty="0">
                <a:solidFill>
                  <a:srgbClr val="A9AEB5"/>
                </a:solidFill>
                <a:latin typeface="Calibri" pitchFamily="34" charset="0"/>
                <a:ea typeface="Calibri" pitchFamily="34" charset="-122"/>
                <a:cs typeface="Calibri" pitchFamily="34" charset="-120"/>
              </a:rPr>
              <a:t>BACKUP</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CFCFB"/>
        </a:solidFill>
      </p:bgPr>
    </p:bg>
    <p:spTree>
      <p:nvGrpSpPr>
        <p:cNvPr id="1" name=""/>
        <p:cNvGrpSpPr/>
        <p:nvPr/>
      </p:nvGrpSpPr>
      <p:grpSpPr>
        <a:xfrm>
          <a:off x="0" y="0"/>
          <a:ext cx="0" cy="0"/>
          <a:chOff x="0" y="0"/>
          <a:chExt cx="0" cy="0"/>
        </a:xfrm>
      </p:grpSpPr>
      <p:sp>
        <p:nvSpPr>
          <p:cNvPr id="2" name="Text 0"/>
          <p:cNvSpPr txBox="1"/>
          <p:nvPr/>
        </p:nvSpPr>
        <p:spPr>
          <a:xfrm>
            <a:off x="566928" y="146304"/>
            <a:ext cx="11057839" cy="219456"/>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Q — EVALUATION DESIGN</a:t>
            </a:r>
            <a:endParaRPr lang="en-US" sz="1100" dirty="0"/>
          </a:p>
        </p:txBody>
      </p:sp>
      <p:sp>
        <p:nvSpPr>
          <p:cNvPr id="3" name="Text 1"/>
          <p:cNvSpPr txBox="1"/>
          <p:nvPr/>
        </p:nvSpPr>
        <p:spPr>
          <a:xfrm>
            <a:off x="566928" y="384048"/>
            <a:ext cx="11057839" cy="658368"/>
          </a:xfrm>
          <a:prstGeom prst="rect">
            <a:avLst/>
          </a:prstGeom>
          <a:noFill/>
          <a:ln/>
        </p:spPr>
        <p:txBody>
          <a:bodyPr wrap="square" lIns="0" tIns="0" rIns="0" bIns="0" rtlCol="0" anchor="t"/>
          <a:lstStyle/>
          <a:p>
            <a:pPr algn="l" indent="0" marL="0">
              <a:lnSpc>
                <a:spcPct val="95000"/>
              </a:lnSpc>
              <a:buNone/>
            </a:pPr>
            <a:r>
              <a:rPr lang="en-US" sz="2500" b="1" dirty="0">
                <a:solidFill>
                  <a:srgbClr val="0E2A47"/>
                </a:solidFill>
                <a:latin typeface="Cambria" pitchFamily="34" charset="0"/>
                <a:ea typeface="Cambria" pitchFamily="34" charset="-122"/>
                <a:cs typeface="Cambria" pitchFamily="34" charset="-120"/>
              </a:rPr>
              <a:t>Why cross-validate rather than hold out one split?</a:t>
            </a:r>
            <a:endParaRPr lang="en-US" sz="2500" dirty="0"/>
          </a:p>
        </p:txBody>
      </p:sp>
      <p:pic>
        <p:nvPicPr>
          <p:cNvPr id="4" name="Image 0" descr="/home/user/pgs/presentation/assets/11_evaluation_coverage_notitle.png">    </p:cNvPr>
          <p:cNvPicPr>
            <a:picLocks noChangeAspect="1"/>
          </p:cNvPicPr>
          <p:nvPr/>
        </p:nvPicPr>
        <p:blipFill>
          <a:blip r:embed="rId1"/>
          <a:stretch>
            <a:fillRect/>
          </a:stretch>
        </p:blipFill>
        <p:spPr>
          <a:xfrm>
            <a:off x="5816647" y="1115568"/>
            <a:ext cx="4643025" cy="4754880"/>
          </a:xfrm>
          <a:prstGeom prst="rect">
            <a:avLst/>
          </a:prstGeom>
        </p:spPr>
      </p:pic>
      <p:sp>
        <p:nvSpPr>
          <p:cNvPr id="5" name="Text 2"/>
          <p:cNvSpPr txBox="1"/>
          <p:nvPr/>
        </p:nvSpPr>
        <p:spPr>
          <a:xfrm>
            <a:off x="566928" y="1600200"/>
            <a:ext cx="3749040" cy="4023360"/>
          </a:xfrm>
          <a:prstGeom prst="rect">
            <a:avLst/>
          </a:prstGeom>
          <a:noFill/>
          <a:ln/>
        </p:spPr>
        <p:txBody>
          <a:bodyPr wrap="square" lIns="0" tIns="0" rIns="0" bIns="0" rtlCol="0" anchor="t"/>
          <a:lstStyle/>
          <a:p>
            <a:pPr marL="342900" indent="-342900">
              <a:lnSpc>
                <a:spcPct val="105000"/>
              </a:lnSpc>
              <a:spcAft>
                <a:spcPts val="1600"/>
              </a:spcAft>
              <a:buSzPct val="100000"/>
              <a:buChar char="•"/>
            </a:pPr>
            <a:r>
              <a:rPr lang="en-US" sz="1350" dirty="0">
                <a:solidFill>
                  <a:srgbClr val="24303C"/>
                </a:solidFill>
                <a:latin typeface="Calibri" pitchFamily="34" charset="0"/>
                <a:ea typeface="Calibri" pitchFamily="34" charset="-122"/>
                <a:cs typeface="Calibri" pitchFamily="34" charset="-120"/>
              </a:rPr>
              <a:t>A single session-disjoint split tests only 261 of 1,743 photographs</a:t>
            </a:r>
            <a:endParaRPr lang="en-US" sz="1350" dirty="0"/>
          </a:p>
          <a:p>
            <a:pPr marL="342900" indent="-342900">
              <a:lnSpc>
                <a:spcPct val="105000"/>
              </a:lnSpc>
              <a:spcAft>
                <a:spcPts val="1600"/>
              </a:spcAft>
              <a:buSzPct val="100000"/>
              <a:buChar char="•"/>
            </a:pPr>
            <a:r>
              <a:rPr lang="en-US" sz="1350" dirty="0">
                <a:solidFill>
                  <a:srgbClr val="24303C"/>
                </a:solidFill>
                <a:latin typeface="Calibri" pitchFamily="34" charset="0"/>
                <a:ea typeface="Calibri" pitchFamily="34" charset="-122"/>
                <a:cs typeface="Calibri" pitchFamily="34" charset="-120"/>
              </a:rPr>
              <a:t>Three birds are judged on a single test photograph</a:t>
            </a:r>
            <a:endParaRPr lang="en-US" sz="1350" dirty="0"/>
          </a:p>
          <a:p>
            <a:pPr marL="342900" indent="-342900">
              <a:lnSpc>
                <a:spcPct val="105000"/>
              </a:lnSpc>
              <a:spcAft>
                <a:spcPts val="1600"/>
              </a:spcAft>
              <a:buSzPct val="100000"/>
              <a:buChar char="•"/>
            </a:pPr>
            <a:r>
              <a:rPr lang="en-US" sz="1350" dirty="0">
                <a:solidFill>
                  <a:srgbClr val="24303C"/>
                </a:solidFill>
                <a:latin typeface="Calibri" pitchFamily="34" charset="0"/>
                <a:ea typeface="Calibri" pitchFamily="34" charset="-122"/>
                <a:cs typeface="Calibri" pitchFamily="34" charset="-120"/>
              </a:rPr>
              <a:t>Session-wise 5-fold tests all 1,743 exactly once, still session-disjoint</a:t>
            </a:r>
            <a:endParaRPr lang="en-US" sz="1350" dirty="0"/>
          </a:p>
          <a:p>
            <a:pPr marL="342900" indent="-342900">
              <a:lnSpc>
                <a:spcPct val="105000"/>
              </a:lnSpc>
              <a:spcAft>
                <a:spcPts val="1600"/>
              </a:spcAft>
              <a:buSzPct val="100000"/>
              <a:buChar char="•"/>
            </a:pPr>
            <a:r>
              <a:rPr lang="en-US" sz="1350" dirty="0">
                <a:solidFill>
                  <a:srgbClr val="24303C"/>
                </a:solidFill>
                <a:latin typeface="Calibri" pitchFamily="34" charset="0"/>
                <a:ea typeface="Calibri" pitchFamily="34" charset="-122"/>
                <a:cs typeface="Calibri" pitchFamily="34" charset="-120"/>
              </a:rPr>
              <a:t>Every bird's whole record contributes out-of-fold evidence</a:t>
            </a:r>
            <a:endParaRPr lang="en-US" sz="1350" dirty="0"/>
          </a:p>
        </p:txBody>
      </p:sp>
      <p:sp>
        <p:nvSpPr>
          <p:cNvPr id="6" name="Text 3"/>
          <p:cNvSpPr txBox="1"/>
          <p:nvPr/>
        </p:nvSpPr>
        <p:spPr>
          <a:xfrm>
            <a:off x="10527487" y="6437376"/>
            <a:ext cx="1097280" cy="256032"/>
          </a:xfrm>
          <a:prstGeom prst="rect">
            <a:avLst/>
          </a:prstGeom>
          <a:noFill/>
          <a:ln/>
        </p:spPr>
        <p:txBody>
          <a:bodyPr wrap="square" lIns="0" tIns="0" rIns="0" bIns="0" rtlCol="0" anchor="ctr"/>
          <a:lstStyle/>
          <a:p>
            <a:pPr algn="r" indent="0" marL="0">
              <a:buNone/>
            </a:pPr>
            <a:r>
              <a:rPr lang="en-US" sz="900" b="1" spc="120" kern="0" dirty="0">
                <a:solidFill>
                  <a:srgbClr val="A9AEB5"/>
                </a:solidFill>
                <a:latin typeface="Calibri" pitchFamily="34" charset="0"/>
                <a:ea typeface="Calibri" pitchFamily="34" charset="-122"/>
                <a:cs typeface="Calibri" pitchFamily="34" charset="-120"/>
              </a:rPr>
              <a:t>BACKUP</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CFCFB"/>
        </a:solidFill>
      </p:bgPr>
    </p:bg>
    <p:spTree>
      <p:nvGrpSpPr>
        <p:cNvPr id="1" name=""/>
        <p:cNvGrpSpPr/>
        <p:nvPr/>
      </p:nvGrpSpPr>
      <p:grpSpPr>
        <a:xfrm>
          <a:off x="0" y="0"/>
          <a:ext cx="0" cy="0"/>
          <a:chOff x="0" y="0"/>
          <a:chExt cx="0" cy="0"/>
        </a:xfrm>
      </p:grpSpPr>
      <p:sp>
        <p:nvSpPr>
          <p:cNvPr id="2" name="Text 0"/>
          <p:cNvSpPr txBox="1"/>
          <p:nvPr/>
        </p:nvSpPr>
        <p:spPr>
          <a:xfrm>
            <a:off x="566928" y="146304"/>
            <a:ext cx="11057839" cy="219456"/>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Q — THE OBVIOUS ECOLOGY QUESTION</a:t>
            </a:r>
            <a:endParaRPr lang="en-US" sz="1100" dirty="0"/>
          </a:p>
        </p:txBody>
      </p:sp>
      <p:sp>
        <p:nvSpPr>
          <p:cNvPr id="3" name="Text 1"/>
          <p:cNvSpPr txBox="1"/>
          <p:nvPr/>
        </p:nvSpPr>
        <p:spPr>
          <a:xfrm>
            <a:off x="566928" y="384048"/>
            <a:ext cx="11057839" cy="658368"/>
          </a:xfrm>
          <a:prstGeom prst="rect">
            <a:avLst/>
          </a:prstGeom>
          <a:noFill/>
          <a:ln/>
        </p:spPr>
        <p:txBody>
          <a:bodyPr wrap="square" lIns="0" tIns="0" rIns="0" bIns="0" rtlCol="0" anchor="t"/>
          <a:lstStyle/>
          <a:p>
            <a:pPr algn="l" indent="0" marL="0">
              <a:lnSpc>
                <a:spcPct val="95000"/>
              </a:lnSpc>
              <a:buNone/>
            </a:pPr>
            <a:r>
              <a:rPr lang="en-US" sz="2500" b="1" dirty="0">
                <a:solidFill>
                  <a:srgbClr val="0E2A47"/>
                </a:solidFill>
                <a:latin typeface="Cambria" pitchFamily="34" charset="0"/>
                <a:ea typeface="Cambria" pitchFamily="34" charset="-122"/>
                <a:cs typeface="Cambria" pitchFamily="34" charset="-120"/>
              </a:rPr>
              <a:t>Why not crop to the breast spots?</a:t>
            </a:r>
            <a:endParaRPr lang="en-US" sz="2500" dirty="0"/>
          </a:p>
        </p:txBody>
      </p:sp>
      <p:pic>
        <p:nvPicPr>
          <p:cNvPr id="4" name="Image 0" descr="/home/user/pgs/presentation/assets/03_belly_detector_map.png">    </p:cNvPr>
          <p:cNvPicPr>
            <a:picLocks noChangeAspect="1"/>
          </p:cNvPicPr>
          <p:nvPr/>
        </p:nvPicPr>
        <p:blipFill>
          <a:blip r:embed="rId1"/>
          <a:stretch>
            <a:fillRect/>
          </a:stretch>
        </p:blipFill>
        <p:spPr>
          <a:xfrm>
            <a:off x="6446520" y="2078566"/>
            <a:ext cx="5193792" cy="2883748"/>
          </a:xfrm>
          <a:prstGeom prst="rect">
            <a:avLst/>
          </a:prstGeom>
        </p:spPr>
      </p:pic>
      <p:sp>
        <p:nvSpPr>
          <p:cNvPr id="5" name="Text 2"/>
          <p:cNvSpPr txBox="1"/>
          <p:nvPr/>
        </p:nvSpPr>
        <p:spPr>
          <a:xfrm>
            <a:off x="566928" y="1463040"/>
            <a:ext cx="5577840" cy="4206240"/>
          </a:xfrm>
          <a:prstGeom prst="rect">
            <a:avLst/>
          </a:prstGeom>
          <a:noFill/>
          <a:ln/>
        </p:spPr>
        <p:txBody>
          <a:bodyPr wrap="square" lIns="0" tIns="0" rIns="0" bIns="0" rtlCol="0" anchor="t"/>
          <a:lstStyle/>
          <a:p>
            <a:pPr marL="342900" indent="-342900">
              <a:lnSpc>
                <a:spcPct val="105000"/>
              </a:lnSpc>
              <a:spcAft>
                <a:spcPts val="1900"/>
              </a:spcAft>
              <a:buSzPct val="100000"/>
              <a:buChar char="•"/>
            </a:pPr>
            <a:r>
              <a:rPr lang="en-US" sz="1400" dirty="0">
                <a:solidFill>
                  <a:srgbClr val="24303C"/>
                </a:solidFill>
                <a:latin typeface="Calibri" pitchFamily="34" charset="0"/>
                <a:ea typeface="Calibri" pitchFamily="34" charset="-122"/>
                <a:cs typeface="Calibri" pitchFamily="34" charset="-120"/>
              </a:rPr>
              <a:t>I did. A YOLOv8s ventral-region detector reaches mAP@50 ≈ 0.98</a:t>
            </a:r>
            <a:endParaRPr lang="en-US" sz="1400" dirty="0"/>
          </a:p>
          <a:p>
            <a:pPr marL="342900" indent="-342900">
              <a:lnSpc>
                <a:spcPct val="105000"/>
              </a:lnSpc>
              <a:spcAft>
                <a:spcPts val="1900"/>
              </a:spcAft>
              <a:buSzPct val="100000"/>
              <a:buChar char="•"/>
            </a:pPr>
            <a:r>
              <a:rPr lang="en-US" sz="1400" dirty="0">
                <a:solidFill>
                  <a:srgbClr val="24303C"/>
                </a:solidFill>
                <a:latin typeface="Calibri" pitchFamily="34" charset="0"/>
                <a:ea typeface="Calibri" pitchFamily="34" charset="-122"/>
                <a:cs typeface="Calibri" pitchFamily="34" charset="-120"/>
              </a:rPr>
              <a:t>The classifier on the cropped bellies still lost: 0.866 against 0.950 on full-body images (both under the leaky random split)</a:t>
            </a:r>
            <a:endParaRPr lang="en-US" sz="1400" dirty="0"/>
          </a:p>
          <a:p>
            <a:pPr marL="342900" indent="-342900">
              <a:lnSpc>
                <a:spcPct val="105000"/>
              </a:lnSpc>
              <a:spcAft>
                <a:spcPts val="1900"/>
              </a:spcAft>
              <a:buSzPct val="100000"/>
              <a:buChar char="•"/>
            </a:pPr>
            <a:r>
              <a:rPr lang="en-US" sz="1400" dirty="0">
                <a:solidFill>
                  <a:srgbClr val="24303C"/>
                </a:solidFill>
                <a:latin typeface="Calibri" pitchFamily="34" charset="0"/>
                <a:ea typeface="Calibri" pitchFamily="34" charset="-122"/>
                <a:cs typeface="Calibri" pitchFamily="34" charset="-120"/>
              </a:rPr>
              <a:t>Cropping removes identity information the model was using — face, chest band, proportions, posture</a:t>
            </a:r>
            <a:endParaRPr lang="en-US" sz="1400" dirty="0"/>
          </a:p>
          <a:p>
            <a:pPr marL="342900" indent="-342900">
              <a:lnSpc>
                <a:spcPct val="105000"/>
              </a:lnSpc>
              <a:spcAft>
                <a:spcPts val="1900"/>
              </a:spcAft>
              <a:buSzPct val="100000"/>
              <a:buChar char="•"/>
            </a:pPr>
            <a:r>
              <a:rPr lang="en-US" sz="1400" dirty="0">
                <a:solidFill>
                  <a:srgbClr val="24303C"/>
                </a:solidFill>
                <a:latin typeface="Calibri" pitchFamily="34" charset="0"/>
                <a:ea typeface="Calibri" pitchFamily="34" charset="-122"/>
                <a:cs typeface="Calibri" pitchFamily="34" charset="-120"/>
              </a:rPr>
              <a:t>So localisation was not the bottleneck, and every reported identification number uses uncropped photographs</a:t>
            </a:r>
            <a:endParaRPr lang="en-US" sz="1400" dirty="0"/>
          </a:p>
        </p:txBody>
      </p:sp>
      <p:sp>
        <p:nvSpPr>
          <p:cNvPr id="6" name="Text 3"/>
          <p:cNvSpPr txBox="1"/>
          <p:nvPr/>
        </p:nvSpPr>
        <p:spPr>
          <a:xfrm>
            <a:off x="10527487" y="6437376"/>
            <a:ext cx="1097280" cy="256032"/>
          </a:xfrm>
          <a:prstGeom prst="rect">
            <a:avLst/>
          </a:prstGeom>
          <a:noFill/>
          <a:ln/>
        </p:spPr>
        <p:txBody>
          <a:bodyPr wrap="square" lIns="0" tIns="0" rIns="0" bIns="0" rtlCol="0" anchor="ctr"/>
          <a:lstStyle/>
          <a:p>
            <a:pPr algn="r" indent="0" marL="0">
              <a:buNone/>
            </a:pPr>
            <a:r>
              <a:rPr lang="en-US" sz="900" b="1" spc="120" kern="0" dirty="0">
                <a:solidFill>
                  <a:srgbClr val="A9AEB5"/>
                </a:solidFill>
                <a:latin typeface="Calibri" pitchFamily="34" charset="0"/>
                <a:ea typeface="Calibri" pitchFamily="34" charset="-122"/>
                <a:cs typeface="Calibri" pitchFamily="34" charset="-120"/>
              </a:rPr>
              <a:t>BACKUP</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CFCFB"/>
        </a:solidFill>
      </p:bgPr>
    </p:bg>
    <p:spTree>
      <p:nvGrpSpPr>
        <p:cNvPr id="1" name=""/>
        <p:cNvGrpSpPr/>
        <p:nvPr/>
      </p:nvGrpSpPr>
      <p:grpSpPr>
        <a:xfrm>
          <a:off x="0" y="0"/>
          <a:ext cx="0" cy="0"/>
          <a:chOff x="0" y="0"/>
          <a:chExt cx="0" cy="0"/>
        </a:xfrm>
      </p:grpSpPr>
      <p:sp>
        <p:nvSpPr>
          <p:cNvPr id="2" name="Text 0"/>
          <p:cNvSpPr txBox="1"/>
          <p:nvPr/>
        </p:nvSpPr>
        <p:spPr>
          <a:xfrm>
            <a:off x="566928" y="146304"/>
            <a:ext cx="11057839" cy="219456"/>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Q — OPEN-SET CALIBRATION</a:t>
            </a:r>
            <a:endParaRPr lang="en-US" sz="1100" dirty="0"/>
          </a:p>
        </p:txBody>
      </p:sp>
      <p:sp>
        <p:nvSpPr>
          <p:cNvPr id="3" name="Text 1"/>
          <p:cNvSpPr txBox="1"/>
          <p:nvPr/>
        </p:nvSpPr>
        <p:spPr>
          <a:xfrm>
            <a:off x="566928" y="384048"/>
            <a:ext cx="11057839" cy="658368"/>
          </a:xfrm>
          <a:prstGeom prst="rect">
            <a:avLst/>
          </a:prstGeom>
          <a:noFill/>
          <a:ln/>
        </p:spPr>
        <p:txBody>
          <a:bodyPr wrap="square" lIns="0" tIns="0" rIns="0" bIns="0" rtlCol="0" anchor="t"/>
          <a:lstStyle/>
          <a:p>
            <a:pPr algn="l" indent="0" marL="0">
              <a:lnSpc>
                <a:spcPct val="95000"/>
              </a:lnSpc>
              <a:buNone/>
            </a:pPr>
            <a:r>
              <a:rPr lang="en-US" sz="2500" b="1" dirty="0">
                <a:solidFill>
                  <a:srgbClr val="0E2A47"/>
                </a:solidFill>
                <a:latin typeface="Cambria" pitchFamily="34" charset="0"/>
                <a:ea typeface="Cambria" pitchFamily="34" charset="-122"/>
                <a:cs typeface="Cambria" pitchFamily="34" charset="-120"/>
              </a:rPr>
              <a:t>The threshold has a provenance, and it was wrong once</a:t>
            </a:r>
            <a:endParaRPr lang="en-US" sz="2500" dirty="0"/>
          </a:p>
        </p:txBody>
      </p:sp>
      <p:pic>
        <p:nvPicPr>
          <p:cNvPr id="4" name="Image 0" descr="/home/user/pgs/presentation/assets/s10_openset.png">    </p:cNvPr>
          <p:cNvPicPr>
            <a:picLocks noChangeAspect="1"/>
          </p:cNvPicPr>
          <p:nvPr/>
        </p:nvPicPr>
        <p:blipFill>
          <a:blip r:embed="rId1"/>
          <a:stretch>
            <a:fillRect/>
          </a:stretch>
        </p:blipFill>
        <p:spPr>
          <a:xfrm>
            <a:off x="566928" y="1483708"/>
            <a:ext cx="6858000" cy="3936304"/>
          </a:xfrm>
          <a:prstGeom prst="rect">
            <a:avLst/>
          </a:prstGeom>
        </p:spPr>
      </p:pic>
      <p:sp>
        <p:nvSpPr>
          <p:cNvPr id="5" name="Shape 2"/>
          <p:cNvSpPr/>
          <p:nvPr/>
        </p:nvSpPr>
        <p:spPr>
          <a:xfrm>
            <a:off x="7589520" y="1280160"/>
            <a:ext cx="4069080" cy="2148840"/>
          </a:xfrm>
          <a:prstGeom prst="roundRect">
            <a:avLst>
              <a:gd name="adj" fmla="val 2553"/>
            </a:avLst>
          </a:prstGeom>
          <a:solidFill>
            <a:srgbClr val="F1F0EC"/>
          </a:solidFill>
          <a:ln w="12700">
            <a:solidFill>
              <a:srgbClr val="F1F0EC"/>
            </a:solidFill>
            <a:prstDash val="solid"/>
          </a:ln>
        </p:spPr>
      </p:sp>
      <p:sp>
        <p:nvSpPr>
          <p:cNvPr id="6" name="Text 3"/>
          <p:cNvSpPr txBox="1"/>
          <p:nvPr/>
        </p:nvSpPr>
        <p:spPr>
          <a:xfrm>
            <a:off x="7818120" y="1426464"/>
            <a:ext cx="3611880" cy="274320"/>
          </a:xfrm>
          <a:prstGeom prst="rect">
            <a:avLst/>
          </a:prstGeom>
          <a:noFill/>
          <a:ln/>
        </p:spPr>
        <p:txBody>
          <a:bodyPr wrap="square" lIns="0" tIns="0" rIns="0" bIns="0" rtlCol="0" anchor="ctr"/>
          <a:lstStyle/>
          <a:p>
            <a:pPr indent="0" marL="0">
              <a:buNone/>
            </a:pPr>
            <a:r>
              <a:rPr lang="en-US" sz="1300" b="1" dirty="0">
                <a:solidFill>
                  <a:srgbClr val="EB6834"/>
                </a:solidFill>
                <a:latin typeface="Calibri" pitchFamily="34" charset="0"/>
                <a:ea typeface="Calibri" pitchFamily="34" charset="-122"/>
                <a:cs typeface="Calibri" pitchFamily="34" charset="-120"/>
              </a:rPr>
              <a:t>The error I caught</a:t>
            </a:r>
            <a:endParaRPr lang="en-US" sz="1300" dirty="0"/>
          </a:p>
        </p:txBody>
      </p:sp>
      <p:sp>
        <p:nvSpPr>
          <p:cNvPr id="7" name="Text 4"/>
          <p:cNvSpPr txBox="1"/>
          <p:nvPr/>
        </p:nvSpPr>
        <p:spPr>
          <a:xfrm>
            <a:off x="7818120" y="1755648"/>
            <a:ext cx="3611880" cy="1554480"/>
          </a:xfrm>
          <a:prstGeom prst="rect">
            <a:avLst/>
          </a:prstGeom>
          <a:noFill/>
          <a:ln/>
        </p:spPr>
        <p:txBody>
          <a:bodyPr wrap="square" lIns="0" tIns="0" rIns="0" bIns="0" rtlCol="0" anchor="t"/>
          <a:lstStyle/>
          <a:p>
            <a:pPr indent="0" marL="0">
              <a:lnSpc>
                <a:spcPct val="108000"/>
              </a:lnSpc>
              <a:buNone/>
            </a:pPr>
            <a:r>
              <a:rPr lang="en-US" sz="1150" dirty="0">
                <a:solidFill>
                  <a:srgbClr val="24303C"/>
                </a:solidFill>
                <a:latin typeface="Calibri" pitchFamily="34" charset="0"/>
                <a:ea typeface="Calibri" pitchFamily="34" charset="-122"/>
                <a:cs typeface="Calibri" pitchFamily="34" charset="-120"/>
              </a:rPr>
              <a:t>The first shipped threshold was 0.800, tuned on the leaky split with simulated impostors, and documented as rejecting 96.6% of unknown birds. Measured against real never-trained birds it accepts 29.7% of them. That is what replaced it with 0.938.</a:t>
            </a:r>
            <a:endParaRPr lang="en-US" sz="1150" dirty="0"/>
          </a:p>
        </p:txBody>
      </p:sp>
      <p:sp>
        <p:nvSpPr>
          <p:cNvPr id="8" name="Text 5"/>
          <p:cNvSpPr txBox="1"/>
          <p:nvPr/>
        </p:nvSpPr>
        <p:spPr>
          <a:xfrm>
            <a:off x="7818120" y="3611880"/>
            <a:ext cx="3657600" cy="1920240"/>
          </a:xfrm>
          <a:prstGeom prst="rect">
            <a:avLst/>
          </a:prstGeom>
          <a:noFill/>
          <a:ln/>
        </p:spPr>
        <p:txBody>
          <a:bodyPr wrap="square" lIns="0" tIns="0" rIns="0" bIns="0" rtlCol="0" anchor="t"/>
          <a:lstStyle/>
          <a:p>
            <a:pPr marL="342900" indent="-342900">
              <a:lnSpc>
                <a:spcPct val="105000"/>
              </a:lnSpc>
              <a:spcAft>
                <a:spcPts val="1000"/>
              </a:spcAft>
              <a:buSzPct val="100000"/>
              <a:buChar char="•"/>
            </a:pPr>
            <a:r>
              <a:rPr lang="en-US" sz="1200" dirty="0">
                <a:solidFill>
                  <a:srgbClr val="24303C"/>
                </a:solidFill>
                <a:latin typeface="Calibri" pitchFamily="34" charset="0"/>
                <a:ea typeface="Calibri" pitchFamily="34" charset="-122"/>
                <a:cs typeface="Calibri" pitchFamily="34" charset="-120"/>
              </a:rPr>
              <a:t>0.974 → 1% FAR → DIR 0.123</a:t>
            </a:r>
            <a:endParaRPr lang="en-US" sz="1200" dirty="0"/>
          </a:p>
          <a:p>
            <a:pPr marL="342900" indent="-342900">
              <a:lnSpc>
                <a:spcPct val="105000"/>
              </a:lnSpc>
              <a:spcAft>
                <a:spcPts val="1000"/>
              </a:spcAft>
              <a:buSzPct val="100000"/>
              <a:buChar char="•"/>
            </a:pPr>
            <a:r>
              <a:rPr lang="en-US" sz="1200" dirty="0">
                <a:solidFill>
                  <a:srgbClr val="24303C"/>
                </a:solidFill>
                <a:latin typeface="Calibri" pitchFamily="34" charset="0"/>
                <a:ea typeface="Calibri" pitchFamily="34" charset="-122"/>
                <a:cs typeface="Calibri" pitchFamily="34" charset="-120"/>
              </a:rPr>
              <a:t>0.938 → 5% FAR → DIR 0.237  (shipped)</a:t>
            </a:r>
            <a:endParaRPr lang="en-US" sz="1200" dirty="0"/>
          </a:p>
          <a:p>
            <a:pPr marL="342900" indent="-342900">
              <a:lnSpc>
                <a:spcPct val="105000"/>
              </a:lnSpc>
              <a:spcAft>
                <a:spcPts val="1000"/>
              </a:spcAft>
              <a:buSzPct val="100000"/>
              <a:buChar char="•"/>
            </a:pPr>
            <a:r>
              <a:rPr lang="en-US" sz="1200" dirty="0">
                <a:solidFill>
                  <a:srgbClr val="24303C"/>
                </a:solidFill>
                <a:latin typeface="Calibri" pitchFamily="34" charset="0"/>
                <a:ea typeface="Calibri" pitchFamily="34" charset="-122"/>
                <a:cs typeface="Calibri" pitchFamily="34" charset="-120"/>
              </a:rPr>
              <a:t>0.908 → 10% FAR → DIR 0.312</a:t>
            </a:r>
            <a:endParaRPr lang="en-US" sz="1200" dirty="0"/>
          </a:p>
          <a:p>
            <a:pPr marL="342900" indent="-342900">
              <a:lnSpc>
                <a:spcPct val="105000"/>
              </a:lnSpc>
              <a:spcAft>
                <a:spcPts val="1000"/>
              </a:spcAft>
              <a:buSzPct val="100000"/>
              <a:buChar char="•"/>
            </a:pPr>
            <a:r>
              <a:rPr lang="en-US" sz="1200" dirty="0">
                <a:solidFill>
                  <a:srgbClr val="24303C"/>
                </a:solidFill>
                <a:latin typeface="Calibri" pitchFamily="34" charset="0"/>
                <a:ea typeface="Calibri" pitchFamily="34" charset="-122"/>
                <a:cs typeface="Calibri" pitchFamily="34" charset="-120"/>
              </a:rPr>
              <a:t>Transferred from the CV models, not recalibrated after full-data training</a:t>
            </a:r>
            <a:endParaRPr lang="en-US" sz="1200" dirty="0"/>
          </a:p>
        </p:txBody>
      </p:sp>
      <p:sp>
        <p:nvSpPr>
          <p:cNvPr id="9" name="Text 6"/>
          <p:cNvSpPr txBox="1"/>
          <p:nvPr/>
        </p:nvSpPr>
        <p:spPr>
          <a:xfrm>
            <a:off x="10527487" y="6437376"/>
            <a:ext cx="1097280" cy="256032"/>
          </a:xfrm>
          <a:prstGeom prst="rect">
            <a:avLst/>
          </a:prstGeom>
          <a:noFill/>
          <a:ln/>
        </p:spPr>
        <p:txBody>
          <a:bodyPr wrap="square" lIns="0" tIns="0" rIns="0" bIns="0" rtlCol="0" anchor="ctr"/>
          <a:lstStyle/>
          <a:p>
            <a:pPr algn="r" indent="0" marL="0">
              <a:buNone/>
            </a:pPr>
            <a:r>
              <a:rPr lang="en-US" sz="900" b="1" spc="120" kern="0" dirty="0">
                <a:solidFill>
                  <a:srgbClr val="A9AEB5"/>
                </a:solidFill>
                <a:latin typeface="Calibri" pitchFamily="34" charset="0"/>
                <a:ea typeface="Calibri" pitchFamily="34" charset="-122"/>
                <a:cs typeface="Calibri" pitchFamily="34" charset="-120"/>
              </a:rPr>
              <a:t>BACKUP</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CFCFB"/>
        </a:solidFill>
      </p:bgPr>
    </p:bg>
    <p:spTree>
      <p:nvGrpSpPr>
        <p:cNvPr id="1" name=""/>
        <p:cNvGrpSpPr/>
        <p:nvPr/>
      </p:nvGrpSpPr>
      <p:grpSpPr>
        <a:xfrm>
          <a:off x="0" y="0"/>
          <a:ext cx="0" cy="0"/>
          <a:chOff x="0" y="0"/>
          <a:chExt cx="0" cy="0"/>
        </a:xfrm>
      </p:grpSpPr>
      <p:sp>
        <p:nvSpPr>
          <p:cNvPr id="2" name="Text 0"/>
          <p:cNvSpPr txBox="1"/>
          <p:nvPr/>
        </p:nvSpPr>
        <p:spPr>
          <a:xfrm>
            <a:off x="566928" y="146304"/>
            <a:ext cx="11057839" cy="219456"/>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Q — OVERFITTING AND THE 1.000 DIAGNOSTIC</a:t>
            </a:r>
            <a:endParaRPr lang="en-US" sz="1100" dirty="0"/>
          </a:p>
        </p:txBody>
      </p:sp>
      <p:sp>
        <p:nvSpPr>
          <p:cNvPr id="3" name="Text 1"/>
          <p:cNvSpPr txBox="1"/>
          <p:nvPr/>
        </p:nvSpPr>
        <p:spPr>
          <a:xfrm>
            <a:off x="566928" y="384048"/>
            <a:ext cx="11057839" cy="658368"/>
          </a:xfrm>
          <a:prstGeom prst="rect">
            <a:avLst/>
          </a:prstGeom>
          <a:noFill/>
          <a:ln/>
        </p:spPr>
        <p:txBody>
          <a:bodyPr wrap="square" lIns="0" tIns="0" rIns="0" bIns="0" rtlCol="0" anchor="t"/>
          <a:lstStyle/>
          <a:p>
            <a:pPr algn="l" indent="0" marL="0">
              <a:lnSpc>
                <a:spcPct val="95000"/>
              </a:lnSpc>
              <a:buNone/>
            </a:pPr>
            <a:r>
              <a:rPr lang="en-US" sz="2500" b="1" dirty="0">
                <a:solidFill>
                  <a:srgbClr val="0E2A47"/>
                </a:solidFill>
                <a:latin typeface="Cambria" pitchFamily="34" charset="0"/>
                <a:ea typeface="Cambria" pitchFamily="34" charset="-122"/>
                <a:cs typeface="Cambria" pitchFamily="34" charset="-120"/>
              </a:rPr>
              <a:t>Training is fixed-length by design — and memorises perfectly</a:t>
            </a:r>
            <a:endParaRPr lang="en-US" sz="2500" dirty="0"/>
          </a:p>
        </p:txBody>
      </p:sp>
      <p:sp>
        <p:nvSpPr>
          <p:cNvPr id="4" name="Shape 2"/>
          <p:cNvSpPr/>
          <p:nvPr/>
        </p:nvSpPr>
        <p:spPr>
          <a:xfrm>
            <a:off x="566928" y="1280160"/>
            <a:ext cx="5532120" cy="4343400"/>
          </a:xfrm>
          <a:prstGeom prst="roundRect">
            <a:avLst>
              <a:gd name="adj" fmla="val 1263"/>
            </a:avLst>
          </a:prstGeom>
          <a:solidFill>
            <a:srgbClr val="F1F0EC"/>
          </a:solidFill>
          <a:ln w="12700">
            <a:solidFill>
              <a:srgbClr val="F1F0EC"/>
            </a:solidFill>
            <a:prstDash val="solid"/>
          </a:ln>
        </p:spPr>
      </p:sp>
      <p:sp>
        <p:nvSpPr>
          <p:cNvPr id="5" name="Text 3"/>
          <p:cNvSpPr txBox="1"/>
          <p:nvPr/>
        </p:nvSpPr>
        <p:spPr>
          <a:xfrm>
            <a:off x="841248" y="1463040"/>
            <a:ext cx="4983480" cy="274320"/>
          </a:xfrm>
          <a:prstGeom prst="rect">
            <a:avLst/>
          </a:prstGeom>
          <a:noFill/>
          <a:ln/>
        </p:spPr>
        <p:txBody>
          <a:bodyPr wrap="square" lIns="0" tIns="0" rIns="0" bIns="0" rtlCol="0" anchor="ctr"/>
          <a:lstStyle/>
          <a:p>
            <a:pPr indent="0" marL="0">
              <a:buNone/>
            </a:pPr>
            <a:r>
              <a:rPr lang="en-US" sz="1300" b="1" dirty="0">
                <a:solidFill>
                  <a:srgbClr val="0E2A47"/>
                </a:solidFill>
                <a:latin typeface="Calibri" pitchFamily="34" charset="0"/>
                <a:ea typeface="Calibri" pitchFamily="34" charset="-122"/>
                <a:cs typeface="Calibri" pitchFamily="34" charset="-120"/>
              </a:rPr>
              <a:t>The recipe, identical in all 20 runs</a:t>
            </a:r>
            <a:endParaRPr lang="en-US" sz="1300" dirty="0"/>
          </a:p>
        </p:txBody>
      </p:sp>
      <p:sp>
        <p:nvSpPr>
          <p:cNvPr id="6" name="Text 4"/>
          <p:cNvSpPr txBox="1"/>
          <p:nvPr/>
        </p:nvSpPr>
        <p:spPr>
          <a:xfrm>
            <a:off x="841248" y="1828800"/>
            <a:ext cx="4983480" cy="3657600"/>
          </a:xfrm>
          <a:prstGeom prst="rect">
            <a:avLst/>
          </a:prstGeom>
          <a:noFill/>
          <a:ln/>
        </p:spPr>
        <p:txBody>
          <a:bodyPr wrap="square" lIns="0" tIns="0" rIns="0" bIns="0" rtlCol="0" anchor="t"/>
          <a:lstStyle/>
          <a:p>
            <a:pPr marL="342900" indent="-342900">
              <a:lnSpc>
                <a:spcPct val="105000"/>
              </a:lnSpc>
              <a:spcAft>
                <a:spcPts val="1000"/>
              </a:spcAft>
              <a:buSzPct val="100000"/>
              <a:buChar char="•"/>
            </a:pPr>
            <a:r>
              <a:rPr lang="en-US" sz="1200" dirty="0">
                <a:solidFill>
                  <a:srgbClr val="24303C"/>
                </a:solidFill>
                <a:latin typeface="Calibri" pitchFamily="34" charset="0"/>
                <a:ea typeface="Calibri" pitchFamily="34" charset="-122"/>
                <a:cs typeface="Calibri" pitchFamily="34" charset="-120"/>
              </a:rPr>
              <a:t>ResNet18, ImageNet init; 512-d penultimate embedding, L2-normalised; head discarded at inference</a:t>
            </a:r>
            <a:endParaRPr lang="en-US" sz="1200" dirty="0"/>
          </a:p>
          <a:p>
            <a:pPr marL="342900" indent="-342900">
              <a:lnSpc>
                <a:spcPct val="105000"/>
              </a:lnSpc>
              <a:spcAft>
                <a:spcPts val="1000"/>
              </a:spcAft>
              <a:buSzPct val="100000"/>
              <a:buChar char="•"/>
            </a:pPr>
            <a:r>
              <a:rPr lang="en-US" sz="1200" dirty="0">
                <a:solidFill>
                  <a:srgbClr val="24303C"/>
                </a:solidFill>
                <a:latin typeface="Calibri" pitchFamily="34" charset="0"/>
                <a:ea typeface="Calibri" pitchFamily="34" charset="-122"/>
                <a:cs typeface="Calibri" pitchFamily="34" charset="-120"/>
              </a:rPr>
              <a:t>ArcFace scale 30, margin 0.3, warmed up over the first five epochs — the paper's defaults, never tuned, not exposed as flags</a:t>
            </a:r>
            <a:endParaRPr lang="en-US" sz="1200" dirty="0"/>
          </a:p>
          <a:p>
            <a:pPr marL="342900" indent="-342900">
              <a:lnSpc>
                <a:spcPct val="105000"/>
              </a:lnSpc>
              <a:spcAft>
                <a:spcPts val="1000"/>
              </a:spcAft>
              <a:buSzPct val="100000"/>
              <a:buChar char="•"/>
            </a:pPr>
            <a:r>
              <a:rPr lang="en-US" sz="1200" dirty="0">
                <a:solidFill>
                  <a:srgbClr val="24303C"/>
                </a:solidFill>
                <a:latin typeface="Calibri" pitchFamily="34" charset="0"/>
                <a:ea typeface="Calibri" pitchFamily="34" charset="-122"/>
                <a:cs typeface="Calibri" pitchFamily="34" charset="-120"/>
              </a:rPr>
              <a:t>AdamW, lr 3e-4, wd 1e-4, batch 32, AMP, seed 42</a:t>
            </a:r>
            <a:endParaRPr lang="en-US" sz="1200" dirty="0"/>
          </a:p>
          <a:p>
            <a:pPr marL="342900" indent="-342900">
              <a:lnSpc>
                <a:spcPct val="105000"/>
              </a:lnSpc>
              <a:spcAft>
                <a:spcPts val="1000"/>
              </a:spcAft>
              <a:buSzPct val="100000"/>
              <a:buChar char="•"/>
            </a:pPr>
            <a:r>
              <a:rPr lang="en-US" sz="1200" dirty="0">
                <a:solidFill>
                  <a:srgbClr val="24303C"/>
                </a:solidFill>
                <a:latin typeface="Calibri" pitchFamily="34" charset="0"/>
                <a:ea typeface="Calibri" pitchFamily="34" charset="-122"/>
                <a:cs typeface="Calibri" pitchFamily="34" charset="-120"/>
              </a:rPr>
              <a:t>80 fixed epochs; 3-epoch warm-up then cosine decay to exactly zero; final epoch kept unconditionally</a:t>
            </a:r>
            <a:endParaRPr lang="en-US" sz="1200" dirty="0"/>
          </a:p>
          <a:p>
            <a:pPr marL="342900" indent="-342900">
              <a:lnSpc>
                <a:spcPct val="105000"/>
              </a:lnSpc>
              <a:spcAft>
                <a:spcPts val="1000"/>
              </a:spcAft>
              <a:buSzPct val="100000"/>
              <a:buChar char="•"/>
            </a:pPr>
            <a:r>
              <a:rPr lang="en-US" sz="1200" dirty="0">
                <a:solidFill>
                  <a:srgbClr val="24303C"/>
                </a:solidFill>
                <a:latin typeface="Calibri" pitchFamily="34" charset="0"/>
                <a:ea typeface="Calibri" pitchFamily="34" charset="-122"/>
                <a:cs typeface="Calibri" pitchFamily="34" charset="-120"/>
              </a:rPr>
              <a:t>No validation split, no early stopping, no checkpoint selection — so no configuration can win by being selected more luckily</a:t>
            </a:r>
            <a:endParaRPr lang="en-US" sz="1200" dirty="0"/>
          </a:p>
        </p:txBody>
      </p:sp>
      <p:sp>
        <p:nvSpPr>
          <p:cNvPr id="7" name="Text 5"/>
          <p:cNvSpPr txBox="1"/>
          <p:nvPr/>
        </p:nvSpPr>
        <p:spPr>
          <a:xfrm>
            <a:off x="6537960" y="1600200"/>
            <a:ext cx="2514600" cy="630621"/>
          </a:xfrm>
          <a:prstGeom prst="rect">
            <a:avLst/>
          </a:prstGeom>
          <a:noFill/>
          <a:ln/>
        </p:spPr>
        <p:txBody>
          <a:bodyPr wrap="square" lIns="0" tIns="0" rIns="0" bIns="0" rtlCol="0" anchor="b"/>
          <a:lstStyle/>
          <a:p>
            <a:pPr algn="l" indent="0" marL="0">
              <a:buNone/>
            </a:pPr>
            <a:r>
              <a:rPr lang="en-US" sz="4000" b="1" dirty="0">
                <a:solidFill>
                  <a:srgbClr val="A9AEB5"/>
                </a:solidFill>
                <a:latin typeface="Cambria" pitchFamily="34" charset="0"/>
                <a:ea typeface="Cambria" pitchFamily="34" charset="-122"/>
                <a:cs typeface="Cambria" pitchFamily="34" charset="-120"/>
              </a:rPr>
              <a:t>1.000</a:t>
            </a:r>
            <a:endParaRPr lang="en-US" sz="4000" dirty="0"/>
          </a:p>
        </p:txBody>
      </p:sp>
      <p:sp>
        <p:nvSpPr>
          <p:cNvPr id="8" name="Text 6"/>
          <p:cNvSpPr txBox="1"/>
          <p:nvPr/>
        </p:nvSpPr>
        <p:spPr>
          <a:xfrm>
            <a:off x="6537960" y="2267397"/>
            <a:ext cx="2514600" cy="237744"/>
          </a:xfrm>
          <a:prstGeom prst="rect">
            <a:avLst/>
          </a:prstGeom>
          <a:noFill/>
          <a:ln/>
        </p:spPr>
        <p:txBody>
          <a:bodyPr wrap="square" lIns="0" tIns="0" rIns="0" bIns="0" rtlCol="0" anchor="t"/>
          <a:lstStyle/>
          <a:p>
            <a:pPr indent="0" marL="0">
              <a:lnSpc>
                <a:spcPct val="100000"/>
              </a:lnSpc>
              <a:buNone/>
            </a:pPr>
            <a:r>
              <a:rPr lang="en-US" sz="1200" b="1" dirty="0">
                <a:solidFill>
                  <a:srgbClr val="24303C"/>
                </a:solidFill>
                <a:latin typeface="Calibri" pitchFamily="34" charset="0"/>
                <a:ea typeface="Calibri" pitchFamily="34" charset="-122"/>
                <a:cs typeface="Calibri" pitchFamily="34" charset="-120"/>
              </a:rPr>
              <a:t>training photographs</a:t>
            </a:r>
            <a:endParaRPr lang="en-US" sz="1200" dirty="0"/>
          </a:p>
        </p:txBody>
      </p:sp>
      <p:sp>
        <p:nvSpPr>
          <p:cNvPr id="9" name="Text 7"/>
          <p:cNvSpPr txBox="1"/>
          <p:nvPr/>
        </p:nvSpPr>
        <p:spPr>
          <a:xfrm>
            <a:off x="6537960" y="2505141"/>
            <a:ext cx="2514600" cy="566928"/>
          </a:xfrm>
          <a:prstGeom prst="rect">
            <a:avLst/>
          </a:prstGeom>
          <a:noFill/>
          <a:ln/>
        </p:spPr>
        <p:txBody>
          <a:bodyPr wrap="square" lIns="0" tIns="0" rIns="0" bIns="0" rtlCol="0" anchor="t"/>
          <a:lstStyle/>
          <a:p>
            <a:pPr indent="0" marL="0">
              <a:lnSpc>
                <a:spcPct val="95000"/>
              </a:lnSpc>
              <a:buNone/>
            </a:pPr>
            <a:r>
              <a:rPr lang="en-US" sz="1050" dirty="0">
                <a:solidFill>
                  <a:srgbClr val="6E7681"/>
                </a:solidFill>
                <a:latin typeface="Calibri" pitchFamily="34" charset="0"/>
                <a:ea typeface="Calibri" pitchFamily="34" charset="-122"/>
                <a:cs typeface="Calibri" pitchFamily="34" charset="-120"/>
              </a:rPr>
              <a:t>own session excluded — fold 0, 1,394 photos.</a:t>
            </a:r>
            <a:endParaRPr lang="en-US" sz="1050" dirty="0"/>
          </a:p>
          <a:p>
            <a:pPr indent="0" marL="0">
              <a:lnSpc>
                <a:spcPct val="95000"/>
              </a:lnSpc>
              <a:buNone/>
            </a:pPr>
            <a:r>
              <a:rPr lang="en-US" sz="1050" dirty="0">
                <a:solidFill>
                  <a:srgbClr val="6E7681"/>
                </a:solidFill>
                <a:latin typeface="Calibri" pitchFamily="34" charset="0"/>
                <a:ea typeface="Calibri" pitchFamily="34" charset="-122"/>
                <a:cs typeface="Calibri" pitchFamily="34" charset="-120"/>
              </a:rPr>
              <a:t>A diagnostic, not a test.</a:t>
            </a:r>
            <a:endParaRPr lang="en-US" sz="1050" dirty="0"/>
          </a:p>
        </p:txBody>
      </p:sp>
      <p:sp>
        <p:nvSpPr>
          <p:cNvPr id="10" name="Text 8"/>
          <p:cNvSpPr txBox="1"/>
          <p:nvPr/>
        </p:nvSpPr>
        <p:spPr>
          <a:xfrm>
            <a:off x="9281160" y="1600200"/>
            <a:ext cx="2377440" cy="630621"/>
          </a:xfrm>
          <a:prstGeom prst="rect">
            <a:avLst/>
          </a:prstGeom>
          <a:noFill/>
          <a:ln/>
        </p:spPr>
        <p:txBody>
          <a:bodyPr wrap="square" lIns="0" tIns="0" rIns="0" bIns="0" rtlCol="0" anchor="b"/>
          <a:lstStyle/>
          <a:p>
            <a:pPr algn="l" indent="0" marL="0">
              <a:buNone/>
            </a:pPr>
            <a:r>
              <a:rPr lang="en-US" sz="4000" b="1" dirty="0">
                <a:solidFill>
                  <a:srgbClr val="EB6834"/>
                </a:solidFill>
                <a:latin typeface="Cambria" pitchFamily="34" charset="0"/>
                <a:ea typeface="Cambria" pitchFamily="34" charset="-122"/>
                <a:cs typeface="Cambria" pitchFamily="34" charset="-120"/>
              </a:rPr>
              <a:t>0.390</a:t>
            </a:r>
            <a:endParaRPr lang="en-US" sz="4000" dirty="0"/>
          </a:p>
        </p:txBody>
      </p:sp>
      <p:sp>
        <p:nvSpPr>
          <p:cNvPr id="11" name="Text 9"/>
          <p:cNvSpPr txBox="1"/>
          <p:nvPr/>
        </p:nvSpPr>
        <p:spPr>
          <a:xfrm>
            <a:off x="9281160" y="2267397"/>
            <a:ext cx="2377440" cy="237744"/>
          </a:xfrm>
          <a:prstGeom prst="rect">
            <a:avLst/>
          </a:prstGeom>
          <a:noFill/>
          <a:ln/>
        </p:spPr>
        <p:txBody>
          <a:bodyPr wrap="square" lIns="0" tIns="0" rIns="0" bIns="0" rtlCol="0" anchor="t"/>
          <a:lstStyle/>
          <a:p>
            <a:pPr indent="0" marL="0">
              <a:lnSpc>
                <a:spcPct val="100000"/>
              </a:lnSpc>
              <a:buNone/>
            </a:pPr>
            <a:r>
              <a:rPr lang="en-US" sz="1200" b="1" dirty="0">
                <a:solidFill>
                  <a:srgbClr val="24303C"/>
                </a:solidFill>
                <a:latin typeface="Calibri" pitchFamily="34" charset="0"/>
                <a:ea typeface="Calibri" pitchFamily="34" charset="-122"/>
                <a:cs typeface="Calibri" pitchFamily="34" charset="-120"/>
              </a:rPr>
              <a:t>held-out sessions</a:t>
            </a:r>
            <a:endParaRPr lang="en-US" sz="1200" dirty="0"/>
          </a:p>
        </p:txBody>
      </p:sp>
      <p:sp>
        <p:nvSpPr>
          <p:cNvPr id="12" name="Text 10"/>
          <p:cNvSpPr txBox="1"/>
          <p:nvPr/>
        </p:nvSpPr>
        <p:spPr>
          <a:xfrm>
            <a:off x="9281160" y="2505141"/>
            <a:ext cx="2377440" cy="566928"/>
          </a:xfrm>
          <a:prstGeom prst="rect">
            <a:avLst/>
          </a:prstGeom>
          <a:noFill/>
          <a:ln/>
        </p:spPr>
        <p:txBody>
          <a:bodyPr wrap="square" lIns="0" tIns="0" rIns="0" bIns="0" rtlCol="0" anchor="t"/>
          <a:lstStyle/>
          <a:p>
            <a:pPr indent="0" marL="0">
              <a:lnSpc>
                <a:spcPct val="95000"/>
              </a:lnSpc>
              <a:buNone/>
            </a:pPr>
            <a:r>
              <a:rPr lang="en-US" sz="1050" dirty="0">
                <a:solidFill>
                  <a:srgbClr val="6E7681"/>
                </a:solidFill>
                <a:latin typeface="Calibri" pitchFamily="34" charset="0"/>
                <a:ea typeface="Calibri" pitchFamily="34" charset="-122"/>
                <a:cs typeface="Calibri" pitchFamily="34" charset="-120"/>
              </a:rPr>
              <a:t>softmax + basic, session-disjoint.</a:t>
            </a:r>
            <a:endParaRPr lang="en-US" sz="1050" dirty="0"/>
          </a:p>
          <a:p>
            <a:pPr indent="0" marL="0">
              <a:lnSpc>
                <a:spcPct val="95000"/>
              </a:lnSpc>
              <a:buNone/>
            </a:pPr>
            <a:r>
              <a:rPr lang="en-US" sz="1050" dirty="0">
                <a:solidFill>
                  <a:srgbClr val="6E7681"/>
                </a:solidFill>
                <a:latin typeface="Calibri" pitchFamily="34" charset="0"/>
                <a:ea typeface="Calibri" pitchFamily="34" charset="-122"/>
                <a:cs typeface="Calibri" pitchFamily="34" charset="-120"/>
              </a:rPr>
              <a:t>The same fixed recipe.</a:t>
            </a:r>
            <a:endParaRPr lang="en-US" sz="1050" dirty="0"/>
          </a:p>
        </p:txBody>
      </p:sp>
      <p:sp>
        <p:nvSpPr>
          <p:cNvPr id="13" name="Text 11"/>
          <p:cNvSpPr txBox="1"/>
          <p:nvPr/>
        </p:nvSpPr>
        <p:spPr>
          <a:xfrm>
            <a:off x="6537960" y="3429000"/>
            <a:ext cx="5120640" cy="2194560"/>
          </a:xfrm>
          <a:prstGeom prst="rect">
            <a:avLst/>
          </a:prstGeom>
          <a:noFill/>
          <a:ln/>
        </p:spPr>
        <p:txBody>
          <a:bodyPr wrap="square" lIns="0" tIns="0" rIns="0" bIns="0" rtlCol="0" anchor="t"/>
          <a:lstStyle/>
          <a:p>
            <a:pPr indent="0" marL="0">
              <a:lnSpc>
                <a:spcPct val="110000"/>
              </a:lnSpc>
              <a:buNone/>
            </a:pPr>
            <a:r>
              <a:rPr lang="en-US" sz="1200" dirty="0">
                <a:solidFill>
                  <a:srgbClr val="24303C"/>
                </a:solidFill>
                <a:latin typeface="Calibri" pitchFamily="34" charset="0"/>
                <a:ea typeface="Calibri" pitchFamily="34" charset="-122"/>
                <a:cs typeface="Calibri" pitchFamily="34" charset="-120"/>
              </a:rPr>
              <a:t>Those 1,394 photographs had already contributed to optimising the parameters, so high performance was expected and this is not independent evidence of generalisation. Its only job is to locate the failure: the model separates everything it was fitted on, and fails on sessions it was not. The bottleneck is new capture occasions, not the representation. It was run for fold 0 only, and no script was retained to reproduce it across folds.</a:t>
            </a:r>
            <a:endParaRPr lang="en-US" sz="1200" dirty="0"/>
          </a:p>
        </p:txBody>
      </p:sp>
      <p:sp>
        <p:nvSpPr>
          <p:cNvPr id="14" name="Text 12"/>
          <p:cNvSpPr txBox="1"/>
          <p:nvPr/>
        </p:nvSpPr>
        <p:spPr>
          <a:xfrm>
            <a:off x="10527487" y="6437376"/>
            <a:ext cx="1097280" cy="256032"/>
          </a:xfrm>
          <a:prstGeom prst="rect">
            <a:avLst/>
          </a:prstGeom>
          <a:noFill/>
          <a:ln/>
        </p:spPr>
        <p:txBody>
          <a:bodyPr wrap="square" lIns="0" tIns="0" rIns="0" bIns="0" rtlCol="0" anchor="ctr"/>
          <a:lstStyle/>
          <a:p>
            <a:pPr algn="r" indent="0" marL="0">
              <a:buNone/>
            </a:pPr>
            <a:r>
              <a:rPr lang="en-US" sz="900" b="1" spc="120" kern="0" dirty="0">
                <a:solidFill>
                  <a:srgbClr val="A9AEB5"/>
                </a:solidFill>
                <a:latin typeface="Calibri" pitchFamily="34" charset="0"/>
                <a:ea typeface="Calibri" pitchFamily="34" charset="-122"/>
                <a:cs typeface="Calibri" pitchFamily="34" charset="-120"/>
              </a:rPr>
              <a:t>BACKUP</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CFCFB"/>
        </a:solidFill>
      </p:bgPr>
    </p:bg>
    <p:spTree>
      <p:nvGrpSpPr>
        <p:cNvPr id="1" name=""/>
        <p:cNvGrpSpPr/>
        <p:nvPr/>
      </p:nvGrpSpPr>
      <p:grpSpPr>
        <a:xfrm>
          <a:off x="0" y="0"/>
          <a:ext cx="0" cy="0"/>
          <a:chOff x="0" y="0"/>
          <a:chExt cx="0" cy="0"/>
        </a:xfrm>
      </p:grpSpPr>
      <p:sp>
        <p:nvSpPr>
          <p:cNvPr id="2" name="Text 0"/>
          <p:cNvSpPr txBox="1"/>
          <p:nvPr/>
        </p:nvSpPr>
        <p:spPr>
          <a:xfrm>
            <a:off x="566928" y="146304"/>
            <a:ext cx="11057839" cy="219456"/>
          </a:xfrm>
          <a:prstGeom prst="rect">
            <a:avLst/>
          </a:prstGeom>
          <a:noFill/>
          <a:ln/>
        </p:spPr>
        <p:txBody>
          <a:bodyPr wrap="square" lIns="0" tIns="0" rIns="0" bIns="0" rtlCol="0" anchor="ctr"/>
          <a:lstStyle/>
          <a:p>
            <a:pPr indent="0" marL="0">
              <a:buNone/>
            </a:pPr>
            <a:r>
              <a:rPr lang="en-US" sz="1100" b="1" spc="160" kern="0" dirty="0">
                <a:solidFill>
                  <a:srgbClr val="EB6834"/>
                </a:solidFill>
                <a:latin typeface="Calibri" pitchFamily="34" charset="0"/>
                <a:ea typeface="Calibri" pitchFamily="34" charset="-122"/>
                <a:cs typeface="Calibri" pitchFamily="34" charset="-120"/>
              </a:rPr>
              <a:t>Q — THE FULL RESULTS</a:t>
            </a:r>
            <a:endParaRPr lang="en-US" sz="1100" dirty="0"/>
          </a:p>
        </p:txBody>
      </p:sp>
      <p:sp>
        <p:nvSpPr>
          <p:cNvPr id="3" name="Text 1"/>
          <p:cNvSpPr txBox="1"/>
          <p:nvPr/>
        </p:nvSpPr>
        <p:spPr>
          <a:xfrm>
            <a:off x="566928" y="384048"/>
            <a:ext cx="11057839" cy="658368"/>
          </a:xfrm>
          <a:prstGeom prst="rect">
            <a:avLst/>
          </a:prstGeom>
          <a:noFill/>
          <a:ln/>
        </p:spPr>
        <p:txBody>
          <a:bodyPr wrap="square" lIns="0" tIns="0" rIns="0" bIns="0" rtlCol="0" anchor="t"/>
          <a:lstStyle/>
          <a:p>
            <a:pPr algn="l" indent="0" marL="0">
              <a:lnSpc>
                <a:spcPct val="95000"/>
              </a:lnSpc>
              <a:buNone/>
            </a:pPr>
            <a:r>
              <a:rPr lang="en-US" sz="2500" b="1" dirty="0">
                <a:solidFill>
                  <a:srgbClr val="0E2A47"/>
                </a:solidFill>
                <a:latin typeface="Cambria" pitchFamily="34" charset="0"/>
                <a:ea typeface="Cambria" pitchFamily="34" charset="-122"/>
                <a:cs typeface="Cambria" pitchFamily="34" charset="-120"/>
              </a:rPr>
              <a:t>Every reported number, in one table</a:t>
            </a:r>
            <a:endParaRPr lang="en-US" sz="25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66928" y="1325880"/>
          <a:ext cx="11057839" cy="914400"/>
        </p:xfrm>
        <a:graphic>
          <a:graphicData uri="http://schemas.openxmlformats.org/drawingml/2006/table">
            <a:tbl>
              <a:tblPr/>
              <a:tblGrid>
                <a:gridCol w="2926080"/>
                <a:gridCol w="1627632"/>
                <a:gridCol w="1627632"/>
                <a:gridCol w="1627632"/>
                <a:gridCol w="1627632"/>
                <a:gridCol w="1627632"/>
              </a:tblGrid>
              <a:tr h="384048">
                <a:tc>
                  <a:txBody>
                    <a:bodyPr/>
                    <a:lstStyle/>
                    <a:p>
                      <a:pPr algn="l" indent="0" marL="0">
                        <a:buNone/>
                      </a:pPr>
                      <a:r>
                        <a:rPr lang="en-US" sz="1200" b="1" dirty="0">
                          <a:solidFill>
                            <a:srgbClr val="6E7681"/>
                          </a:solidFill>
                          <a:latin typeface="Calibri" pitchFamily="34" charset="0"/>
                          <a:ea typeface="Calibri" pitchFamily="34" charset="-122"/>
                          <a:cs typeface="Calibri" pitchFamily="34" charset="-120"/>
                        </a:rPr>
                        <a:t>configuration</a:t>
                      </a:r>
                      <a:endParaRPr lang="en-US" sz="12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CFCFB"/>
                    </a:solidFill>
                  </a:tcPr>
                </a:tc>
                <a:tc>
                  <a:txBody>
                    <a:bodyPr/>
                    <a:lstStyle/>
                    <a:p>
                      <a:pPr algn="ctr" indent="0" marL="0">
                        <a:buNone/>
                      </a:pPr>
                      <a:r>
                        <a:rPr lang="en-US" sz="1200" b="1" dirty="0">
                          <a:solidFill>
                            <a:srgbClr val="6E7681"/>
                          </a:solidFill>
                          <a:latin typeface="Calibri" pitchFamily="34" charset="0"/>
                          <a:ea typeface="Calibri" pitchFamily="34" charset="-122"/>
                          <a:cs typeface="Calibri" pitchFamily="34" charset="-120"/>
                        </a:rPr>
                        <a:t>rank-1 (35)</a:t>
                      </a:r>
                      <a:endParaRPr lang="en-US" sz="12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CFCFB"/>
                    </a:solidFill>
                  </a:tcPr>
                </a:tc>
                <a:tc>
                  <a:txBody>
                    <a:bodyPr/>
                    <a:lstStyle/>
                    <a:p>
                      <a:pPr algn="ctr" indent="0" marL="0">
                        <a:buNone/>
                      </a:pPr>
                      <a:r>
                        <a:rPr lang="en-US" sz="1200" b="1" dirty="0">
                          <a:solidFill>
                            <a:srgbClr val="6E7681"/>
                          </a:solidFill>
                          <a:latin typeface="Calibri" pitchFamily="34" charset="0"/>
                          <a:ea typeface="Calibri" pitchFamily="34" charset="-122"/>
                          <a:cs typeface="Calibri" pitchFamily="34" charset="-120"/>
                        </a:rPr>
                        <a:t>rank-5 (35)</a:t>
                      </a:r>
                      <a:endParaRPr lang="en-US" sz="12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CFCFB"/>
                    </a:solidFill>
                  </a:tcPr>
                </a:tc>
                <a:tc>
                  <a:txBody>
                    <a:bodyPr/>
                    <a:lstStyle/>
                    <a:p>
                      <a:pPr algn="ctr" indent="0" marL="0">
                        <a:buNone/>
                      </a:pPr>
                      <a:r>
                        <a:rPr lang="en-US" sz="1200" b="1" dirty="0">
                          <a:solidFill>
                            <a:srgbClr val="6E7681"/>
                          </a:solidFill>
                          <a:latin typeface="Calibri" pitchFamily="34" charset="0"/>
                          <a:ea typeface="Calibri" pitchFamily="34" charset="-122"/>
                          <a:cs typeface="Calibri" pitchFamily="34" charset="-120"/>
                        </a:rPr>
                        <a:t>mAP</a:t>
                      </a:r>
                      <a:endParaRPr lang="en-US" sz="12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CFCFB"/>
                    </a:solidFill>
                  </a:tcPr>
                </a:tc>
                <a:tc>
                  <a:txBody>
                    <a:bodyPr/>
                    <a:lstStyle/>
                    <a:p>
                      <a:pPr algn="ctr" indent="0" marL="0">
                        <a:buNone/>
                      </a:pPr>
                      <a:r>
                        <a:rPr lang="en-US" sz="1200" b="1" dirty="0">
                          <a:solidFill>
                            <a:srgbClr val="6E7681"/>
                          </a:solidFill>
                          <a:latin typeface="Calibri" pitchFamily="34" charset="0"/>
                          <a:ea typeface="Calibri" pitchFamily="34" charset="-122"/>
                          <a:cs typeface="Calibri" pitchFamily="34" charset="-120"/>
                        </a:rPr>
                        <a:t>rank-1 (81)</a:t>
                      </a:r>
                      <a:endParaRPr lang="en-US" sz="12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CFCFB"/>
                    </a:solidFill>
                  </a:tcPr>
                </a:tc>
                <a:tc>
                  <a:txBody>
                    <a:bodyPr/>
                    <a:lstStyle/>
                    <a:p>
                      <a:pPr algn="ctr" indent="0" marL="0">
                        <a:buNone/>
                      </a:pPr>
                      <a:r>
                        <a:rPr lang="en-US" sz="1200" b="1" dirty="0">
                          <a:solidFill>
                            <a:srgbClr val="6E7681"/>
                          </a:solidFill>
                          <a:latin typeface="Calibri" pitchFamily="34" charset="0"/>
                          <a:ea typeface="Calibri" pitchFamily="34" charset="-122"/>
                          <a:cs typeface="Calibri" pitchFamily="34" charset="-120"/>
                        </a:rPr>
                        <a:t>DIR@FAR 1%</a:t>
                      </a:r>
                      <a:endParaRPr lang="en-US" sz="12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CFCFB"/>
                    </a:solidFill>
                  </a:tcPr>
                </a:tc>
              </a:tr>
              <a:tr h="457200">
                <a:tc>
                  <a:txBody>
                    <a:bodyPr/>
                    <a:lstStyle/>
                    <a:p>
                      <a:pPr algn="l" indent="0" marL="0">
                        <a:buNone/>
                      </a:pPr>
                      <a:r>
                        <a:rPr lang="en-US" sz="1500" dirty="0">
                          <a:solidFill>
                            <a:srgbClr val="24303C"/>
                          </a:solidFill>
                          <a:latin typeface="Calibri" pitchFamily="34" charset="0"/>
                          <a:ea typeface="Calibri" pitchFamily="34" charset="-122"/>
                          <a:cs typeface="Calibri" pitchFamily="34" charset="-120"/>
                        </a:rPr>
                        <a:t>softmax + basic</a:t>
                      </a:r>
                      <a:endParaRPr lang="en-US" sz="15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CFCFB"/>
                    </a:solidFill>
                  </a:tcPr>
                </a:tc>
                <a:tc>
                  <a:txBody>
                    <a:bodyPr/>
                    <a:lstStyle/>
                    <a:p>
                      <a:pPr algn="ctr" indent="0" marL="0">
                        <a:buNone/>
                      </a:pPr>
                      <a:r>
                        <a:rPr lang="en-US" sz="1500" dirty="0">
                          <a:solidFill>
                            <a:srgbClr val="24303C"/>
                          </a:solidFill>
                          <a:latin typeface="Cambria" pitchFamily="34" charset="0"/>
                          <a:ea typeface="Cambria" pitchFamily="34" charset="-122"/>
                          <a:cs typeface="Cambria" pitchFamily="34" charset="-120"/>
                        </a:rPr>
                        <a:t>0.390</a:t>
                      </a:r>
                      <a:endParaRPr lang="en-US" sz="1500" dirty="0">
                        <a:latin typeface="Cambria" charset="0"/>
                        <a:ea typeface="Cambria" charset="0"/>
                        <a:cs typeface="Cambria"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CFCFB"/>
                    </a:solidFill>
                  </a:tcPr>
                </a:tc>
                <a:tc>
                  <a:txBody>
                    <a:bodyPr/>
                    <a:lstStyle/>
                    <a:p>
                      <a:pPr algn="ctr" indent="0" marL="0">
                        <a:buNone/>
                      </a:pPr>
                      <a:r>
                        <a:rPr lang="en-US" sz="1500" dirty="0">
                          <a:solidFill>
                            <a:srgbClr val="24303C"/>
                          </a:solidFill>
                          <a:latin typeface="Cambria" pitchFamily="34" charset="0"/>
                          <a:ea typeface="Cambria" pitchFamily="34" charset="-122"/>
                          <a:cs typeface="Cambria" pitchFamily="34" charset="-120"/>
                        </a:rPr>
                        <a:t>0.746</a:t>
                      </a:r>
                      <a:endParaRPr lang="en-US" sz="1500" dirty="0">
                        <a:latin typeface="Cambria" charset="0"/>
                        <a:ea typeface="Cambria" charset="0"/>
                        <a:cs typeface="Cambria"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CFCFB"/>
                    </a:solidFill>
                  </a:tcPr>
                </a:tc>
                <a:tc>
                  <a:txBody>
                    <a:bodyPr/>
                    <a:lstStyle/>
                    <a:p>
                      <a:pPr algn="ctr" indent="0" marL="0">
                        <a:buNone/>
                      </a:pPr>
                      <a:r>
                        <a:rPr lang="en-US" sz="1500" dirty="0">
                          <a:solidFill>
                            <a:srgbClr val="24303C"/>
                          </a:solidFill>
                          <a:latin typeface="Cambria" pitchFamily="34" charset="0"/>
                          <a:ea typeface="Cambria" pitchFamily="34" charset="-122"/>
                          <a:cs typeface="Cambria" pitchFamily="34" charset="-120"/>
                        </a:rPr>
                        <a:t>0.420</a:t>
                      </a:r>
                      <a:endParaRPr lang="en-US" sz="1500" dirty="0">
                        <a:latin typeface="Cambria" charset="0"/>
                        <a:ea typeface="Cambria" charset="0"/>
                        <a:cs typeface="Cambria"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CFCFB"/>
                    </a:solidFill>
                  </a:tcPr>
                </a:tc>
                <a:tc>
                  <a:txBody>
                    <a:bodyPr/>
                    <a:lstStyle/>
                    <a:p>
                      <a:pPr algn="ctr" indent="0" marL="0">
                        <a:buNone/>
                      </a:pPr>
                      <a:r>
                        <a:rPr lang="en-US" sz="1500" dirty="0">
                          <a:solidFill>
                            <a:srgbClr val="24303C"/>
                          </a:solidFill>
                          <a:latin typeface="Cambria" pitchFamily="34" charset="0"/>
                          <a:ea typeface="Cambria" pitchFamily="34" charset="-122"/>
                          <a:cs typeface="Cambria" pitchFamily="34" charset="-120"/>
                        </a:rPr>
                        <a:t>0.224</a:t>
                      </a:r>
                      <a:endParaRPr lang="en-US" sz="1500" dirty="0">
                        <a:latin typeface="Cambria" charset="0"/>
                        <a:ea typeface="Cambria" charset="0"/>
                        <a:cs typeface="Cambria"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CFCFB"/>
                    </a:solidFill>
                  </a:tcPr>
                </a:tc>
                <a:tc>
                  <a:txBody>
                    <a:bodyPr/>
                    <a:lstStyle/>
                    <a:p>
                      <a:pPr algn="ctr" indent="0" marL="0">
                        <a:buNone/>
                      </a:pPr>
                      <a:r>
                        <a:rPr lang="en-US" sz="1500" dirty="0">
                          <a:solidFill>
                            <a:srgbClr val="24303C"/>
                          </a:solidFill>
                          <a:latin typeface="Cambria" pitchFamily="34" charset="0"/>
                          <a:ea typeface="Cambria" pitchFamily="34" charset="-122"/>
                          <a:cs typeface="Cambria" pitchFamily="34" charset="-120"/>
                        </a:rPr>
                        <a:t>0.076</a:t>
                      </a:r>
                      <a:endParaRPr lang="en-US" sz="1500" dirty="0">
                        <a:latin typeface="Cambria" charset="0"/>
                        <a:ea typeface="Cambria" charset="0"/>
                        <a:cs typeface="Cambria"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CFCFB"/>
                    </a:solidFill>
                  </a:tcPr>
                </a:tc>
              </a:tr>
              <a:tr h="457200">
                <a:tc>
                  <a:txBody>
                    <a:bodyPr/>
                    <a:lstStyle/>
                    <a:p>
                      <a:pPr algn="l" indent="0" marL="0">
                        <a:buNone/>
                      </a:pPr>
                      <a:r>
                        <a:rPr lang="en-US" sz="1500" dirty="0">
                          <a:solidFill>
                            <a:srgbClr val="24303C"/>
                          </a:solidFill>
                          <a:latin typeface="Calibri" pitchFamily="34" charset="0"/>
                          <a:ea typeface="Calibri" pitchFamily="34" charset="-122"/>
                          <a:cs typeface="Calibri" pitchFamily="34" charset="-120"/>
                        </a:rPr>
                        <a:t>softmax + strong</a:t>
                      </a:r>
                      <a:endParaRPr lang="en-US" sz="15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CFCFB"/>
                    </a:solidFill>
                  </a:tcPr>
                </a:tc>
                <a:tc>
                  <a:txBody>
                    <a:bodyPr/>
                    <a:lstStyle/>
                    <a:p>
                      <a:pPr algn="ctr" indent="0" marL="0">
                        <a:buNone/>
                      </a:pPr>
                      <a:r>
                        <a:rPr lang="en-US" sz="1500" dirty="0">
                          <a:solidFill>
                            <a:srgbClr val="24303C"/>
                          </a:solidFill>
                          <a:latin typeface="Cambria" pitchFamily="34" charset="0"/>
                          <a:ea typeface="Cambria" pitchFamily="34" charset="-122"/>
                          <a:cs typeface="Cambria" pitchFamily="34" charset="-120"/>
                        </a:rPr>
                        <a:t>0.530</a:t>
                      </a:r>
                      <a:endParaRPr lang="en-US" sz="1500" dirty="0">
                        <a:latin typeface="Cambria" charset="0"/>
                        <a:ea typeface="Cambria" charset="0"/>
                        <a:cs typeface="Cambria"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CFCFB"/>
                    </a:solidFill>
                  </a:tcPr>
                </a:tc>
                <a:tc>
                  <a:txBody>
                    <a:bodyPr/>
                    <a:lstStyle/>
                    <a:p>
                      <a:pPr algn="ctr" indent="0" marL="0">
                        <a:buNone/>
                      </a:pPr>
                      <a:r>
                        <a:rPr lang="en-US" sz="1500" dirty="0">
                          <a:solidFill>
                            <a:srgbClr val="24303C"/>
                          </a:solidFill>
                          <a:latin typeface="Cambria" pitchFamily="34" charset="0"/>
                          <a:ea typeface="Cambria" pitchFamily="34" charset="-122"/>
                          <a:cs typeface="Cambria" pitchFamily="34" charset="-120"/>
                        </a:rPr>
                        <a:t>0.809</a:t>
                      </a:r>
                      <a:endParaRPr lang="en-US" sz="1500" dirty="0">
                        <a:latin typeface="Cambria" charset="0"/>
                        <a:ea typeface="Cambria" charset="0"/>
                        <a:cs typeface="Cambria"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CFCFB"/>
                    </a:solidFill>
                  </a:tcPr>
                </a:tc>
                <a:tc>
                  <a:txBody>
                    <a:bodyPr/>
                    <a:lstStyle/>
                    <a:p>
                      <a:pPr algn="ctr" indent="0" marL="0">
                        <a:buNone/>
                      </a:pPr>
                      <a:r>
                        <a:rPr lang="en-US" sz="1500" dirty="0">
                          <a:solidFill>
                            <a:srgbClr val="24303C"/>
                          </a:solidFill>
                          <a:latin typeface="Cambria" pitchFamily="34" charset="0"/>
                          <a:ea typeface="Cambria" pitchFamily="34" charset="-122"/>
                          <a:cs typeface="Cambria" pitchFamily="34" charset="-120"/>
                        </a:rPr>
                        <a:t>0.533</a:t>
                      </a:r>
                      <a:endParaRPr lang="en-US" sz="1500" dirty="0">
                        <a:latin typeface="Cambria" charset="0"/>
                        <a:ea typeface="Cambria" charset="0"/>
                        <a:cs typeface="Cambria"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CFCFB"/>
                    </a:solidFill>
                  </a:tcPr>
                </a:tc>
                <a:tc>
                  <a:txBody>
                    <a:bodyPr/>
                    <a:lstStyle/>
                    <a:p>
                      <a:pPr algn="ctr" indent="0" marL="0">
                        <a:buNone/>
                      </a:pPr>
                      <a:r>
                        <a:rPr lang="en-US" sz="1500" dirty="0">
                          <a:solidFill>
                            <a:srgbClr val="24303C"/>
                          </a:solidFill>
                          <a:latin typeface="Cambria" pitchFamily="34" charset="0"/>
                          <a:ea typeface="Cambria" pitchFamily="34" charset="-122"/>
                          <a:cs typeface="Cambria" pitchFamily="34" charset="-120"/>
                        </a:rPr>
                        <a:t>0.361</a:t>
                      </a:r>
                      <a:endParaRPr lang="en-US" sz="1500" dirty="0">
                        <a:latin typeface="Cambria" charset="0"/>
                        <a:ea typeface="Cambria" charset="0"/>
                        <a:cs typeface="Cambria"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CFCFB"/>
                    </a:solidFill>
                  </a:tcPr>
                </a:tc>
                <a:tc>
                  <a:txBody>
                    <a:bodyPr/>
                    <a:lstStyle/>
                    <a:p>
                      <a:pPr algn="ctr" indent="0" marL="0">
                        <a:buNone/>
                      </a:pPr>
                      <a:r>
                        <a:rPr lang="en-US" sz="1500" dirty="0">
                          <a:solidFill>
                            <a:srgbClr val="24303C"/>
                          </a:solidFill>
                          <a:latin typeface="Cambria" pitchFamily="34" charset="0"/>
                          <a:ea typeface="Cambria" pitchFamily="34" charset="-122"/>
                          <a:cs typeface="Cambria" pitchFamily="34" charset="-120"/>
                        </a:rPr>
                        <a:t>0.086</a:t>
                      </a:r>
                      <a:endParaRPr lang="en-US" sz="1500" dirty="0">
                        <a:latin typeface="Cambria" charset="0"/>
                        <a:ea typeface="Cambria" charset="0"/>
                        <a:cs typeface="Cambria"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CFCFB"/>
                    </a:solidFill>
                  </a:tcPr>
                </a:tc>
              </a:tr>
              <a:tr h="457200">
                <a:tc>
                  <a:txBody>
                    <a:bodyPr/>
                    <a:lstStyle/>
                    <a:p>
                      <a:pPr algn="l" indent="0" marL="0">
                        <a:buNone/>
                      </a:pPr>
                      <a:r>
                        <a:rPr lang="en-US" sz="1500" dirty="0">
                          <a:solidFill>
                            <a:srgbClr val="24303C"/>
                          </a:solidFill>
                          <a:latin typeface="Calibri" pitchFamily="34" charset="0"/>
                          <a:ea typeface="Calibri" pitchFamily="34" charset="-122"/>
                          <a:cs typeface="Calibri" pitchFamily="34" charset="-120"/>
                        </a:rPr>
                        <a:t>ArcFace + basic</a:t>
                      </a:r>
                      <a:endParaRPr lang="en-US" sz="15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CFCFB"/>
                    </a:solidFill>
                  </a:tcPr>
                </a:tc>
                <a:tc>
                  <a:txBody>
                    <a:bodyPr/>
                    <a:lstStyle/>
                    <a:p>
                      <a:pPr algn="ctr" indent="0" marL="0">
                        <a:buNone/>
                      </a:pPr>
                      <a:r>
                        <a:rPr lang="en-US" sz="1500" dirty="0">
                          <a:solidFill>
                            <a:srgbClr val="24303C"/>
                          </a:solidFill>
                          <a:latin typeface="Cambria" pitchFamily="34" charset="0"/>
                          <a:ea typeface="Cambria" pitchFamily="34" charset="-122"/>
                          <a:cs typeface="Cambria" pitchFamily="34" charset="-120"/>
                        </a:rPr>
                        <a:t>0.486</a:t>
                      </a:r>
                      <a:endParaRPr lang="en-US" sz="1500" dirty="0">
                        <a:latin typeface="Cambria" charset="0"/>
                        <a:ea typeface="Cambria" charset="0"/>
                        <a:cs typeface="Cambria"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CFCFB"/>
                    </a:solidFill>
                  </a:tcPr>
                </a:tc>
                <a:tc>
                  <a:txBody>
                    <a:bodyPr/>
                    <a:lstStyle/>
                    <a:p>
                      <a:pPr algn="ctr" indent="0" marL="0">
                        <a:buNone/>
                      </a:pPr>
                      <a:r>
                        <a:rPr lang="en-US" sz="1500" dirty="0">
                          <a:solidFill>
                            <a:srgbClr val="24303C"/>
                          </a:solidFill>
                          <a:latin typeface="Cambria" pitchFamily="34" charset="0"/>
                          <a:ea typeface="Cambria" pitchFamily="34" charset="-122"/>
                          <a:cs typeface="Cambria" pitchFamily="34" charset="-120"/>
                        </a:rPr>
                        <a:t>0.734</a:t>
                      </a:r>
                      <a:endParaRPr lang="en-US" sz="1500" dirty="0">
                        <a:latin typeface="Cambria" charset="0"/>
                        <a:ea typeface="Cambria" charset="0"/>
                        <a:cs typeface="Cambria"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CFCFB"/>
                    </a:solidFill>
                  </a:tcPr>
                </a:tc>
                <a:tc>
                  <a:txBody>
                    <a:bodyPr/>
                    <a:lstStyle/>
                    <a:p>
                      <a:pPr algn="ctr" indent="0" marL="0">
                        <a:buNone/>
                      </a:pPr>
                      <a:r>
                        <a:rPr lang="en-US" sz="1500" dirty="0">
                          <a:solidFill>
                            <a:srgbClr val="24303C"/>
                          </a:solidFill>
                          <a:latin typeface="Cambria" pitchFamily="34" charset="0"/>
                          <a:ea typeface="Cambria" pitchFamily="34" charset="-122"/>
                          <a:cs typeface="Cambria" pitchFamily="34" charset="-120"/>
                        </a:rPr>
                        <a:t>0.509</a:t>
                      </a:r>
                      <a:endParaRPr lang="en-US" sz="1500" dirty="0">
                        <a:latin typeface="Cambria" charset="0"/>
                        <a:ea typeface="Cambria" charset="0"/>
                        <a:cs typeface="Cambria"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CFCFB"/>
                    </a:solidFill>
                  </a:tcPr>
                </a:tc>
                <a:tc>
                  <a:txBody>
                    <a:bodyPr/>
                    <a:lstStyle/>
                    <a:p>
                      <a:pPr algn="ctr" indent="0" marL="0">
                        <a:buNone/>
                      </a:pPr>
                      <a:r>
                        <a:rPr lang="en-US" sz="1500" dirty="0">
                          <a:solidFill>
                            <a:srgbClr val="24303C"/>
                          </a:solidFill>
                          <a:latin typeface="Cambria" pitchFamily="34" charset="0"/>
                          <a:ea typeface="Cambria" pitchFamily="34" charset="-122"/>
                          <a:cs typeface="Cambria" pitchFamily="34" charset="-120"/>
                        </a:rPr>
                        <a:t>0.364</a:t>
                      </a:r>
                      <a:endParaRPr lang="en-US" sz="1500" dirty="0">
                        <a:latin typeface="Cambria" charset="0"/>
                        <a:ea typeface="Cambria" charset="0"/>
                        <a:cs typeface="Cambria"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CFCFB"/>
                    </a:solidFill>
                  </a:tcPr>
                </a:tc>
                <a:tc>
                  <a:txBody>
                    <a:bodyPr/>
                    <a:lstStyle/>
                    <a:p>
                      <a:pPr algn="ctr" indent="0" marL="0">
                        <a:buNone/>
                      </a:pPr>
                      <a:r>
                        <a:rPr lang="en-US" sz="1500" dirty="0">
                          <a:solidFill>
                            <a:srgbClr val="24303C"/>
                          </a:solidFill>
                          <a:latin typeface="Cambria" pitchFamily="34" charset="0"/>
                          <a:ea typeface="Cambria" pitchFamily="34" charset="-122"/>
                          <a:cs typeface="Cambria" pitchFamily="34" charset="-120"/>
                        </a:rPr>
                        <a:t>0.097</a:t>
                      </a:r>
                      <a:endParaRPr lang="en-US" sz="1500" dirty="0">
                        <a:latin typeface="Cambria" charset="0"/>
                        <a:ea typeface="Cambria" charset="0"/>
                        <a:cs typeface="Cambria"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FCFCFB"/>
                    </a:solidFill>
                  </a:tcPr>
                </a:tc>
              </a:tr>
              <a:tr h="457200">
                <a:tc>
                  <a:txBody>
                    <a:bodyPr/>
                    <a:lstStyle/>
                    <a:p>
                      <a:pPr algn="l" indent="0" marL="0">
                        <a:buNone/>
                      </a:pPr>
                      <a:r>
                        <a:rPr lang="en-US" sz="1500" b="1" dirty="0">
                          <a:solidFill>
                            <a:srgbClr val="0E2A47"/>
                          </a:solidFill>
                          <a:latin typeface="Calibri" pitchFamily="34" charset="0"/>
                          <a:ea typeface="Calibri" pitchFamily="34" charset="-122"/>
                          <a:cs typeface="Calibri" pitchFamily="34" charset="-120"/>
                        </a:rPr>
                        <a:t>ArcFace + strong</a:t>
                      </a:r>
                      <a:endParaRPr lang="en-US" sz="1500" dirty="0">
                        <a:latin typeface="Calibri" charset="0"/>
                        <a:ea typeface="Calibri" charset="0"/>
                        <a:cs typeface="Calibri"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E8F0FB"/>
                    </a:solidFill>
                  </a:tcPr>
                </a:tc>
                <a:tc>
                  <a:txBody>
                    <a:bodyPr/>
                    <a:lstStyle/>
                    <a:p>
                      <a:pPr algn="ctr" indent="0" marL="0">
                        <a:buNone/>
                      </a:pPr>
                      <a:r>
                        <a:rPr lang="en-US" sz="1500" b="1" dirty="0">
                          <a:solidFill>
                            <a:srgbClr val="0E2A47"/>
                          </a:solidFill>
                          <a:latin typeface="Cambria" pitchFamily="34" charset="0"/>
                          <a:ea typeface="Cambria" pitchFamily="34" charset="-122"/>
                          <a:cs typeface="Cambria" pitchFamily="34" charset="-120"/>
                        </a:rPr>
                        <a:t>0.559</a:t>
                      </a:r>
                      <a:endParaRPr lang="en-US" sz="1500" dirty="0">
                        <a:latin typeface="Cambria" charset="0"/>
                        <a:ea typeface="Cambria" charset="0"/>
                        <a:cs typeface="Cambria"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E8F0FB"/>
                    </a:solidFill>
                  </a:tcPr>
                </a:tc>
                <a:tc>
                  <a:txBody>
                    <a:bodyPr/>
                    <a:lstStyle/>
                    <a:p>
                      <a:pPr algn="ctr" indent="0" marL="0">
                        <a:buNone/>
                      </a:pPr>
                      <a:r>
                        <a:rPr lang="en-US" sz="1500" b="1" dirty="0">
                          <a:solidFill>
                            <a:srgbClr val="0E2A47"/>
                          </a:solidFill>
                          <a:latin typeface="Cambria" pitchFamily="34" charset="0"/>
                          <a:ea typeface="Cambria" pitchFamily="34" charset="-122"/>
                          <a:cs typeface="Cambria" pitchFamily="34" charset="-120"/>
                        </a:rPr>
                        <a:t>0.782</a:t>
                      </a:r>
                      <a:endParaRPr lang="en-US" sz="1500" dirty="0">
                        <a:latin typeface="Cambria" charset="0"/>
                        <a:ea typeface="Cambria" charset="0"/>
                        <a:cs typeface="Cambria"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E8F0FB"/>
                    </a:solidFill>
                  </a:tcPr>
                </a:tc>
                <a:tc>
                  <a:txBody>
                    <a:bodyPr/>
                    <a:lstStyle/>
                    <a:p>
                      <a:pPr algn="ctr" indent="0" marL="0">
                        <a:buNone/>
                      </a:pPr>
                      <a:r>
                        <a:rPr lang="en-US" sz="1500" b="1" dirty="0">
                          <a:solidFill>
                            <a:srgbClr val="0E2A47"/>
                          </a:solidFill>
                          <a:latin typeface="Cambria" pitchFamily="34" charset="0"/>
                          <a:ea typeface="Cambria" pitchFamily="34" charset="-122"/>
                          <a:cs typeface="Cambria" pitchFamily="34" charset="-120"/>
                        </a:rPr>
                        <a:t>0.581</a:t>
                      </a:r>
                      <a:endParaRPr lang="en-US" sz="1500" dirty="0">
                        <a:latin typeface="Cambria" charset="0"/>
                        <a:ea typeface="Cambria" charset="0"/>
                        <a:cs typeface="Cambria"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E8F0FB"/>
                    </a:solidFill>
                  </a:tcPr>
                </a:tc>
                <a:tc>
                  <a:txBody>
                    <a:bodyPr/>
                    <a:lstStyle/>
                    <a:p>
                      <a:pPr algn="ctr" indent="0" marL="0">
                        <a:buNone/>
                      </a:pPr>
                      <a:r>
                        <a:rPr lang="en-US" sz="1500" b="1" dirty="0">
                          <a:solidFill>
                            <a:srgbClr val="0E2A47"/>
                          </a:solidFill>
                          <a:latin typeface="Cambria" pitchFamily="34" charset="0"/>
                          <a:ea typeface="Cambria" pitchFamily="34" charset="-122"/>
                          <a:cs typeface="Cambria" pitchFamily="34" charset="-120"/>
                        </a:rPr>
                        <a:t>0.477</a:t>
                      </a:r>
                      <a:endParaRPr lang="en-US" sz="1500" dirty="0">
                        <a:latin typeface="Cambria" charset="0"/>
                        <a:ea typeface="Cambria" charset="0"/>
                        <a:cs typeface="Cambria"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E8F0FB"/>
                    </a:solidFill>
                  </a:tcPr>
                </a:tc>
                <a:tc>
                  <a:txBody>
                    <a:bodyPr/>
                    <a:lstStyle/>
                    <a:p>
                      <a:pPr algn="ctr" indent="0" marL="0">
                        <a:buNone/>
                      </a:pPr>
                      <a:r>
                        <a:rPr lang="en-US" sz="1500" b="1" dirty="0">
                          <a:solidFill>
                            <a:srgbClr val="0E2A47"/>
                          </a:solidFill>
                          <a:latin typeface="Cambria" pitchFamily="34" charset="0"/>
                          <a:ea typeface="Cambria" pitchFamily="34" charset="-122"/>
                          <a:cs typeface="Cambria" pitchFamily="34" charset="-120"/>
                        </a:rPr>
                        <a:t>0.123</a:t>
                      </a:r>
                      <a:endParaRPr lang="en-US" sz="1500" dirty="0">
                        <a:latin typeface="Cambria" charset="0"/>
                        <a:ea typeface="Cambria" charset="0"/>
                        <a:cs typeface="Cambria" charset="0"/>
                      </a:endParaRPr>
                    </a:p>
                  </a:txBody>
                  <a:tcPr marL="91440" marR="91440" marT="45720" marB="45720" anchor="ctr">
                    <a:lnL w="12700" cap="flat" cmpd="sng" algn="ctr">
                      <a:solidFill>
                        <a:srgbClr val="E1E0D9"/>
                      </a:solidFill>
                      <a:prstDash val="solid"/>
                      <a:round/>
                      <a:headEnd type="none" w="med" len="med"/>
                      <a:tailEnd type="none" w="med" len="med"/>
                    </a:lnL>
                    <a:lnR w="12700" cap="flat" cmpd="sng" algn="ctr">
                      <a:solidFill>
                        <a:srgbClr val="E1E0D9"/>
                      </a:solidFill>
                      <a:prstDash val="solid"/>
                      <a:round/>
                      <a:headEnd type="none" w="med" len="med"/>
                      <a:tailEnd type="none" w="med" len="med"/>
                    </a:lnR>
                    <a:lnT w="12700" cap="flat" cmpd="sng" algn="ctr">
                      <a:solidFill>
                        <a:srgbClr val="E1E0D9"/>
                      </a:solidFill>
                      <a:prstDash val="solid"/>
                      <a:round/>
                      <a:headEnd type="none" w="med" len="med"/>
                      <a:tailEnd type="none" w="med" len="med"/>
                    </a:lnT>
                    <a:lnB w="12700" cap="flat" cmpd="sng" algn="ctr">
                      <a:solidFill>
                        <a:srgbClr val="E1E0D9"/>
                      </a:solidFill>
                      <a:prstDash val="solid"/>
                      <a:round/>
                      <a:headEnd type="none" w="med" len="med"/>
                      <a:tailEnd type="none" w="med" len="med"/>
                    </a:lnB>
                    <a:solidFill>
                      <a:srgbClr val="E8F0FB"/>
                    </a:solidFill>
                  </a:tcPr>
                </a:tc>
              </a:tr>
            </a:tbl>
          </a:graphicData>
        </a:graphic>
      </p:graphicFrame>
      <p:sp>
        <p:nvSpPr>
          <p:cNvPr id="5" name="Text 2"/>
          <p:cNvSpPr txBox="1"/>
          <p:nvPr/>
        </p:nvSpPr>
        <p:spPr>
          <a:xfrm>
            <a:off x="566928" y="3611880"/>
            <a:ext cx="11057839" cy="274320"/>
          </a:xfrm>
          <a:prstGeom prst="rect">
            <a:avLst/>
          </a:prstGeom>
          <a:noFill/>
          <a:ln/>
        </p:spPr>
        <p:txBody>
          <a:bodyPr wrap="square" lIns="0" tIns="0" rIns="0" bIns="0" rtlCol="0" anchor="ctr"/>
          <a:lstStyle/>
          <a:p>
            <a:pPr indent="0" marL="0">
              <a:buNone/>
            </a:pPr>
            <a:r>
              <a:rPr lang="en-US" sz="1150" dirty="0">
                <a:solidFill>
                  <a:srgbClr val="6E7681"/>
                </a:solidFill>
                <a:latin typeface="Calibri" pitchFamily="34" charset="0"/>
                <a:ea typeface="Calibri" pitchFamily="34" charset="-122"/>
                <a:cs typeface="Calibri" pitchFamily="34" charset="-120"/>
              </a:rPr>
              <a:t>Session-wise 5-fold cross-validation · 35 individuals · 1,743 photographs · every value macro over individuals</a:t>
            </a:r>
            <a:endParaRPr lang="en-US" sz="1150" dirty="0"/>
          </a:p>
        </p:txBody>
      </p:sp>
      <p:sp>
        <p:nvSpPr>
          <p:cNvPr id="6" name="Text 3"/>
          <p:cNvSpPr txBox="1"/>
          <p:nvPr/>
        </p:nvSpPr>
        <p:spPr>
          <a:xfrm>
            <a:off x="566928" y="4023360"/>
            <a:ext cx="11057839" cy="1828800"/>
          </a:xfrm>
          <a:prstGeom prst="rect">
            <a:avLst/>
          </a:prstGeom>
          <a:noFill/>
          <a:ln/>
        </p:spPr>
        <p:txBody>
          <a:bodyPr wrap="square" lIns="0" tIns="0" rIns="0" bIns="0" rtlCol="0" anchor="t"/>
          <a:lstStyle/>
          <a:p>
            <a:pPr marL="342900" indent="-342900">
              <a:lnSpc>
                <a:spcPct val="105000"/>
              </a:lnSpc>
              <a:spcAft>
                <a:spcPts val="1000"/>
              </a:spcAft>
              <a:buSzPct val="100000"/>
              <a:buChar char="•"/>
            </a:pPr>
            <a:r>
              <a:rPr lang="en-US" sz="1200" dirty="0">
                <a:solidFill>
                  <a:srgbClr val="24303C"/>
                </a:solidFill>
                <a:latin typeface="Calibri" pitchFamily="34" charset="0"/>
                <a:ea typeface="Calibri" pitchFamily="34" charset="-122"/>
                <a:cs typeface="Calibri" pitchFamily="34" charset="-120"/>
              </a:rPr>
              <a:t>Session gradient (ArcFace + strong): 3 sessions 0.186 (n=8) · 4–6 sessions 0.618 (n=13) · 7+ sessions 0.717 (n=14) · ≥4 combined 0.669 (n=27)</a:t>
            </a:r>
            <a:endParaRPr lang="en-US" sz="1200" dirty="0"/>
          </a:p>
          <a:p>
            <a:pPr marL="342900" indent="-342900">
              <a:lnSpc>
                <a:spcPct val="105000"/>
              </a:lnSpc>
              <a:spcAft>
                <a:spcPts val="1000"/>
              </a:spcAft>
              <a:buSzPct val="100000"/>
              <a:buChar char="•"/>
            </a:pPr>
            <a:r>
              <a:rPr lang="en-US" sz="1200" dirty="0">
                <a:solidFill>
                  <a:srgbClr val="24303C"/>
                </a:solidFill>
                <a:latin typeface="Calibri" pitchFamily="34" charset="0"/>
                <a:ea typeface="Calibri" pitchFamily="34" charset="-122"/>
                <a:cs typeface="Calibri" pitchFamily="34" charset="-120"/>
              </a:rPr>
              <a:t>CMC, 35 candidates: rank-2 0.650 · rank-3 0.702 · rank-5 0.782 · rank-10 0.860. Rank-k beyond 1 was never computed at 81 candidates</a:t>
            </a:r>
            <a:endParaRPr lang="en-US" sz="1200" dirty="0"/>
          </a:p>
          <a:p>
            <a:pPr marL="342900" indent="-342900">
              <a:lnSpc>
                <a:spcPct val="105000"/>
              </a:lnSpc>
              <a:spcAft>
                <a:spcPts val="1000"/>
              </a:spcAft>
              <a:buSzPct val="100000"/>
              <a:buChar char="•"/>
            </a:pPr>
            <a:r>
              <a:rPr lang="en-US" sz="1200" dirty="0">
                <a:solidFill>
                  <a:srgbClr val="24303C"/>
                </a:solidFill>
                <a:latin typeface="Calibri" pitchFamily="34" charset="0"/>
                <a:ea typeface="Calibri" pitchFamily="34" charset="-122"/>
                <a:cs typeface="Calibri" pitchFamily="34" charset="-120"/>
              </a:rPr>
              <a:t>Softmax + strong is the best rank-5 configuration at 0.809 — ArcFace was selected on rank-1, mAP and colony-scale degradation, not rank-5</a:t>
            </a:r>
            <a:endParaRPr lang="en-US" sz="1200" dirty="0"/>
          </a:p>
          <a:p>
            <a:pPr marL="342900" indent="-342900">
              <a:lnSpc>
                <a:spcPct val="105000"/>
              </a:lnSpc>
              <a:spcAft>
                <a:spcPts val="1000"/>
              </a:spcAft>
              <a:buSzPct val="100000"/>
              <a:buChar char="•"/>
            </a:pPr>
            <a:r>
              <a:rPr lang="en-US" sz="1200" dirty="0">
                <a:solidFill>
                  <a:srgbClr val="24303C"/>
                </a:solidFill>
                <a:latin typeface="Calibri" pitchFamily="34" charset="0"/>
                <a:ea typeface="Calibri" pitchFamily="34" charset="-122"/>
                <a:cs typeface="Calibri" pitchFamily="34" charset="-120"/>
              </a:rPr>
              <a:t>Single session-disjoint split, different recipe: rank-1 0.389, rank-5 0.726, 1-NN 0.384; random split 0.920 / 0.984 / 0.902</a:t>
            </a:r>
            <a:endParaRPr lang="en-US" sz="1200" dirty="0"/>
          </a:p>
        </p:txBody>
      </p:sp>
      <p:sp>
        <p:nvSpPr>
          <p:cNvPr id="7" name="Text 4"/>
          <p:cNvSpPr txBox="1"/>
          <p:nvPr/>
        </p:nvSpPr>
        <p:spPr>
          <a:xfrm>
            <a:off x="10527487" y="6437376"/>
            <a:ext cx="1097280" cy="256032"/>
          </a:xfrm>
          <a:prstGeom prst="rect">
            <a:avLst/>
          </a:prstGeom>
          <a:noFill/>
          <a:ln/>
        </p:spPr>
        <p:txBody>
          <a:bodyPr wrap="square" lIns="0" tIns="0" rIns="0" bIns="0" rtlCol="0" anchor="ctr"/>
          <a:lstStyle/>
          <a:p>
            <a:pPr algn="r" indent="0" marL="0">
              <a:buNone/>
            </a:pPr>
            <a:r>
              <a:rPr lang="en-US" sz="900" b="1" spc="120" kern="0" dirty="0">
                <a:solidFill>
                  <a:srgbClr val="A9AEB5"/>
                </a:solidFill>
                <a:latin typeface="Calibri" pitchFamily="34" charset="0"/>
                <a:ea typeface="Calibri" pitchFamily="34" charset="-122"/>
                <a:cs typeface="Calibri" pitchFamily="34" charset="-120"/>
              </a:rPr>
              <a:t>BACKUP</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Automatic Identification of Humboldt Penguins at London Zoo</dc:title>
  <dc:subject>BIOS0057 Research Project — MSc Ecology and Data Science, UCL</dc:subject>
  <dc:creator/>
  <cp:lastModifiedBy/>
  <cp:revision>1</cp:revision>
  <dcterms:created xsi:type="dcterms:W3CDTF">2026-08-28T23:39:26Z</dcterms:created>
  <dcterms:modified xsi:type="dcterms:W3CDTF">2026-08-28T23:39:26Z</dcterms:modified>
</cp:coreProperties>
</file>