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Random split</c:v>
                </c:pt>
              </c:strCache>
            </c:strRef>
          </c:tx>
          <c:spPr>
            <a:solidFill>
              <a:srgbClr val="B3C4DC"/>
            </a:solidFill>
            <a:effectLst/>
          </c:spPr>
          <c:invertIfNegative val="0"/>
          <c:dLbls>
            <c:numFmt formatCode="0.000" sourceLinked="0"/>
            <c:txPr>
              <a:bodyPr/>
              <a:lstStyle/>
              <a:p>
                <a:pPr>
                  <a:defRPr b="0" i="0" strike="noStrike" sz="1050" u="none">
                    <a:solidFill>
                      <a:srgbClr val="22314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Baseline (1,543-d)</c:v>
                  </c:pt>
                  <c:pt idx="1">
                    <c:v>Compact (199-d)</c:v>
                  </c:pt>
                  <c:pt idx="2">
                    <c:v>Perch v2 (1,536-d)</c:v>
                  </c:pt>
                </c:lvl>
              </c:multiLvlStrCache>
            </c:multiLvlStrRef>
          </c:cat>
          <c:val>
            <c:numRef>
              <c:f>Sheet1!$B$2:$B$4</c:f>
              <c:numCache>
                <c:formatCode>General</c:formatCode>
                <c:ptCount val="3"/>
                <c:pt idx="0">
                  <c:v>0.93</c:v>
                </c:pt>
                <c:pt idx="1">
                  <c:v>0.905</c:v>
                </c:pt>
                <c:pt idx="2">
                  <c:v>1</c:v>
                </c:pt>
              </c:numCache>
            </c:numRef>
          </c:val>
        </c:ser>
        <c:ser>
          <c:idx val="1"/>
          <c:order val="1"/>
          <c:tx>
            <c:strRef>
              <c:f>Sheet1!$C$1</c:f>
              <c:strCache>
                <c:ptCount val="1"/>
                <c:pt idx="0">
                  <c:v>Worst held-out site</c:v>
                </c:pt>
              </c:strCache>
            </c:strRef>
          </c:tx>
          <c:spPr>
            <a:solidFill>
              <a:srgbClr val="1E7A70"/>
            </a:solidFill>
            <a:effectLst/>
          </c:spPr>
          <c:invertIfNegative val="0"/>
          <c:dLbls>
            <c:numFmt formatCode="0.000" sourceLinked="0"/>
            <c:txPr>
              <a:bodyPr/>
              <a:lstStyle/>
              <a:p>
                <a:pPr>
                  <a:defRPr b="0" i="0" strike="noStrike" sz="1050" u="none">
                    <a:solidFill>
                      <a:srgbClr val="22314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Baseline (1,543-d)</c:v>
                  </c:pt>
                  <c:pt idx="1">
                    <c:v>Compact (199-d)</c:v>
                  </c:pt>
                  <c:pt idx="2">
                    <c:v>Perch v2 (1,536-d)</c:v>
                  </c:pt>
                </c:lvl>
              </c:multiLvlStrCache>
            </c:multiLvlStrRef>
          </c:cat>
          <c:val>
            <c:numRef>
              <c:f>Sheet1!$C$2:$C$4</c:f>
              <c:numCache>
                <c:formatCode>General</c:formatCode>
                <c:ptCount val="3"/>
                <c:pt idx="0">
                  <c:v>0.727</c:v>
                </c:pt>
                <c:pt idx="1">
                  <c:v>0.691</c:v>
                </c:pt>
                <c:pt idx="2">
                  <c:v>0.95</c:v>
                </c:pt>
              </c:numCache>
            </c:numRef>
          </c:val>
        </c:ser>
        <c:dLbls>
          <c:numFmt formatCode="0.000" sourceLinked="0"/>
          <c:txPr>
            <a:bodyPr/>
            <a:lstStyle/>
            <a:p>
              <a:pPr>
                <a:defRPr b="0" i="0" strike="noStrike" sz="1050" u="none">
                  <a:solidFill>
                    <a:srgbClr val="22314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EEA"/>
            </a:solidFill>
            <a:prstDash val="solid"/>
            <a:round/>
          </a:ln>
        </c:spPr>
        <c:txPr>
          <a:bodyPr/>
          <a:lstStyle/>
          <a:p>
            <a:pPr>
              <a:defRPr sz="1100" b="0" i="0" u="none" strike="noStrike">
                <a:solidFill>
                  <a:srgbClr val="22314D"/>
                </a:solidFill>
                <a:latin typeface="Calibri"/>
              </a:defRPr>
            </a:pPr>
            <a:endParaRPr lang="en-US"/>
          </a:p>
        </c:txPr>
        <c:crossAx val="2094734552"/>
        <c:crosses val="autoZero"/>
        <c:auto val="1"/>
        <c:lblAlgn val="ctr"/>
        <c:noMultiLvlLbl val="1"/>
      </c:catAx>
      <c:valAx>
        <c:axId val="2094734552"/>
        <c:scaling>
          <c:orientation val="minMax"/>
          <c:max val="1.05"/>
          <c:min val="0.6"/>
        </c:scaling>
        <c:delete val="0"/>
        <c:axPos val="l"/>
        <c:majorGridlines>
          <c:spPr>
            <a:ln w="12700" cap="flat">
              <a:solidFill>
                <a:srgbClr val="EDF1F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18C"/>
                </a:solidFill>
                <a:latin typeface="Calibri"/>
              </a:defRPr>
            </a:pPr>
            <a:endParaRPr lang="en-US"/>
          </a:p>
        </c:txPr>
        <c:crossAx val="2094734554"/>
        <c:crosses val="autoZero"/>
        <c:crossBetween val="between"/>
        <c:majorUnit val="0.1"/>
      </c:valAx>
      <c:spPr>
        <a:noFill/>
        <a:ln>
          <a:noFill/>
        </a:ln>
        <a:effectLst/>
      </c:spPr>
    </c:plotArea>
    <c:legend>
      <c:legendPos val="t"/>
      <c:overlay val="0"/>
      <c:txPr>
        <a:bodyPr/>
        <a:lstStyle/>
        <a:p>
          <a:pPr>
            <a:defRPr sz="1100">
              <a:solidFill>
                <a:srgbClr val="22314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314D"/>
                </a:solidFill>
                <a:latin typeface="Calibri"/>
              </a:defRPr>
            </a:pPr>
            <a:r>
              <a:rPr sz="1200" b="0" i="0" u="none" strike="noStrike">
                <a:solidFill>
                  <a:srgbClr val="22314D"/>
                </a:solidFill>
                <a:latin typeface="Calibri"/>
              </a:rPr>
              <a:t>Mean LOFO F1 by analysis-window duration</a:t>
            </a:r>
          </a:p>
        </c:rich>
      </c:tx>
      <c:layout/>
      <c:overlay val="0"/>
    </c:title>
    <c:autoTitleDeleted val="0"/>
    <c:plotArea>
      <c:layout/>
      <c:barChart>
        <c:barDir val="col"/>
        <c:grouping val="clustered"/>
        <c:varyColors val="0"/>
        <c:ser>
          <c:idx val="0"/>
          <c:order val="0"/>
          <c:tx>
            <c:strRef>
              <c:f>Sheet1!$B$1</c:f>
              <c:strCache>
                <c:ptCount val="1"/>
                <c:pt idx="0">
                  <c:v>Mean LOFO F1</c:v>
                </c:pt>
              </c:strCache>
            </c:strRef>
          </c:tx>
          <c:spPr>
            <a:solidFill>
              <a:srgbClr val="B3C4DC"/>
            </a:solidFill>
            <a:effectLst/>
          </c:spPr>
          <c:invertIfNegative val="0"/>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dPt>
            <c:idx val="0"/>
            <c:invertIfNegative val="0"/>
            <c:bubble3D val="0"/>
            <c:spPr>
              <a:solidFill>
                <a:srgbClr val="B3C4DC"/>
              </a:solidFill>
              <a:effectLst/>
            </c:spPr>
          </c:dPt>
          <c:dPt>
            <c:idx val="1"/>
            <c:invertIfNegative val="0"/>
            <c:bubble3D val="0"/>
            <c:spPr>
              <a:solidFill>
                <a:srgbClr val="B3C4DC"/>
              </a:solidFill>
              <a:effectLst/>
            </c:spPr>
          </c:dPt>
          <c:dPt>
            <c:idx val="2"/>
            <c:invertIfNegative val="0"/>
            <c:bubble3D val="0"/>
            <c:spPr>
              <a:solidFill>
                <a:srgbClr val="B3C4DC"/>
              </a:solidFill>
              <a:effectLst/>
            </c:spPr>
          </c:dPt>
          <c:dPt>
            <c:idx val="3"/>
            <c:invertIfNegative val="0"/>
            <c:bubble3D val="0"/>
            <c:spPr>
              <a:solidFill>
                <a:srgbClr val="1E7A70"/>
              </a:solidFill>
              <a:effectLst/>
            </c:spPr>
          </c:dPt>
          <c:dPt>
            <c:idx val="4"/>
            <c:invertIfNegative val="0"/>
            <c:bubble3D val="0"/>
            <c:spPr>
              <a:solidFill>
                <a:srgbClr val="E76F51"/>
              </a:solidFill>
              <a:effectLst/>
            </c:spPr>
          </c:dPt>
          <c:cat>
            <c:multiLvlStrRef>
              <c:f>Sheet1!$A$2:$A$6</c:f>
              <c:multiLvlStrCache>
                <c:ptCount val="5"/>
                <c:lvl>
                  <c:pt idx="0">
                    <c:v>0.10 s</c:v>
                  </c:pt>
                  <c:pt idx="1">
                    <c:v>0.15 s</c:v>
                  </c:pt>
                  <c:pt idx="2">
                    <c:v>0.20 s</c:v>
                  </c:pt>
                  <c:pt idx="3">
                    <c:v>0.25 s ✓</c:v>
                  </c:pt>
                  <c:pt idx="4">
                    <c:v>0.50 s</c:v>
                  </c:pt>
                </c:lvl>
              </c:multiLvlStrCache>
            </c:multiLvlStrRef>
          </c:cat>
          <c:val>
            <c:numRef>
              <c:f>Sheet1!$B$2:$B$6</c:f>
              <c:numCache>
                <c:formatCode>General</c:formatCode>
                <c:ptCount val="5"/>
                <c:pt idx="0">
                  <c:v>0.655</c:v>
                </c:pt>
                <c:pt idx="1">
                  <c:v>0.767</c:v>
                </c:pt>
                <c:pt idx="2">
                  <c:v>0.802</c:v>
                </c:pt>
                <c:pt idx="3">
                  <c:v>0.872</c:v>
                </c:pt>
                <c:pt idx="4">
                  <c:v>0.994</c:v>
                </c:pt>
              </c:numCache>
            </c:numRef>
          </c:val>
        </c:ser>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EEA"/>
            </a:solidFill>
            <a:prstDash val="solid"/>
            <a:round/>
          </a:ln>
        </c:spPr>
        <c:txPr>
          <a:bodyPr/>
          <a:lstStyle/>
          <a:p>
            <a:pPr>
              <a:defRPr sz="1100" b="0" i="0" u="none" strike="noStrike">
                <a:solidFill>
                  <a:srgbClr val="22314D"/>
                </a:solidFill>
                <a:latin typeface="Calibri"/>
              </a:defRPr>
            </a:pPr>
            <a:endParaRPr lang="en-US"/>
          </a:p>
        </c:txPr>
        <c:crossAx val="2094734552"/>
        <c:crosses val="autoZero"/>
        <c:auto val="1"/>
        <c:lblAlgn val="ctr"/>
        <c:noMultiLvlLbl val="1"/>
      </c:catAx>
      <c:valAx>
        <c:axId val="2094734552"/>
        <c:scaling>
          <c:orientation val="minMax"/>
          <c:max val="1.05"/>
          <c:min val="0.6"/>
        </c:scaling>
        <c:delete val="0"/>
        <c:axPos val="l"/>
        <c:majorGridlines>
          <c:spPr>
            <a:ln w="12700" cap="flat">
              <a:solidFill>
                <a:srgbClr val="EDF1F7"/>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18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Before I say a word about methods, I want to start with the animal.
Insectivorous bats are night-shift predators in almost every terrestrial ecosystem on Earth. They eat enormous quantities of insects, including agricultural pests, and that has real consequences for crops and for disease vectors. But we know remarkably little about WHERE they actually do that eating — which patches of habitat are the dinner tables and which are just corridors they pass through.
This project is about closing a small part of that gap with sound. Over the next fifteen minutes I will ask three questions in turn, and answer each one before moving on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puzzle in one line. Bats eat, in quantities that matter ecologically and economically — and we barely know where.
The reason is practical. You cannot follow a bat around at night. Radio-tracking is expensive, invasive and gives you a handful of individuals. What you CAN do is leave a microphone in the landscape and let the bats tell you themselves.
That is passive acoustic monitoring, and it is now routine in biodiversity work. A recorder sits in the field for weeks with almost no disturbance to the animals. The difficulty is not collecting the sound. The difficulty is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signal the whole project turns on.
On the left of the spectrogram you can see the regular, widely spaced search-phase calls of a hunting bat. On the right those calls compress — the interval collapses, the repetition rate climbs past two hundred calls a second in some species — and then it stops. That compression is a feeding buzz, and it is the acoustic signature of a bat closing on prey.
This is the important distinction. An ordinary call tells you a bat passed through. A buzz tells you a bat tried to eat. Buzzes are behaviour, not just presence — which is exactly what you need if you want to map foraging.
They are also hard to find: brief, ultrasonic, recorded here at 384 kilohertz, and easily confused with other pulse trains.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workload, in the dataset I actually worked with.
Nine point four hours of field audio from a single recorder in the Mara Triangle in Kenya. I score it in overlapping quarter-second windows — the bar at the top is one minute of audio, and the amber sliver is one window. That one minute alone is 479 windows. Across 564 recordings it comes to two hundred and seventy thousand windows.
A person can carefully review a few dozen of those. Sixty-nine, in my case. So the question is never 'can a human find the buzzes' — it is 'what puts the right sixty-nine in front of the human'.
That is a ranking problem, and ranking depends entirely on how you turn sound into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gap I want you to see rather than take on trust.
On the left is the number you normally get quoted. Take a labelled set of clips, shuffle them, split at random, train and test. My hand-crafted spectral baseline scores 0.930 F1 that way, and that sounds like a solved problem.
On the right is the same detector on the same clips, with one change: I held out an entire recording site, so the detector has never heard that place before. I repeat that six times, holding each site out in turn — the squares along the bottom — and its weakest site falls to 0.727. Twenty F1 points vanish, and nothing about the model changed, only the honesty of the test.
That matters here because of where these tools come from. Buzzfindr was developed on Ontario recordings, BatBuddy on Dutch ones, and the recordings I care about are from the Mara Triangle in Kenya — different species assemblage, different insects, different background. If twenty points can disappear between two Ontario sites, we should not assume anything survives that jump.
So the first question writes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Which way of describing the sound survives a site it has never heard?
To answer that I need to say what 'a way of describing the sound' actually means, because it is the thing the whole talk turns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idea, and everything else in the talk depends on it.
A detector never hears anything. What actually reaches it is the middle box: a fixed-length list of numbers describing a quarter of a second of sound. That list is what we call an acoustic representation.
Whatever the representation leaves out is gone. If your numbers throw away the fine timing of a pulse train, no classifier downstream can recover it, however clever the classifier is.
So in every experiment I keep the right-hand box fixed — the same simple logistic regression, the same settings, the same threshold — and change only the middle box. Any difference you see is a difference between representations.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representations, and then a deliberately boring classifier.
The baseline is what a bioacoustician would build by hand: temporal mean, standard deviation and maximum for each of 513 frequency bins, plus four global statistics. Fifteen hundred and forty-three numbers, every one of them interpretable.
The compact version is the same idea with the frequency axis coarsened into 64 bands instead of 513 bins — 199 numbers. I included it to ask whether the fine frequency detail is doing any work.
Perch v2 is different in kind. It is a pretrained network trained on a very large multi-taxa sound collection, and I use it frozen — no fine-tuning at all. I just take its 1,536-dimensional embedding.
Downstream everything is identical: a standard scaler fitted on training data only, L2 logistic regression, C of one, balanced class weights, threshold 0.5. So any difference I show you is a difference between representations, not between classifiers.
One catch: Perch cannot listen to a bat.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piece of engineering I want to spend a slide on, because it is what makes the rest possible.
Perch was built for birds, and it expects 32 kilohertz audio. A 32 kilohertz frontend can only represent frequencies up to 16 kilohertz. Bat echolocation in this dataset sits between roughly 20 and 120 kilohertz. So if I simply downsample the recordings, I delete the entire signal and hand the model silence.
Instead I resample from 384 to 320 kilohertz, and then let Perch read those samples as though they were 32 kilohertz. That is a tenfold time expansion. A quarter of a second of real audio becomes two and a half seconds for the model, and every frequency drops by a factor of ten — so a 100 kilohertz call arrives at 10 kilohertz, comfortably inside what the model can see.
The two panels are the same spectrogram. Nothing about the pattern changes; only the axes move. That is the point — the relative structure of the pulse train, which is what identifies a buzz, is preserved exactly.
I should be straight about the cost: only the Perch route carries this step. So what I compare is three complete pipelines, not three architectures under identical preprocessing. I come back to that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to question one, in the same shape as the gap slide.
The pale bars are the flattering random split. The teal bars are the worst site the detector had never heard. For both hand-crafted representations the bar collapses — 0.930 down to 0.727, and 0.905 down to 0.691. For Perch it barely moves: 1.000 down to 0.950.
The comparison I would put weight on is this one: Perch's WORST site, 0.950, is better than the baseline's AVERAGE across all six folds, which is 0.872. And the spread tells the same story — a standard deviation of 0.020 across folds against 0.101 and 0.114. It is not only better on average, it is stable, and stability is what you need if you are going to point a detector at a place you have no labels for.
One honest aside on the compact representation: 199 dimensions matched 1,543 to within two thousandths of an F1 point. Eight times fewer features, the same answer. More hand-crafted detail was not buying anything.
I should also say the grouped-site split did not discriminate: all three reached F1 of exactly 1.000, so that test told me nothing.
Classification needs a threshold, though. In a real review workflow, you do not want a yes/no — you want an ordered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Forget the threshold. Give me one labelled buzz, and rank everything else by how similar it looks in the representation. That is query-by-example retrieval, and it is much closer to how a person would actually use this: not 'is this a buzz, yes or no', but 'show me the twenty clips most worth my time'.
I used all 158 labelled buzz clips as queries in turn, and — importantly — removed every clip from the query's own site from the candidate pool. So the model is always retrieving across sites, never within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as: if a reviewer opened the top ten results, how many would be real feeding buzzes?
An unguided reviewer, working through a balanced pool at random, gets five. The hand-crafted baseline gets about eight — Precision at ten of 0.831. Perch gets essentially ten — 0.984. And this holds while retrieving across sites, because I removed everything from the query's own site from the pool every time.
Two things worth noticing. First, the ordering is the same as in detection, which is reassuring: it is not an artefact of the classifier or the threshold. Second, the separation is concentrated at the top of the ranking — Perch's Average Precision over the whole list, 0.879, is lower than its precision at ten. For a review workflow that is exactly the right shape of error: the list is at its most trustworthy where people actually look.
I want to be honest about difficulty, though. This candidate pool is balanced, which is why random scores 0.5. In continuous field recordings buzzes are far rarer than that, so this is an easier problem than the one I turn to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and the hardest one. Everything so far has been curated clips from Ontario, balanced fifty-fifty, with labels.
Now I take the Perch pipeline, unchanged, and point it at nine and a half hours of continuous recording from a single AudioMoth in the Mara Triangle in Kenya. Different continent, different bats, different insects, and — this is the crucial constraint — no exhaustive ground truth. Nobody has listened to all of it, so I cannot compute precision or recall here. What I can do is ask what the detector puts at the top, and then look at it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panels scored essentially 1.0. The one on the left is a feeding buzz. The one on the right is an insect.
That is the honest headline of question three. The Perch score is a good ranker — it pulled genuinely pulse-like structure to the top of two hundred and seventy thousand windows — but it is not an identifier. Insects produce pulse trains too, and at the level of a single quarter-second window they look very similar.
The strip along the bottom is what the sixty-nine top-ranked candidates actually were when I reviewed each one with 1.25 seconds of surrounding context, its pulse timing and time-expanded audio. Nineteen were buzz-like. Twenty-seven — the largest single category — were insect-like. The rest were background, recording artefacts, single clicks and one I could not call.
Two caveats I want to state plainly. These candidates were selected BY the Perch score, so those proportions describe the reviewed set, not the prevalence of buzzes in the recordings. And my category labels are my own descriptive judgements, not verified ground truth.
What separated the two panels was context — the wider window showed the insect's pulse train continuing, where a real buzz compresses and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takes us back to the opening question — where and when do bats feed.
This plots the percentage of scored windows above each threshold against hour of day. There is nothing in daylight, which is partly because the recorder only ran from six in the evening to eleven, and midnight to five. Within the dark hours, though, there is a clear gradient: the rate climbs through the evening and peaks at eleven at night, where thirty percent of windows scored above 0.5, against about five percent at four in the morning.
I want to be careful about what I claim. This is a distribution of detector scores, not of confirmed feeding buzzes — and we have just seen that a large share of the high-scoring windows are insects. So I present this as a descriptive pattern that is consistent with nocturnal foraging activity, and as an illustration of the kind of question this pipeline could answer once the candidates are verified. It is not, yet, a measurement of when bats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and I would rather raise them than have you find them.
One. The six recording groups I hold out are not six separate places. Two of them, buzzes_sp and buzzes_spmylu, come from the same location — Site 4 — so in those two rounds a companion group from the same place was still in training. My headline test therefore measures group-level robustness, not strict isolation of five locations. The grouped-site test on buzzes_tb is genuinely geographically separated, and Perch held up there too, but I do not want to overstate the main result.
Two. A duration shortcut. Buzz clips tend to be shorter than non-buzz clips, so when I pad or crop everything to a fixed window, the padding itself partly encodes the label. At half a second that shortcut is complete — every buzz padded, every non-buzz cropped — which is exactly why the half-second result of 0.994 is not the one I report. At a quarter of a second it is weakened but not gone: 127 buzz clips are still padded. A duration-matched benchmark would quantify it.
Three. Only Perch carries the resampling and time expansion, so strictly I have compared three pipelines, not three representations under identical preprocessing. Testing other expansion factors would separate those.
Four. Kenya has no exhaustive labels, so nothing I show from it is a precision or recall figure.
Each of these has a concrete fix, and that is what I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where I started.
One. How you represent the sound is what decides whether a detector survives a new site. A frozen, time-expanded Perch embedding reached 0.989 mean F1 across held-out sites with a worst site of 0.950, where hand-crafted spectral statistics fell to 0.727.
Two. The same representation ranks as well as it classifies — 0.984 precision at ten across sites — which is what you would actually deploy, because it needs no threshold and it puts its best work at the top of the queue.
Three. And in the field, none of that removes the human. The largest category among my top-ranked Kenya candidates was insects, not bats. What the pipeline buys you is a shortlist of sixty-nine instead of two hundred and seventy thousand — which is the difference between an impossible job and an afternoon.
The next step is the obvious one: an independently sampled, exhaustively reviewed Kenya subset. That would give real event-level precision and recall, let both detectors be compared on the same confirmed events, and turn those insect pulse trains into hard negatives for retraining.
Thank you —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I have backup slides on the full metric tables, the preprocessing sensitivity analysis, the Kenya threshold counts and the implementation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full detection metric set, including accuracy, ROC-AUC and Average Precision averaged over the six LOFO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full cross-folder similarity retrieval results and the retrieval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clip-duration and spectrogram-resolution sensitivity, and why the higher-scoring 0.50 s window was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Kenya threshold counts, recording coverage, temporal pattern and the two-route candidate-selection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two remaining reviewed Kenya candidates, plus fixed model settings and Kenya analysis settings for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1.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uzz_strip.jpg">    </p:cNvPr>
          <p:cNvPicPr>
            <a:picLocks noChangeAspect="1"/>
          </p:cNvPicPr>
          <p:nvPr/>
        </p:nvPicPr>
        <p:blipFill>
          <a:blip r:embed="rId1"/>
          <a:stretch>
            <a:fillRect/>
          </a:stretch>
        </p:blipFill>
        <p:spPr>
          <a:xfrm>
            <a:off x="0" y="4224528"/>
            <a:ext cx="12191695" cy="960120"/>
          </a:xfrm>
          <a:prstGeom prst="rect">
            <a:avLst/>
          </a:prstGeom>
        </p:spPr>
      </p:pic>
      <p:sp>
        <p:nvSpPr>
          <p:cNvPr id="3" name="Shape 0"/>
          <p:cNvSpPr/>
          <p:nvPr/>
        </p:nvSpPr>
        <p:spPr>
          <a:xfrm>
            <a:off x="0" y="5184648"/>
            <a:ext cx="12191695" cy="1673352"/>
          </a:xfrm>
          <a:prstGeom prst="rect">
            <a:avLst/>
          </a:prstGeom>
          <a:solidFill>
            <a:srgbClr val="0E1B33"/>
          </a:solidFill>
          <a:ln w="12700">
            <a:solidFill>
              <a:srgbClr val="0E1B33"/>
            </a:solidFill>
            <a:prstDash val="solid"/>
          </a:ln>
        </p:spPr>
      </p:sp>
      <p:pic>
        <p:nvPicPr>
          <p:cNvPr id="4" name="Image 1" descr="/tmp/claude-0/-home-user-pgs/8689355c-e60c-59e2-8422-64ed5c528138/scratchpad/work/assets/bat_white.png">    </p:cNvPr>
          <p:cNvPicPr>
            <a:picLocks noChangeAspect="1"/>
          </p:cNvPicPr>
          <p:nvPr/>
        </p:nvPicPr>
        <p:blipFill>
          <a:blip r:embed="rId2">
            <a:alphaModFix amt="85000"/>
          </a:blip>
          <a:stretch>
            <a:fillRect/>
          </a:stretch>
        </p:blipFill>
        <p:spPr>
          <a:xfrm>
            <a:off x="685800" y="4407408"/>
            <a:ext cx="1371600" cy="310896"/>
          </a:xfrm>
          <a:prstGeom prst="rect">
            <a:avLst/>
          </a:prstGeom>
        </p:spPr>
      </p:pic>
      <p:sp>
        <p:nvSpPr>
          <p:cNvPr id="5" name="Text 1"/>
          <p:cNvSpPr txBox="1"/>
          <p:nvPr/>
        </p:nvSpPr>
        <p:spPr>
          <a:xfrm>
            <a:off x="640080" y="960120"/>
            <a:ext cx="10058400" cy="292608"/>
          </a:xfrm>
          <a:prstGeom prst="rect">
            <a:avLst/>
          </a:prstGeom>
          <a:noFill/>
          <a:ln/>
        </p:spPr>
        <p:txBody>
          <a:bodyPr wrap="square" lIns="0" tIns="0" rIns="0" bIns="0" rtlCol="0" anchor="ctr"/>
          <a:lstStyle/>
          <a:p>
            <a:pPr indent="0" marL="0">
              <a:buNone/>
            </a:pPr>
            <a:r>
              <a:rPr lang="en-US" sz="1250" b="1" spc="200" kern="0" dirty="0">
                <a:solidFill>
                  <a:srgbClr val="F2A541"/>
                </a:solidFill>
                <a:latin typeface="Calibri" pitchFamily="34" charset="0"/>
                <a:ea typeface="Calibri" pitchFamily="34" charset="-122"/>
                <a:cs typeface="Calibri" pitchFamily="34" charset="-120"/>
              </a:rPr>
              <a:t>MSc Ecology and Data Science   ·   Dissertation defence</a:t>
            </a:r>
            <a:endParaRPr lang="en-US" sz="1250" dirty="0"/>
          </a:p>
        </p:txBody>
      </p:sp>
      <p:sp>
        <p:nvSpPr>
          <p:cNvPr id="6" name="Text 2"/>
          <p:cNvSpPr txBox="1"/>
          <p:nvPr/>
        </p:nvSpPr>
        <p:spPr>
          <a:xfrm>
            <a:off x="640080" y="1463040"/>
            <a:ext cx="1060704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Where do bats feed?</a:t>
            </a:r>
            <a:endParaRPr lang="en-US" sz="5200" dirty="0"/>
          </a:p>
        </p:txBody>
      </p:sp>
      <p:sp>
        <p:nvSpPr>
          <p:cNvPr id="7" name="Text 3"/>
          <p:cNvSpPr txBox="1"/>
          <p:nvPr/>
        </p:nvSpPr>
        <p:spPr>
          <a:xfrm>
            <a:off x="640080" y="2606040"/>
            <a:ext cx="9601200" cy="914400"/>
          </a:xfrm>
          <a:prstGeom prst="rect">
            <a:avLst/>
          </a:prstGeom>
          <a:noFill/>
          <a:ln/>
        </p:spPr>
        <p:txBody>
          <a:bodyPr wrap="square" lIns="0" tIns="0" rIns="0" bIns="0" rtlCol="0" anchor="t"/>
          <a:lstStyle/>
          <a:p>
            <a:pPr indent="0" marL="0">
              <a:lnSpc>
                <a:spcPts val="2800"/>
              </a:lnSpc>
              <a:buNone/>
            </a:pPr>
            <a:r>
              <a:rPr lang="en-US" sz="1900" dirty="0">
                <a:solidFill>
                  <a:srgbClr val="B3C4DC"/>
                </a:solidFill>
                <a:latin typeface="Calibri" pitchFamily="34" charset="0"/>
                <a:ea typeface="Calibri" pitchFamily="34" charset="-122"/>
                <a:cs typeface="Calibri" pitchFamily="34" charset="-120"/>
              </a:rPr>
              <a:t>Teaching a bird-trained model to find feeding buzzes</a:t>
            </a:r>
            <a:endParaRPr lang="en-US" sz="1900" dirty="0"/>
          </a:p>
          <a:p>
            <a:pPr indent="0" marL="0">
              <a:lnSpc>
                <a:spcPts val="2800"/>
              </a:lnSpc>
              <a:buNone/>
            </a:pPr>
            <a:r>
              <a:rPr lang="en-US" sz="1900" dirty="0">
                <a:solidFill>
                  <a:srgbClr val="B3C4DC"/>
                </a:solidFill>
                <a:latin typeface="Calibri" pitchFamily="34" charset="0"/>
                <a:ea typeface="Calibri" pitchFamily="34" charset="-122"/>
                <a:cs typeface="Calibri" pitchFamily="34" charset="-120"/>
              </a:rPr>
              <a:t>in places it has never heard</a:t>
            </a:r>
            <a:endParaRPr lang="en-US" sz="1900" dirty="0"/>
          </a:p>
        </p:txBody>
      </p:sp>
      <p:sp>
        <p:nvSpPr>
          <p:cNvPr id="8" name="Text 4"/>
          <p:cNvSpPr txBox="1"/>
          <p:nvPr/>
        </p:nvSpPr>
        <p:spPr>
          <a:xfrm>
            <a:off x="640080" y="5376672"/>
            <a:ext cx="8412480" cy="274320"/>
          </a:xfrm>
          <a:prstGeom prst="rect">
            <a:avLst/>
          </a:prstGeom>
          <a:noFill/>
          <a:ln/>
        </p:spPr>
        <p:txBody>
          <a:bodyPr wrap="square" lIns="0" tIns="0" rIns="0" bIns="0" rtlCol="0" anchor="ctr"/>
          <a:lstStyle/>
          <a:p>
            <a:pPr indent="0" marL="0">
              <a:buNone/>
            </a:pPr>
            <a:r>
              <a:rPr lang="en-US" sz="1100" i="1" dirty="0">
                <a:solidFill>
                  <a:srgbClr val="7C8CA8"/>
                </a:solidFill>
                <a:latin typeface="Calibri" pitchFamily="34" charset="0"/>
                <a:ea typeface="Calibri" pitchFamily="34" charset="-122"/>
                <a:cs typeface="Calibri" pitchFamily="34" charset="-120"/>
              </a:rPr>
              <a:t>Time-Expanded Perch Embeddings for Feeding-Buzz Detection, Retrieval and Field Candidate Discovery</a:t>
            </a:r>
            <a:endParaRPr lang="en-US" sz="1100" dirty="0"/>
          </a:p>
        </p:txBody>
      </p:sp>
      <p:sp>
        <p:nvSpPr>
          <p:cNvPr id="9" name="Text 5"/>
          <p:cNvSpPr txBox="1"/>
          <p:nvPr/>
        </p:nvSpPr>
        <p:spPr>
          <a:xfrm>
            <a:off x="640080" y="5669280"/>
            <a:ext cx="7315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Candidate WPNS1</a:t>
            </a:r>
            <a:endParaRPr lang="en-US" sz="1300" dirty="0"/>
          </a:p>
        </p:txBody>
      </p:sp>
      <p:sp>
        <p:nvSpPr>
          <p:cNvPr id="10" name="Text 6"/>
          <p:cNvSpPr txBox="1"/>
          <p:nvPr/>
        </p:nvSpPr>
        <p:spPr>
          <a:xfrm>
            <a:off x="640080" y="5971032"/>
            <a:ext cx="10058400" cy="320040"/>
          </a:xfrm>
          <a:prstGeom prst="rect">
            <a:avLst/>
          </a:prstGeom>
          <a:noFill/>
          <a:ln/>
        </p:spPr>
        <p:txBody>
          <a:bodyPr wrap="square" lIns="0" tIns="0" rIns="0" bIns="0" rtlCol="0" anchor="ctr"/>
          <a:lstStyle/>
          <a:p>
            <a:pPr indent="0" marL="0">
              <a:buNone/>
            </a:pPr>
            <a:r>
              <a:rPr lang="en-US" sz="1200" dirty="0">
                <a:solidFill>
                  <a:srgbClr val="B3C4DC"/>
                </a:solidFill>
                <a:latin typeface="Calibri" pitchFamily="34" charset="0"/>
                <a:ea typeface="Calibri" pitchFamily="34" charset="-122"/>
                <a:cs typeface="Calibri" pitchFamily="34" charset="-120"/>
              </a:rPr>
              <a:t>Supervisors: Santiago Martinez Balvanera · Kate Jones   ·   BIOS0057 · University College London · 2025–2026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at_white.png">    </p:cNvPr>
          <p:cNvPicPr>
            <a:picLocks noChangeAspect="1"/>
          </p:cNvPicPr>
          <p:nvPr/>
        </p:nvPicPr>
        <p:blipFill>
          <a:blip r:embed="rId1">
            <a:alphaModFix amt="55000"/>
          </a:blip>
          <a:stretch>
            <a:fillRect/>
          </a:stretch>
        </p:blipFill>
        <p:spPr>
          <a:xfrm>
            <a:off x="6903720" y="3154680"/>
            <a:ext cx="4663440" cy="1051560"/>
          </a:xfrm>
          <a:prstGeom prst="rect">
            <a:avLst/>
          </a:prstGeom>
        </p:spPr>
      </p:pic>
      <p:pic>
        <p:nvPicPr>
          <p:cNvPr id="3" name="Image 1" descr="/tmp/claude-0/-home-user-pgs/8689355c-e60c-59e2-8422-64ed5c528138/scratchpad/work/assets/buzz_strip.jpg">    </p:cNvPr>
          <p:cNvPicPr>
            <a:picLocks noChangeAspect="1"/>
          </p:cNvPicPr>
          <p:nvPr/>
        </p:nvPicPr>
        <p:blipFill>
          <a:blip r:embed="rId2">
            <a:alphaModFix amt="75000"/>
          </a:blip>
          <a:stretch>
            <a:fillRect/>
          </a:stretch>
        </p:blipFill>
        <p:spPr>
          <a:xfrm>
            <a:off x="0" y="5897880"/>
            <a:ext cx="12191695" cy="960120"/>
          </a:xfrm>
          <a:prstGeom prst="rect">
            <a:avLst/>
          </a:prstGeom>
        </p:spPr>
      </p:pic>
      <p:sp>
        <p:nvSpPr>
          <p:cNvPr id="4" name="Text 0"/>
          <p:cNvSpPr txBox="1"/>
          <p:nvPr/>
        </p:nvSpPr>
        <p:spPr>
          <a:xfrm>
            <a:off x="640080" y="960120"/>
            <a:ext cx="7315200" cy="274320"/>
          </a:xfrm>
          <a:prstGeom prst="rect">
            <a:avLst/>
          </a:prstGeom>
          <a:noFill/>
          <a:ln/>
        </p:spPr>
        <p:txBody>
          <a:bodyPr wrap="square" lIns="0" tIns="0" rIns="0" bIns="0" rtlCol="0" anchor="ctr"/>
          <a:lstStyle/>
          <a:p>
            <a:pPr indent="0" marL="0">
              <a:buNone/>
            </a:pPr>
            <a:r>
              <a:rPr lang="en-US" sz="1150" b="1" spc="260" kern="0" dirty="0">
                <a:solidFill>
                  <a:srgbClr val="F2A541"/>
                </a:solidFill>
                <a:latin typeface="Calibri" pitchFamily="34" charset="0"/>
                <a:ea typeface="Calibri" pitchFamily="34" charset="-122"/>
                <a:cs typeface="Calibri" pitchFamily="34" charset="-120"/>
              </a:rPr>
              <a:t>THE BIG PICTURE</a:t>
            </a:r>
            <a:endParaRPr lang="en-US" sz="1150" dirty="0"/>
          </a:p>
        </p:txBody>
      </p:sp>
      <p:sp>
        <p:nvSpPr>
          <p:cNvPr id="5" name="Text 1"/>
          <p:cNvSpPr txBox="1"/>
          <p:nvPr/>
        </p:nvSpPr>
        <p:spPr>
          <a:xfrm>
            <a:off x="640080" y="1417320"/>
            <a:ext cx="8138160" cy="1920240"/>
          </a:xfrm>
          <a:prstGeom prst="rect">
            <a:avLst/>
          </a:prstGeom>
          <a:noFill/>
          <a:ln/>
        </p:spPr>
        <p:txBody>
          <a:bodyPr wrap="square" lIns="0" tIns="0" rIns="0" bIns="0" rtlCol="0" anchor="t"/>
          <a:lstStyle/>
          <a:p>
            <a:pPr indent="0" marL="0">
              <a:lnSpc>
                <a:spcPts val="5600"/>
              </a:lnSpc>
              <a:buNone/>
            </a:pPr>
            <a:r>
              <a:rPr lang="en-US" sz="4600" b="1" dirty="0">
                <a:solidFill>
                  <a:srgbClr val="FFFFFF"/>
                </a:solidFill>
                <a:latin typeface="Cambria" pitchFamily="34" charset="0"/>
                <a:ea typeface="Cambria" pitchFamily="34" charset="-122"/>
                <a:cs typeface="Cambria" pitchFamily="34" charset="-120"/>
              </a:rPr>
              <a:t>Bats eat.</a:t>
            </a:r>
            <a:endParaRPr lang="en-US" sz="4600" dirty="0"/>
          </a:p>
          <a:p>
            <a:pPr indent="0" marL="0">
              <a:lnSpc>
                <a:spcPts val="5600"/>
              </a:lnSpc>
              <a:buNone/>
            </a:pPr>
            <a:r>
              <a:rPr lang="en-US" sz="4600" b="1" dirty="0">
                <a:solidFill>
                  <a:srgbClr val="FFFFFF"/>
                </a:solidFill>
                <a:latin typeface="Cambria" pitchFamily="34" charset="0"/>
                <a:ea typeface="Cambria" pitchFamily="34" charset="-122"/>
                <a:cs typeface="Cambria" pitchFamily="34" charset="-120"/>
              </a:rPr>
              <a:t>We barely know where.</a:t>
            </a:r>
            <a:endParaRPr lang="en-US" sz="4600" dirty="0"/>
          </a:p>
        </p:txBody>
      </p:sp>
      <p:sp>
        <p:nvSpPr>
          <p:cNvPr id="6" name="Text 2"/>
          <p:cNvSpPr txBox="1"/>
          <p:nvPr/>
        </p:nvSpPr>
        <p:spPr>
          <a:xfrm>
            <a:off x="640080" y="3611880"/>
            <a:ext cx="5852160" cy="1005840"/>
          </a:xfrm>
          <a:prstGeom prst="rect">
            <a:avLst/>
          </a:prstGeom>
          <a:noFill/>
          <a:ln/>
        </p:spPr>
        <p:txBody>
          <a:bodyPr wrap="square" lIns="0" tIns="0" rIns="0" bIns="0" rtlCol="0" anchor="t"/>
          <a:lstStyle/>
          <a:p>
            <a:pPr indent="0" marL="0">
              <a:lnSpc>
                <a:spcPts val="2500"/>
              </a:lnSpc>
              <a:buNone/>
            </a:pPr>
            <a:r>
              <a:rPr lang="en-US" sz="1600" dirty="0">
                <a:solidFill>
                  <a:srgbClr val="B3C4DC"/>
                </a:solidFill>
                <a:latin typeface="Calibri" pitchFamily="34" charset="0"/>
                <a:ea typeface="Calibri" pitchFamily="34" charset="-122"/>
                <a:cs typeface="Calibri" pitchFamily="34" charset="-120"/>
              </a:rPr>
              <a:t>Insectivorous bats hold down insect populations across almost every terrestrial ecosystem — yet their foraging sites are largely unmapped.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WHAT WE LISTEN FOR</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Presence is easy. Feeding is the question.</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Why feeding buzzes</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640080" y="1572768"/>
            <a:ext cx="10911535" cy="2962656"/>
          </a:xfrm>
          <a:prstGeom prst="roundRect">
            <a:avLst>
              <a:gd name="adj" fmla="val 1852"/>
            </a:avLst>
          </a:prstGeom>
          <a:solidFill>
            <a:srgbClr val="0E1B33"/>
          </a:solidFill>
          <a:ln w="12700">
            <a:solidFill>
              <a:srgbClr val="0E1B33"/>
            </a:solidFill>
            <a:prstDash val="solid"/>
          </a:ln>
        </p:spPr>
      </p:sp>
      <p:pic>
        <p:nvPicPr>
          <p:cNvPr id="7" name="Image 0" descr="/tmp/claude-0/-home-user-pgs/8689355c-e60c-59e2-8422-64ed5c528138/scratchpad/work/assets/buzz_spec.jpg">    </p:cNvPr>
          <p:cNvPicPr>
            <a:picLocks noChangeAspect="1"/>
          </p:cNvPicPr>
          <p:nvPr/>
        </p:nvPicPr>
        <p:blipFill>
          <a:blip r:embed="rId1"/>
          <a:stretch>
            <a:fillRect/>
          </a:stretch>
        </p:blipFill>
        <p:spPr>
          <a:xfrm>
            <a:off x="960120" y="1691640"/>
            <a:ext cx="10268712" cy="2344669"/>
          </a:xfrm>
          <a:prstGeom prst="rect">
            <a:avLst/>
          </a:prstGeom>
        </p:spPr>
      </p:pic>
      <p:sp>
        <p:nvSpPr>
          <p:cNvPr id="8" name="Text 5"/>
          <p:cNvSpPr txBox="1"/>
          <p:nvPr/>
        </p:nvSpPr>
        <p:spPr>
          <a:xfrm>
            <a:off x="1463040" y="4114800"/>
            <a:ext cx="2377440" cy="274320"/>
          </a:xfrm>
          <a:prstGeom prst="rect">
            <a:avLst/>
          </a:prstGeom>
          <a:noFill/>
          <a:ln/>
        </p:spPr>
        <p:txBody>
          <a:bodyPr wrap="square" lIns="0" tIns="0" rIns="0" bIns="0" rtlCol="0" anchor="ctr"/>
          <a:lstStyle/>
          <a:p>
            <a:pPr indent="0" marL="0">
              <a:buNone/>
            </a:pPr>
            <a:r>
              <a:rPr lang="en-US" sz="1150" b="1" dirty="0">
                <a:solidFill>
                  <a:srgbClr val="B3C4DC"/>
                </a:solidFill>
                <a:latin typeface="Calibri" pitchFamily="34" charset="0"/>
                <a:ea typeface="Calibri" pitchFamily="34" charset="-122"/>
                <a:cs typeface="Calibri" pitchFamily="34" charset="-120"/>
              </a:rPr>
              <a:t>search-phase calls</a:t>
            </a:r>
            <a:endParaRPr lang="en-US" sz="1150" dirty="0"/>
          </a:p>
        </p:txBody>
      </p:sp>
      <p:sp>
        <p:nvSpPr>
          <p:cNvPr id="9" name="Text 6"/>
          <p:cNvSpPr txBox="1"/>
          <p:nvPr/>
        </p:nvSpPr>
        <p:spPr>
          <a:xfrm>
            <a:off x="7360920" y="4114800"/>
            <a:ext cx="3566160" cy="274320"/>
          </a:xfrm>
          <a:prstGeom prst="rect">
            <a:avLst/>
          </a:prstGeom>
          <a:noFill/>
          <a:ln/>
        </p:spPr>
        <p:txBody>
          <a:bodyPr wrap="square" lIns="0" tIns="0" rIns="0" bIns="0" rtlCol="0" anchor="ctr"/>
          <a:lstStyle/>
          <a:p>
            <a:pPr algn="r" indent="0" marL="0">
              <a:buNone/>
            </a:pPr>
            <a:r>
              <a:rPr lang="en-US" sz="1150" b="1" dirty="0">
                <a:solidFill>
                  <a:srgbClr val="F2A541"/>
                </a:solidFill>
                <a:latin typeface="Calibri" pitchFamily="34" charset="0"/>
                <a:ea typeface="Calibri" pitchFamily="34" charset="-122"/>
                <a:cs typeface="Calibri" pitchFamily="34" charset="-120"/>
              </a:rPr>
              <a:t>terminal buzz  →  a capture attempt</a:t>
            </a:r>
            <a:endParaRPr lang="en-US" sz="1150" dirty="0"/>
          </a:p>
        </p:txBody>
      </p:sp>
      <p:sp>
        <p:nvSpPr>
          <p:cNvPr id="10" name="Text 7"/>
          <p:cNvSpPr txBox="1"/>
          <p:nvPr/>
        </p:nvSpPr>
        <p:spPr>
          <a:xfrm>
            <a:off x="640080" y="4709160"/>
            <a:ext cx="3017520" cy="384048"/>
          </a:xfrm>
          <a:prstGeom prst="rect">
            <a:avLst/>
          </a:prstGeom>
          <a:noFill/>
          <a:ln/>
        </p:spPr>
        <p:txBody>
          <a:bodyPr wrap="square" lIns="0" tIns="0" rIns="0" bIns="0" rtlCol="0" anchor="ctr"/>
          <a:lstStyle/>
          <a:p>
            <a:pPr indent="0" marL="0">
              <a:buNone/>
            </a:pPr>
            <a:r>
              <a:rPr lang="en-US" sz="2300" b="1" dirty="0">
                <a:solidFill>
                  <a:srgbClr val="5F718C"/>
                </a:solidFill>
                <a:latin typeface="Cambria" pitchFamily="34" charset="0"/>
                <a:ea typeface="Cambria" pitchFamily="34" charset="-122"/>
                <a:cs typeface="Cambria" pitchFamily="34" charset="-120"/>
              </a:rPr>
              <a:t>A call</a:t>
            </a:r>
            <a:endParaRPr lang="en-US" sz="2300" dirty="0"/>
          </a:p>
        </p:txBody>
      </p:sp>
      <p:sp>
        <p:nvSpPr>
          <p:cNvPr id="11" name="Text 8"/>
          <p:cNvSpPr txBox="1"/>
          <p:nvPr/>
        </p:nvSpPr>
        <p:spPr>
          <a:xfrm>
            <a:off x="640080" y="5120640"/>
            <a:ext cx="3017520" cy="365760"/>
          </a:xfrm>
          <a:prstGeom prst="rect">
            <a:avLst/>
          </a:prstGeom>
          <a:noFill/>
          <a:ln/>
        </p:spPr>
        <p:txBody>
          <a:bodyPr wrap="square" lIns="0" tIns="0" rIns="0" bIns="0" rtlCol="0" anchor="ctr"/>
          <a:lstStyle/>
          <a:p>
            <a:pPr indent="0" marL="0">
              <a:buNone/>
            </a:pPr>
            <a:r>
              <a:rPr lang="en-US" sz="1350" dirty="0">
                <a:solidFill>
                  <a:srgbClr val="22314D"/>
                </a:solidFill>
                <a:latin typeface="Calibri" pitchFamily="34" charset="0"/>
                <a:ea typeface="Calibri" pitchFamily="34" charset="-122"/>
                <a:cs typeface="Calibri" pitchFamily="34" charset="-120"/>
              </a:rPr>
              <a:t>the bat was here</a:t>
            </a:r>
            <a:endParaRPr lang="en-US" sz="1350" dirty="0"/>
          </a:p>
        </p:txBody>
      </p:sp>
      <p:sp>
        <p:nvSpPr>
          <p:cNvPr id="12" name="Text 9"/>
          <p:cNvSpPr txBox="1"/>
          <p:nvPr/>
        </p:nvSpPr>
        <p:spPr>
          <a:xfrm>
            <a:off x="3931920" y="4709160"/>
            <a:ext cx="3017520" cy="384048"/>
          </a:xfrm>
          <a:prstGeom prst="rect">
            <a:avLst/>
          </a:prstGeom>
          <a:noFill/>
          <a:ln/>
        </p:spPr>
        <p:txBody>
          <a:bodyPr wrap="square" lIns="0" tIns="0" rIns="0" bIns="0" rtlCol="0" anchor="ctr"/>
          <a:lstStyle/>
          <a:p>
            <a:pPr indent="0" marL="0">
              <a:buNone/>
            </a:pPr>
            <a:r>
              <a:rPr lang="en-US" sz="2300" b="1" dirty="0">
                <a:solidFill>
                  <a:srgbClr val="1E7A70"/>
                </a:solidFill>
                <a:latin typeface="Cambria" pitchFamily="34" charset="0"/>
                <a:ea typeface="Cambria" pitchFamily="34" charset="-122"/>
                <a:cs typeface="Cambria" pitchFamily="34" charset="-120"/>
              </a:rPr>
              <a:t>A buzz</a:t>
            </a:r>
            <a:endParaRPr lang="en-US" sz="2300" dirty="0"/>
          </a:p>
        </p:txBody>
      </p:sp>
      <p:sp>
        <p:nvSpPr>
          <p:cNvPr id="13" name="Text 10"/>
          <p:cNvSpPr txBox="1"/>
          <p:nvPr/>
        </p:nvSpPr>
        <p:spPr>
          <a:xfrm>
            <a:off x="3931920" y="5120640"/>
            <a:ext cx="3017520" cy="365760"/>
          </a:xfrm>
          <a:prstGeom prst="rect">
            <a:avLst/>
          </a:prstGeom>
          <a:noFill/>
          <a:ln/>
        </p:spPr>
        <p:txBody>
          <a:bodyPr wrap="square" lIns="0" tIns="0" rIns="0" bIns="0" rtlCol="0" anchor="ctr"/>
          <a:lstStyle/>
          <a:p>
            <a:pPr indent="0" marL="0">
              <a:buNone/>
            </a:pPr>
            <a:r>
              <a:rPr lang="en-US" sz="1350" dirty="0">
                <a:solidFill>
                  <a:srgbClr val="22314D"/>
                </a:solidFill>
                <a:latin typeface="Calibri" pitchFamily="34" charset="0"/>
                <a:ea typeface="Calibri" pitchFamily="34" charset="-122"/>
                <a:cs typeface="Calibri" pitchFamily="34" charset="-120"/>
              </a:rPr>
              <a:t>the bat tried to eat here</a:t>
            </a:r>
            <a:endParaRPr lang="en-US" sz="1350" dirty="0"/>
          </a:p>
        </p:txBody>
      </p:sp>
      <p:sp>
        <p:nvSpPr>
          <p:cNvPr id="14" name="Text 11"/>
          <p:cNvSpPr txBox="1"/>
          <p:nvPr/>
        </p:nvSpPr>
        <p:spPr>
          <a:xfrm>
            <a:off x="7680960" y="4709160"/>
            <a:ext cx="3840480" cy="822960"/>
          </a:xfrm>
          <a:prstGeom prst="rect">
            <a:avLst/>
          </a:prstGeom>
          <a:noFill/>
          <a:ln/>
        </p:spPr>
        <p:txBody>
          <a:bodyPr wrap="square" lIns="0" tIns="0" rIns="0" bIns="0" rtlCol="0" anchor="ctr"/>
          <a:lstStyle/>
          <a:p>
            <a:pPr algn="r" indent="0" marL="0">
              <a:lnSpc>
                <a:spcPts val="1900"/>
              </a:lnSpc>
              <a:buNone/>
            </a:pPr>
            <a:r>
              <a:rPr lang="en-US" sz="1300" dirty="0">
                <a:solidFill>
                  <a:srgbClr val="5F718C"/>
                </a:solidFill>
                <a:latin typeface="Calibri" pitchFamily="34" charset="0"/>
                <a:ea typeface="Calibri" pitchFamily="34" charset="-122"/>
                <a:cs typeface="Calibri" pitchFamily="34" charset="-120"/>
              </a:rPr>
              <a:t>Brief · ultrasonic · recorded at 384 kHz</a:t>
            </a:r>
            <a:endParaRPr lang="en-US" sz="1300" dirty="0"/>
          </a:p>
          <a:p>
            <a:pPr algn="r" indent="0" marL="0">
              <a:lnSpc>
                <a:spcPts val="1900"/>
              </a:lnSpc>
              <a:buNone/>
            </a:pPr>
            <a:r>
              <a:rPr lang="en-US" sz="1300" dirty="0">
                <a:solidFill>
                  <a:srgbClr val="5F718C"/>
                </a:solidFill>
                <a:latin typeface="Calibri" pitchFamily="34" charset="0"/>
                <a:ea typeface="Calibri" pitchFamily="34" charset="-122"/>
                <a:cs typeface="Calibri" pitchFamily="34" charset="-120"/>
              </a:rPr>
              <a:t>Over 200 calls a second in the terminal phase.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THE SCALE PROBLEM</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Hours of audio, seconds of signal</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The workload</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640080" y="1783080"/>
            <a:ext cx="10911535" cy="457200"/>
          </a:xfrm>
          <a:prstGeom prst="rect">
            <a:avLst/>
          </a:prstGeom>
          <a:solidFill>
            <a:srgbClr val="F2F5F9"/>
          </a:solidFill>
          <a:ln w="12700">
            <a:solidFill>
              <a:srgbClr val="D5DEEA"/>
            </a:solidFill>
            <a:prstDash val="solid"/>
          </a:ln>
        </p:spPr>
      </p:sp>
      <p:sp>
        <p:nvSpPr>
          <p:cNvPr id="7" name="Shape 5"/>
          <p:cNvSpPr/>
          <p:nvPr/>
        </p:nvSpPr>
        <p:spPr>
          <a:xfrm>
            <a:off x="779971" y="1783080"/>
            <a:ext cx="10973" cy="457200"/>
          </a:xfrm>
          <a:prstGeom prst="rect">
            <a:avLst/>
          </a:prstGeom>
          <a:solidFill>
            <a:srgbClr val="D5DEEA"/>
          </a:solidFill>
          <a:ln w="12700">
            <a:solidFill>
              <a:srgbClr val="D5DEEA"/>
            </a:solidFill>
            <a:prstDash val="solid"/>
          </a:ln>
        </p:spPr>
      </p:sp>
      <p:sp>
        <p:nvSpPr>
          <p:cNvPr id="8" name="Shape 6"/>
          <p:cNvSpPr/>
          <p:nvPr/>
        </p:nvSpPr>
        <p:spPr>
          <a:xfrm>
            <a:off x="919863" y="1783080"/>
            <a:ext cx="10973" cy="457200"/>
          </a:xfrm>
          <a:prstGeom prst="rect">
            <a:avLst/>
          </a:prstGeom>
          <a:solidFill>
            <a:srgbClr val="D5DEEA"/>
          </a:solidFill>
          <a:ln w="12700">
            <a:solidFill>
              <a:srgbClr val="D5DEEA"/>
            </a:solidFill>
            <a:prstDash val="solid"/>
          </a:ln>
        </p:spPr>
      </p:sp>
      <p:sp>
        <p:nvSpPr>
          <p:cNvPr id="9" name="Shape 7"/>
          <p:cNvSpPr/>
          <p:nvPr/>
        </p:nvSpPr>
        <p:spPr>
          <a:xfrm>
            <a:off x="1059754" y="1783080"/>
            <a:ext cx="10973" cy="457200"/>
          </a:xfrm>
          <a:prstGeom prst="rect">
            <a:avLst/>
          </a:prstGeom>
          <a:solidFill>
            <a:srgbClr val="D5DEEA"/>
          </a:solidFill>
          <a:ln w="12700">
            <a:solidFill>
              <a:srgbClr val="D5DEEA"/>
            </a:solidFill>
            <a:prstDash val="solid"/>
          </a:ln>
        </p:spPr>
      </p:sp>
      <p:sp>
        <p:nvSpPr>
          <p:cNvPr id="10" name="Shape 8"/>
          <p:cNvSpPr/>
          <p:nvPr/>
        </p:nvSpPr>
        <p:spPr>
          <a:xfrm>
            <a:off x="1199646" y="1783080"/>
            <a:ext cx="10973" cy="457200"/>
          </a:xfrm>
          <a:prstGeom prst="rect">
            <a:avLst/>
          </a:prstGeom>
          <a:solidFill>
            <a:srgbClr val="D5DEEA"/>
          </a:solidFill>
          <a:ln w="12700">
            <a:solidFill>
              <a:srgbClr val="D5DEEA"/>
            </a:solidFill>
            <a:prstDash val="solid"/>
          </a:ln>
        </p:spPr>
      </p:sp>
      <p:sp>
        <p:nvSpPr>
          <p:cNvPr id="11" name="Shape 9"/>
          <p:cNvSpPr/>
          <p:nvPr/>
        </p:nvSpPr>
        <p:spPr>
          <a:xfrm>
            <a:off x="1339537" y="1783080"/>
            <a:ext cx="10973" cy="457200"/>
          </a:xfrm>
          <a:prstGeom prst="rect">
            <a:avLst/>
          </a:prstGeom>
          <a:solidFill>
            <a:srgbClr val="D5DEEA"/>
          </a:solidFill>
          <a:ln w="12700">
            <a:solidFill>
              <a:srgbClr val="D5DEEA"/>
            </a:solidFill>
            <a:prstDash val="solid"/>
          </a:ln>
        </p:spPr>
      </p:sp>
      <p:sp>
        <p:nvSpPr>
          <p:cNvPr id="12" name="Shape 10"/>
          <p:cNvSpPr/>
          <p:nvPr/>
        </p:nvSpPr>
        <p:spPr>
          <a:xfrm>
            <a:off x="1479429" y="1783080"/>
            <a:ext cx="10973" cy="457200"/>
          </a:xfrm>
          <a:prstGeom prst="rect">
            <a:avLst/>
          </a:prstGeom>
          <a:solidFill>
            <a:srgbClr val="D5DEEA"/>
          </a:solidFill>
          <a:ln w="12700">
            <a:solidFill>
              <a:srgbClr val="D5DEEA"/>
            </a:solidFill>
            <a:prstDash val="solid"/>
          </a:ln>
        </p:spPr>
      </p:sp>
      <p:sp>
        <p:nvSpPr>
          <p:cNvPr id="13" name="Shape 11"/>
          <p:cNvSpPr/>
          <p:nvPr/>
        </p:nvSpPr>
        <p:spPr>
          <a:xfrm>
            <a:off x="1619320" y="1783080"/>
            <a:ext cx="10973" cy="457200"/>
          </a:xfrm>
          <a:prstGeom prst="rect">
            <a:avLst/>
          </a:prstGeom>
          <a:solidFill>
            <a:srgbClr val="D5DEEA"/>
          </a:solidFill>
          <a:ln w="12700">
            <a:solidFill>
              <a:srgbClr val="D5DEEA"/>
            </a:solidFill>
            <a:prstDash val="solid"/>
          </a:ln>
        </p:spPr>
      </p:sp>
      <p:sp>
        <p:nvSpPr>
          <p:cNvPr id="14" name="Shape 12"/>
          <p:cNvSpPr/>
          <p:nvPr/>
        </p:nvSpPr>
        <p:spPr>
          <a:xfrm>
            <a:off x="1759212" y="1783080"/>
            <a:ext cx="10973" cy="457200"/>
          </a:xfrm>
          <a:prstGeom prst="rect">
            <a:avLst/>
          </a:prstGeom>
          <a:solidFill>
            <a:srgbClr val="D5DEEA"/>
          </a:solidFill>
          <a:ln w="12700">
            <a:solidFill>
              <a:srgbClr val="D5DEEA"/>
            </a:solidFill>
            <a:prstDash val="solid"/>
          </a:ln>
        </p:spPr>
      </p:sp>
      <p:sp>
        <p:nvSpPr>
          <p:cNvPr id="15" name="Shape 13"/>
          <p:cNvSpPr/>
          <p:nvPr/>
        </p:nvSpPr>
        <p:spPr>
          <a:xfrm>
            <a:off x="1899103" y="1783080"/>
            <a:ext cx="10973" cy="457200"/>
          </a:xfrm>
          <a:prstGeom prst="rect">
            <a:avLst/>
          </a:prstGeom>
          <a:solidFill>
            <a:srgbClr val="D5DEEA"/>
          </a:solidFill>
          <a:ln w="12700">
            <a:solidFill>
              <a:srgbClr val="D5DEEA"/>
            </a:solidFill>
            <a:prstDash val="solid"/>
          </a:ln>
        </p:spPr>
      </p:sp>
      <p:sp>
        <p:nvSpPr>
          <p:cNvPr id="16" name="Shape 14"/>
          <p:cNvSpPr/>
          <p:nvPr/>
        </p:nvSpPr>
        <p:spPr>
          <a:xfrm>
            <a:off x="2038995" y="1783080"/>
            <a:ext cx="10973" cy="457200"/>
          </a:xfrm>
          <a:prstGeom prst="rect">
            <a:avLst/>
          </a:prstGeom>
          <a:solidFill>
            <a:srgbClr val="D5DEEA"/>
          </a:solidFill>
          <a:ln w="12700">
            <a:solidFill>
              <a:srgbClr val="D5DEEA"/>
            </a:solidFill>
            <a:prstDash val="solid"/>
          </a:ln>
        </p:spPr>
      </p:sp>
      <p:sp>
        <p:nvSpPr>
          <p:cNvPr id="17" name="Shape 15"/>
          <p:cNvSpPr/>
          <p:nvPr/>
        </p:nvSpPr>
        <p:spPr>
          <a:xfrm>
            <a:off x="2178886" y="1783080"/>
            <a:ext cx="10973" cy="457200"/>
          </a:xfrm>
          <a:prstGeom prst="rect">
            <a:avLst/>
          </a:prstGeom>
          <a:solidFill>
            <a:srgbClr val="D5DEEA"/>
          </a:solidFill>
          <a:ln w="12700">
            <a:solidFill>
              <a:srgbClr val="D5DEEA"/>
            </a:solidFill>
            <a:prstDash val="solid"/>
          </a:ln>
        </p:spPr>
      </p:sp>
      <p:sp>
        <p:nvSpPr>
          <p:cNvPr id="18" name="Shape 16"/>
          <p:cNvSpPr/>
          <p:nvPr/>
        </p:nvSpPr>
        <p:spPr>
          <a:xfrm>
            <a:off x="2318778" y="1783080"/>
            <a:ext cx="10973" cy="457200"/>
          </a:xfrm>
          <a:prstGeom prst="rect">
            <a:avLst/>
          </a:prstGeom>
          <a:solidFill>
            <a:srgbClr val="D5DEEA"/>
          </a:solidFill>
          <a:ln w="12700">
            <a:solidFill>
              <a:srgbClr val="D5DEEA"/>
            </a:solidFill>
            <a:prstDash val="solid"/>
          </a:ln>
        </p:spPr>
      </p:sp>
      <p:sp>
        <p:nvSpPr>
          <p:cNvPr id="19" name="Shape 17"/>
          <p:cNvSpPr/>
          <p:nvPr/>
        </p:nvSpPr>
        <p:spPr>
          <a:xfrm>
            <a:off x="2458669" y="1783080"/>
            <a:ext cx="10973" cy="457200"/>
          </a:xfrm>
          <a:prstGeom prst="rect">
            <a:avLst/>
          </a:prstGeom>
          <a:solidFill>
            <a:srgbClr val="D5DEEA"/>
          </a:solidFill>
          <a:ln w="12700">
            <a:solidFill>
              <a:srgbClr val="D5DEEA"/>
            </a:solidFill>
            <a:prstDash val="solid"/>
          </a:ln>
        </p:spPr>
      </p:sp>
      <p:sp>
        <p:nvSpPr>
          <p:cNvPr id="20" name="Shape 18"/>
          <p:cNvSpPr/>
          <p:nvPr/>
        </p:nvSpPr>
        <p:spPr>
          <a:xfrm>
            <a:off x="2598561" y="1783080"/>
            <a:ext cx="10973" cy="457200"/>
          </a:xfrm>
          <a:prstGeom prst="rect">
            <a:avLst/>
          </a:prstGeom>
          <a:solidFill>
            <a:srgbClr val="D5DEEA"/>
          </a:solidFill>
          <a:ln w="12700">
            <a:solidFill>
              <a:srgbClr val="D5DEEA"/>
            </a:solidFill>
            <a:prstDash val="solid"/>
          </a:ln>
        </p:spPr>
      </p:sp>
      <p:sp>
        <p:nvSpPr>
          <p:cNvPr id="21" name="Shape 19"/>
          <p:cNvSpPr/>
          <p:nvPr/>
        </p:nvSpPr>
        <p:spPr>
          <a:xfrm>
            <a:off x="2738452" y="1783080"/>
            <a:ext cx="10973" cy="457200"/>
          </a:xfrm>
          <a:prstGeom prst="rect">
            <a:avLst/>
          </a:prstGeom>
          <a:solidFill>
            <a:srgbClr val="D5DEEA"/>
          </a:solidFill>
          <a:ln w="12700">
            <a:solidFill>
              <a:srgbClr val="D5DEEA"/>
            </a:solidFill>
            <a:prstDash val="solid"/>
          </a:ln>
        </p:spPr>
      </p:sp>
      <p:sp>
        <p:nvSpPr>
          <p:cNvPr id="22" name="Shape 20"/>
          <p:cNvSpPr/>
          <p:nvPr/>
        </p:nvSpPr>
        <p:spPr>
          <a:xfrm>
            <a:off x="2878344" y="1783080"/>
            <a:ext cx="10973" cy="457200"/>
          </a:xfrm>
          <a:prstGeom prst="rect">
            <a:avLst/>
          </a:prstGeom>
          <a:solidFill>
            <a:srgbClr val="D5DEEA"/>
          </a:solidFill>
          <a:ln w="12700">
            <a:solidFill>
              <a:srgbClr val="D5DEEA"/>
            </a:solidFill>
            <a:prstDash val="solid"/>
          </a:ln>
        </p:spPr>
      </p:sp>
      <p:sp>
        <p:nvSpPr>
          <p:cNvPr id="23" name="Shape 21"/>
          <p:cNvSpPr/>
          <p:nvPr/>
        </p:nvSpPr>
        <p:spPr>
          <a:xfrm>
            <a:off x="3018235" y="1783080"/>
            <a:ext cx="10973" cy="457200"/>
          </a:xfrm>
          <a:prstGeom prst="rect">
            <a:avLst/>
          </a:prstGeom>
          <a:solidFill>
            <a:srgbClr val="D5DEEA"/>
          </a:solidFill>
          <a:ln w="12700">
            <a:solidFill>
              <a:srgbClr val="D5DEEA"/>
            </a:solidFill>
            <a:prstDash val="solid"/>
          </a:ln>
        </p:spPr>
      </p:sp>
      <p:sp>
        <p:nvSpPr>
          <p:cNvPr id="24" name="Shape 22"/>
          <p:cNvSpPr/>
          <p:nvPr/>
        </p:nvSpPr>
        <p:spPr>
          <a:xfrm>
            <a:off x="3158127" y="1783080"/>
            <a:ext cx="10973" cy="457200"/>
          </a:xfrm>
          <a:prstGeom prst="rect">
            <a:avLst/>
          </a:prstGeom>
          <a:solidFill>
            <a:srgbClr val="D5DEEA"/>
          </a:solidFill>
          <a:ln w="12700">
            <a:solidFill>
              <a:srgbClr val="D5DEEA"/>
            </a:solidFill>
            <a:prstDash val="solid"/>
          </a:ln>
        </p:spPr>
      </p:sp>
      <p:sp>
        <p:nvSpPr>
          <p:cNvPr id="25" name="Shape 23"/>
          <p:cNvSpPr/>
          <p:nvPr/>
        </p:nvSpPr>
        <p:spPr>
          <a:xfrm>
            <a:off x="3298018" y="1783080"/>
            <a:ext cx="10973" cy="457200"/>
          </a:xfrm>
          <a:prstGeom prst="rect">
            <a:avLst/>
          </a:prstGeom>
          <a:solidFill>
            <a:srgbClr val="D5DEEA"/>
          </a:solidFill>
          <a:ln w="12700">
            <a:solidFill>
              <a:srgbClr val="D5DEEA"/>
            </a:solidFill>
            <a:prstDash val="solid"/>
          </a:ln>
        </p:spPr>
      </p:sp>
      <p:sp>
        <p:nvSpPr>
          <p:cNvPr id="26" name="Shape 24"/>
          <p:cNvSpPr/>
          <p:nvPr/>
        </p:nvSpPr>
        <p:spPr>
          <a:xfrm>
            <a:off x="3437910" y="1783080"/>
            <a:ext cx="10973" cy="457200"/>
          </a:xfrm>
          <a:prstGeom prst="rect">
            <a:avLst/>
          </a:prstGeom>
          <a:solidFill>
            <a:srgbClr val="D5DEEA"/>
          </a:solidFill>
          <a:ln w="12700">
            <a:solidFill>
              <a:srgbClr val="D5DEEA"/>
            </a:solidFill>
            <a:prstDash val="solid"/>
          </a:ln>
        </p:spPr>
      </p:sp>
      <p:sp>
        <p:nvSpPr>
          <p:cNvPr id="27" name="Shape 25"/>
          <p:cNvSpPr/>
          <p:nvPr/>
        </p:nvSpPr>
        <p:spPr>
          <a:xfrm>
            <a:off x="3577801" y="1783080"/>
            <a:ext cx="10973" cy="457200"/>
          </a:xfrm>
          <a:prstGeom prst="rect">
            <a:avLst/>
          </a:prstGeom>
          <a:solidFill>
            <a:srgbClr val="D5DEEA"/>
          </a:solidFill>
          <a:ln w="12700">
            <a:solidFill>
              <a:srgbClr val="D5DEEA"/>
            </a:solidFill>
            <a:prstDash val="solid"/>
          </a:ln>
        </p:spPr>
      </p:sp>
      <p:sp>
        <p:nvSpPr>
          <p:cNvPr id="28" name="Shape 26"/>
          <p:cNvSpPr/>
          <p:nvPr/>
        </p:nvSpPr>
        <p:spPr>
          <a:xfrm>
            <a:off x="3717692" y="1783080"/>
            <a:ext cx="10973" cy="457200"/>
          </a:xfrm>
          <a:prstGeom prst="rect">
            <a:avLst/>
          </a:prstGeom>
          <a:solidFill>
            <a:srgbClr val="D5DEEA"/>
          </a:solidFill>
          <a:ln w="12700">
            <a:solidFill>
              <a:srgbClr val="D5DEEA"/>
            </a:solidFill>
            <a:prstDash val="solid"/>
          </a:ln>
        </p:spPr>
      </p:sp>
      <p:sp>
        <p:nvSpPr>
          <p:cNvPr id="29" name="Shape 27"/>
          <p:cNvSpPr/>
          <p:nvPr/>
        </p:nvSpPr>
        <p:spPr>
          <a:xfrm>
            <a:off x="3857584" y="1783080"/>
            <a:ext cx="10973" cy="457200"/>
          </a:xfrm>
          <a:prstGeom prst="rect">
            <a:avLst/>
          </a:prstGeom>
          <a:solidFill>
            <a:srgbClr val="D5DEEA"/>
          </a:solidFill>
          <a:ln w="12700">
            <a:solidFill>
              <a:srgbClr val="D5DEEA"/>
            </a:solidFill>
            <a:prstDash val="solid"/>
          </a:ln>
        </p:spPr>
      </p:sp>
      <p:sp>
        <p:nvSpPr>
          <p:cNvPr id="30" name="Shape 28"/>
          <p:cNvSpPr/>
          <p:nvPr/>
        </p:nvSpPr>
        <p:spPr>
          <a:xfrm>
            <a:off x="3997475" y="1783080"/>
            <a:ext cx="10973" cy="457200"/>
          </a:xfrm>
          <a:prstGeom prst="rect">
            <a:avLst/>
          </a:prstGeom>
          <a:solidFill>
            <a:srgbClr val="D5DEEA"/>
          </a:solidFill>
          <a:ln w="12700">
            <a:solidFill>
              <a:srgbClr val="D5DEEA"/>
            </a:solidFill>
            <a:prstDash val="solid"/>
          </a:ln>
        </p:spPr>
      </p:sp>
      <p:sp>
        <p:nvSpPr>
          <p:cNvPr id="31" name="Shape 29"/>
          <p:cNvSpPr/>
          <p:nvPr/>
        </p:nvSpPr>
        <p:spPr>
          <a:xfrm>
            <a:off x="4137367" y="1783080"/>
            <a:ext cx="10973" cy="457200"/>
          </a:xfrm>
          <a:prstGeom prst="rect">
            <a:avLst/>
          </a:prstGeom>
          <a:solidFill>
            <a:srgbClr val="D5DEEA"/>
          </a:solidFill>
          <a:ln w="12700">
            <a:solidFill>
              <a:srgbClr val="D5DEEA"/>
            </a:solidFill>
            <a:prstDash val="solid"/>
          </a:ln>
        </p:spPr>
      </p:sp>
      <p:sp>
        <p:nvSpPr>
          <p:cNvPr id="32" name="Shape 30"/>
          <p:cNvSpPr/>
          <p:nvPr/>
        </p:nvSpPr>
        <p:spPr>
          <a:xfrm>
            <a:off x="4277258" y="1783080"/>
            <a:ext cx="10973" cy="457200"/>
          </a:xfrm>
          <a:prstGeom prst="rect">
            <a:avLst/>
          </a:prstGeom>
          <a:solidFill>
            <a:srgbClr val="D5DEEA"/>
          </a:solidFill>
          <a:ln w="12700">
            <a:solidFill>
              <a:srgbClr val="D5DEEA"/>
            </a:solidFill>
            <a:prstDash val="solid"/>
          </a:ln>
        </p:spPr>
      </p:sp>
      <p:sp>
        <p:nvSpPr>
          <p:cNvPr id="33" name="Shape 31"/>
          <p:cNvSpPr/>
          <p:nvPr/>
        </p:nvSpPr>
        <p:spPr>
          <a:xfrm>
            <a:off x="4417150" y="1783080"/>
            <a:ext cx="10973" cy="457200"/>
          </a:xfrm>
          <a:prstGeom prst="rect">
            <a:avLst/>
          </a:prstGeom>
          <a:solidFill>
            <a:srgbClr val="D5DEEA"/>
          </a:solidFill>
          <a:ln w="12700">
            <a:solidFill>
              <a:srgbClr val="D5DEEA"/>
            </a:solidFill>
            <a:prstDash val="solid"/>
          </a:ln>
        </p:spPr>
      </p:sp>
      <p:sp>
        <p:nvSpPr>
          <p:cNvPr id="34" name="Shape 32"/>
          <p:cNvSpPr/>
          <p:nvPr/>
        </p:nvSpPr>
        <p:spPr>
          <a:xfrm>
            <a:off x="4557041" y="1783080"/>
            <a:ext cx="10973" cy="457200"/>
          </a:xfrm>
          <a:prstGeom prst="rect">
            <a:avLst/>
          </a:prstGeom>
          <a:solidFill>
            <a:srgbClr val="D5DEEA"/>
          </a:solidFill>
          <a:ln w="12700">
            <a:solidFill>
              <a:srgbClr val="D5DEEA"/>
            </a:solidFill>
            <a:prstDash val="solid"/>
          </a:ln>
        </p:spPr>
      </p:sp>
      <p:sp>
        <p:nvSpPr>
          <p:cNvPr id="35" name="Shape 33"/>
          <p:cNvSpPr/>
          <p:nvPr/>
        </p:nvSpPr>
        <p:spPr>
          <a:xfrm>
            <a:off x="4696933" y="1783080"/>
            <a:ext cx="10973" cy="457200"/>
          </a:xfrm>
          <a:prstGeom prst="rect">
            <a:avLst/>
          </a:prstGeom>
          <a:solidFill>
            <a:srgbClr val="D5DEEA"/>
          </a:solidFill>
          <a:ln w="12700">
            <a:solidFill>
              <a:srgbClr val="D5DEEA"/>
            </a:solidFill>
            <a:prstDash val="solid"/>
          </a:ln>
        </p:spPr>
      </p:sp>
      <p:sp>
        <p:nvSpPr>
          <p:cNvPr id="36" name="Shape 34"/>
          <p:cNvSpPr/>
          <p:nvPr/>
        </p:nvSpPr>
        <p:spPr>
          <a:xfrm>
            <a:off x="4836824" y="1783080"/>
            <a:ext cx="10973" cy="457200"/>
          </a:xfrm>
          <a:prstGeom prst="rect">
            <a:avLst/>
          </a:prstGeom>
          <a:solidFill>
            <a:srgbClr val="D5DEEA"/>
          </a:solidFill>
          <a:ln w="12700">
            <a:solidFill>
              <a:srgbClr val="D5DEEA"/>
            </a:solidFill>
            <a:prstDash val="solid"/>
          </a:ln>
        </p:spPr>
      </p:sp>
      <p:sp>
        <p:nvSpPr>
          <p:cNvPr id="37" name="Shape 35"/>
          <p:cNvSpPr/>
          <p:nvPr/>
        </p:nvSpPr>
        <p:spPr>
          <a:xfrm>
            <a:off x="4976716" y="1783080"/>
            <a:ext cx="10973" cy="457200"/>
          </a:xfrm>
          <a:prstGeom prst="rect">
            <a:avLst/>
          </a:prstGeom>
          <a:solidFill>
            <a:srgbClr val="D5DEEA"/>
          </a:solidFill>
          <a:ln w="12700">
            <a:solidFill>
              <a:srgbClr val="D5DEEA"/>
            </a:solidFill>
            <a:prstDash val="solid"/>
          </a:ln>
        </p:spPr>
      </p:sp>
      <p:sp>
        <p:nvSpPr>
          <p:cNvPr id="38" name="Shape 36"/>
          <p:cNvSpPr/>
          <p:nvPr/>
        </p:nvSpPr>
        <p:spPr>
          <a:xfrm>
            <a:off x="5116607" y="1783080"/>
            <a:ext cx="10973" cy="457200"/>
          </a:xfrm>
          <a:prstGeom prst="rect">
            <a:avLst/>
          </a:prstGeom>
          <a:solidFill>
            <a:srgbClr val="D5DEEA"/>
          </a:solidFill>
          <a:ln w="12700">
            <a:solidFill>
              <a:srgbClr val="D5DEEA"/>
            </a:solidFill>
            <a:prstDash val="solid"/>
          </a:ln>
        </p:spPr>
      </p:sp>
      <p:sp>
        <p:nvSpPr>
          <p:cNvPr id="39" name="Shape 37"/>
          <p:cNvSpPr/>
          <p:nvPr/>
        </p:nvSpPr>
        <p:spPr>
          <a:xfrm>
            <a:off x="5256499" y="1783080"/>
            <a:ext cx="10973" cy="457200"/>
          </a:xfrm>
          <a:prstGeom prst="rect">
            <a:avLst/>
          </a:prstGeom>
          <a:solidFill>
            <a:srgbClr val="D5DEEA"/>
          </a:solidFill>
          <a:ln w="12700">
            <a:solidFill>
              <a:srgbClr val="D5DEEA"/>
            </a:solidFill>
            <a:prstDash val="solid"/>
          </a:ln>
        </p:spPr>
      </p:sp>
      <p:sp>
        <p:nvSpPr>
          <p:cNvPr id="40" name="Shape 38"/>
          <p:cNvSpPr/>
          <p:nvPr/>
        </p:nvSpPr>
        <p:spPr>
          <a:xfrm>
            <a:off x="5396390" y="1783080"/>
            <a:ext cx="10973" cy="457200"/>
          </a:xfrm>
          <a:prstGeom prst="rect">
            <a:avLst/>
          </a:prstGeom>
          <a:solidFill>
            <a:srgbClr val="D5DEEA"/>
          </a:solidFill>
          <a:ln w="12700">
            <a:solidFill>
              <a:srgbClr val="D5DEEA"/>
            </a:solidFill>
            <a:prstDash val="solid"/>
          </a:ln>
        </p:spPr>
      </p:sp>
      <p:sp>
        <p:nvSpPr>
          <p:cNvPr id="41" name="Shape 39"/>
          <p:cNvSpPr/>
          <p:nvPr/>
        </p:nvSpPr>
        <p:spPr>
          <a:xfrm>
            <a:off x="5536282" y="1783080"/>
            <a:ext cx="10973" cy="457200"/>
          </a:xfrm>
          <a:prstGeom prst="rect">
            <a:avLst/>
          </a:prstGeom>
          <a:solidFill>
            <a:srgbClr val="D5DEEA"/>
          </a:solidFill>
          <a:ln w="12700">
            <a:solidFill>
              <a:srgbClr val="D5DEEA"/>
            </a:solidFill>
            <a:prstDash val="solid"/>
          </a:ln>
        </p:spPr>
      </p:sp>
      <p:sp>
        <p:nvSpPr>
          <p:cNvPr id="42" name="Shape 40"/>
          <p:cNvSpPr/>
          <p:nvPr/>
        </p:nvSpPr>
        <p:spPr>
          <a:xfrm>
            <a:off x="5676173" y="1783080"/>
            <a:ext cx="10973" cy="457200"/>
          </a:xfrm>
          <a:prstGeom prst="rect">
            <a:avLst/>
          </a:prstGeom>
          <a:solidFill>
            <a:srgbClr val="D5DEEA"/>
          </a:solidFill>
          <a:ln w="12700">
            <a:solidFill>
              <a:srgbClr val="D5DEEA"/>
            </a:solidFill>
            <a:prstDash val="solid"/>
          </a:ln>
        </p:spPr>
      </p:sp>
      <p:sp>
        <p:nvSpPr>
          <p:cNvPr id="43" name="Shape 41"/>
          <p:cNvSpPr/>
          <p:nvPr/>
        </p:nvSpPr>
        <p:spPr>
          <a:xfrm>
            <a:off x="5816065" y="1783080"/>
            <a:ext cx="10973" cy="457200"/>
          </a:xfrm>
          <a:prstGeom prst="rect">
            <a:avLst/>
          </a:prstGeom>
          <a:solidFill>
            <a:srgbClr val="D5DEEA"/>
          </a:solidFill>
          <a:ln w="12700">
            <a:solidFill>
              <a:srgbClr val="D5DEEA"/>
            </a:solidFill>
            <a:prstDash val="solid"/>
          </a:ln>
        </p:spPr>
      </p:sp>
      <p:sp>
        <p:nvSpPr>
          <p:cNvPr id="44" name="Shape 42"/>
          <p:cNvSpPr/>
          <p:nvPr/>
        </p:nvSpPr>
        <p:spPr>
          <a:xfrm>
            <a:off x="5955956" y="1783080"/>
            <a:ext cx="10973" cy="457200"/>
          </a:xfrm>
          <a:prstGeom prst="rect">
            <a:avLst/>
          </a:prstGeom>
          <a:solidFill>
            <a:srgbClr val="D5DEEA"/>
          </a:solidFill>
          <a:ln w="12700">
            <a:solidFill>
              <a:srgbClr val="D5DEEA"/>
            </a:solidFill>
            <a:prstDash val="solid"/>
          </a:ln>
        </p:spPr>
      </p:sp>
      <p:sp>
        <p:nvSpPr>
          <p:cNvPr id="45" name="Shape 43"/>
          <p:cNvSpPr/>
          <p:nvPr/>
        </p:nvSpPr>
        <p:spPr>
          <a:xfrm>
            <a:off x="6095848" y="1783080"/>
            <a:ext cx="10973" cy="457200"/>
          </a:xfrm>
          <a:prstGeom prst="rect">
            <a:avLst/>
          </a:prstGeom>
          <a:solidFill>
            <a:srgbClr val="D5DEEA"/>
          </a:solidFill>
          <a:ln w="12700">
            <a:solidFill>
              <a:srgbClr val="D5DEEA"/>
            </a:solidFill>
            <a:prstDash val="solid"/>
          </a:ln>
        </p:spPr>
      </p:sp>
      <p:sp>
        <p:nvSpPr>
          <p:cNvPr id="46" name="Shape 44"/>
          <p:cNvSpPr/>
          <p:nvPr/>
        </p:nvSpPr>
        <p:spPr>
          <a:xfrm>
            <a:off x="6235739" y="1783080"/>
            <a:ext cx="10973" cy="457200"/>
          </a:xfrm>
          <a:prstGeom prst="rect">
            <a:avLst/>
          </a:prstGeom>
          <a:solidFill>
            <a:srgbClr val="D5DEEA"/>
          </a:solidFill>
          <a:ln w="12700">
            <a:solidFill>
              <a:srgbClr val="D5DEEA"/>
            </a:solidFill>
            <a:prstDash val="solid"/>
          </a:ln>
        </p:spPr>
      </p:sp>
      <p:sp>
        <p:nvSpPr>
          <p:cNvPr id="47" name="Shape 45"/>
          <p:cNvSpPr/>
          <p:nvPr/>
        </p:nvSpPr>
        <p:spPr>
          <a:xfrm>
            <a:off x="6375631" y="1783080"/>
            <a:ext cx="10973" cy="457200"/>
          </a:xfrm>
          <a:prstGeom prst="rect">
            <a:avLst/>
          </a:prstGeom>
          <a:solidFill>
            <a:srgbClr val="D5DEEA"/>
          </a:solidFill>
          <a:ln w="12700">
            <a:solidFill>
              <a:srgbClr val="D5DEEA"/>
            </a:solidFill>
            <a:prstDash val="solid"/>
          </a:ln>
        </p:spPr>
      </p:sp>
      <p:sp>
        <p:nvSpPr>
          <p:cNvPr id="48" name="Shape 46"/>
          <p:cNvSpPr/>
          <p:nvPr/>
        </p:nvSpPr>
        <p:spPr>
          <a:xfrm>
            <a:off x="6515522" y="1783080"/>
            <a:ext cx="10973" cy="457200"/>
          </a:xfrm>
          <a:prstGeom prst="rect">
            <a:avLst/>
          </a:prstGeom>
          <a:solidFill>
            <a:srgbClr val="D5DEEA"/>
          </a:solidFill>
          <a:ln w="12700">
            <a:solidFill>
              <a:srgbClr val="D5DEEA"/>
            </a:solidFill>
            <a:prstDash val="solid"/>
          </a:ln>
        </p:spPr>
      </p:sp>
      <p:sp>
        <p:nvSpPr>
          <p:cNvPr id="49" name="Shape 47"/>
          <p:cNvSpPr/>
          <p:nvPr/>
        </p:nvSpPr>
        <p:spPr>
          <a:xfrm>
            <a:off x="6655414" y="1783080"/>
            <a:ext cx="10973" cy="457200"/>
          </a:xfrm>
          <a:prstGeom prst="rect">
            <a:avLst/>
          </a:prstGeom>
          <a:solidFill>
            <a:srgbClr val="D5DEEA"/>
          </a:solidFill>
          <a:ln w="12700">
            <a:solidFill>
              <a:srgbClr val="D5DEEA"/>
            </a:solidFill>
            <a:prstDash val="solid"/>
          </a:ln>
        </p:spPr>
      </p:sp>
      <p:sp>
        <p:nvSpPr>
          <p:cNvPr id="50" name="Shape 48"/>
          <p:cNvSpPr/>
          <p:nvPr/>
        </p:nvSpPr>
        <p:spPr>
          <a:xfrm>
            <a:off x="6795305" y="1783080"/>
            <a:ext cx="10973" cy="457200"/>
          </a:xfrm>
          <a:prstGeom prst="rect">
            <a:avLst/>
          </a:prstGeom>
          <a:solidFill>
            <a:srgbClr val="D5DEEA"/>
          </a:solidFill>
          <a:ln w="12700">
            <a:solidFill>
              <a:srgbClr val="D5DEEA"/>
            </a:solidFill>
            <a:prstDash val="solid"/>
          </a:ln>
        </p:spPr>
      </p:sp>
      <p:sp>
        <p:nvSpPr>
          <p:cNvPr id="51" name="Shape 49"/>
          <p:cNvSpPr/>
          <p:nvPr/>
        </p:nvSpPr>
        <p:spPr>
          <a:xfrm>
            <a:off x="6935196" y="1783080"/>
            <a:ext cx="10973" cy="457200"/>
          </a:xfrm>
          <a:prstGeom prst="rect">
            <a:avLst/>
          </a:prstGeom>
          <a:solidFill>
            <a:srgbClr val="D5DEEA"/>
          </a:solidFill>
          <a:ln w="12700">
            <a:solidFill>
              <a:srgbClr val="D5DEEA"/>
            </a:solidFill>
            <a:prstDash val="solid"/>
          </a:ln>
        </p:spPr>
      </p:sp>
      <p:sp>
        <p:nvSpPr>
          <p:cNvPr id="52" name="Shape 50"/>
          <p:cNvSpPr/>
          <p:nvPr/>
        </p:nvSpPr>
        <p:spPr>
          <a:xfrm>
            <a:off x="7075088" y="1783080"/>
            <a:ext cx="10973" cy="457200"/>
          </a:xfrm>
          <a:prstGeom prst="rect">
            <a:avLst/>
          </a:prstGeom>
          <a:solidFill>
            <a:srgbClr val="D5DEEA"/>
          </a:solidFill>
          <a:ln w="12700">
            <a:solidFill>
              <a:srgbClr val="D5DEEA"/>
            </a:solidFill>
            <a:prstDash val="solid"/>
          </a:ln>
        </p:spPr>
      </p:sp>
      <p:sp>
        <p:nvSpPr>
          <p:cNvPr id="53" name="Shape 51"/>
          <p:cNvSpPr/>
          <p:nvPr/>
        </p:nvSpPr>
        <p:spPr>
          <a:xfrm>
            <a:off x="7214979" y="1783080"/>
            <a:ext cx="10973" cy="457200"/>
          </a:xfrm>
          <a:prstGeom prst="rect">
            <a:avLst/>
          </a:prstGeom>
          <a:solidFill>
            <a:srgbClr val="D5DEEA"/>
          </a:solidFill>
          <a:ln w="12700">
            <a:solidFill>
              <a:srgbClr val="D5DEEA"/>
            </a:solidFill>
            <a:prstDash val="solid"/>
          </a:ln>
        </p:spPr>
      </p:sp>
      <p:sp>
        <p:nvSpPr>
          <p:cNvPr id="54" name="Shape 52"/>
          <p:cNvSpPr/>
          <p:nvPr/>
        </p:nvSpPr>
        <p:spPr>
          <a:xfrm>
            <a:off x="7354871" y="1783080"/>
            <a:ext cx="10973" cy="457200"/>
          </a:xfrm>
          <a:prstGeom prst="rect">
            <a:avLst/>
          </a:prstGeom>
          <a:solidFill>
            <a:srgbClr val="D5DEEA"/>
          </a:solidFill>
          <a:ln w="12700">
            <a:solidFill>
              <a:srgbClr val="D5DEEA"/>
            </a:solidFill>
            <a:prstDash val="solid"/>
          </a:ln>
        </p:spPr>
      </p:sp>
      <p:sp>
        <p:nvSpPr>
          <p:cNvPr id="55" name="Shape 53"/>
          <p:cNvSpPr/>
          <p:nvPr/>
        </p:nvSpPr>
        <p:spPr>
          <a:xfrm>
            <a:off x="7494762" y="1783080"/>
            <a:ext cx="10973" cy="457200"/>
          </a:xfrm>
          <a:prstGeom prst="rect">
            <a:avLst/>
          </a:prstGeom>
          <a:solidFill>
            <a:srgbClr val="D5DEEA"/>
          </a:solidFill>
          <a:ln w="12700">
            <a:solidFill>
              <a:srgbClr val="D5DEEA"/>
            </a:solidFill>
            <a:prstDash val="solid"/>
          </a:ln>
        </p:spPr>
      </p:sp>
      <p:sp>
        <p:nvSpPr>
          <p:cNvPr id="56" name="Shape 54"/>
          <p:cNvSpPr/>
          <p:nvPr/>
        </p:nvSpPr>
        <p:spPr>
          <a:xfrm>
            <a:off x="7634654" y="1783080"/>
            <a:ext cx="10973" cy="457200"/>
          </a:xfrm>
          <a:prstGeom prst="rect">
            <a:avLst/>
          </a:prstGeom>
          <a:solidFill>
            <a:srgbClr val="D5DEEA"/>
          </a:solidFill>
          <a:ln w="12700">
            <a:solidFill>
              <a:srgbClr val="D5DEEA"/>
            </a:solidFill>
            <a:prstDash val="solid"/>
          </a:ln>
        </p:spPr>
      </p:sp>
      <p:sp>
        <p:nvSpPr>
          <p:cNvPr id="57" name="Shape 55"/>
          <p:cNvSpPr/>
          <p:nvPr/>
        </p:nvSpPr>
        <p:spPr>
          <a:xfrm>
            <a:off x="7774545" y="1783080"/>
            <a:ext cx="10973" cy="457200"/>
          </a:xfrm>
          <a:prstGeom prst="rect">
            <a:avLst/>
          </a:prstGeom>
          <a:solidFill>
            <a:srgbClr val="D5DEEA"/>
          </a:solidFill>
          <a:ln w="12700">
            <a:solidFill>
              <a:srgbClr val="D5DEEA"/>
            </a:solidFill>
            <a:prstDash val="solid"/>
          </a:ln>
        </p:spPr>
      </p:sp>
      <p:sp>
        <p:nvSpPr>
          <p:cNvPr id="58" name="Shape 56"/>
          <p:cNvSpPr/>
          <p:nvPr/>
        </p:nvSpPr>
        <p:spPr>
          <a:xfrm>
            <a:off x="7914437" y="1783080"/>
            <a:ext cx="10973" cy="457200"/>
          </a:xfrm>
          <a:prstGeom prst="rect">
            <a:avLst/>
          </a:prstGeom>
          <a:solidFill>
            <a:srgbClr val="D5DEEA"/>
          </a:solidFill>
          <a:ln w="12700">
            <a:solidFill>
              <a:srgbClr val="D5DEEA"/>
            </a:solidFill>
            <a:prstDash val="solid"/>
          </a:ln>
        </p:spPr>
      </p:sp>
      <p:sp>
        <p:nvSpPr>
          <p:cNvPr id="59" name="Shape 57"/>
          <p:cNvSpPr/>
          <p:nvPr/>
        </p:nvSpPr>
        <p:spPr>
          <a:xfrm>
            <a:off x="8054328" y="1783080"/>
            <a:ext cx="10973" cy="457200"/>
          </a:xfrm>
          <a:prstGeom prst="rect">
            <a:avLst/>
          </a:prstGeom>
          <a:solidFill>
            <a:srgbClr val="D5DEEA"/>
          </a:solidFill>
          <a:ln w="12700">
            <a:solidFill>
              <a:srgbClr val="D5DEEA"/>
            </a:solidFill>
            <a:prstDash val="solid"/>
          </a:ln>
        </p:spPr>
      </p:sp>
      <p:sp>
        <p:nvSpPr>
          <p:cNvPr id="60" name="Shape 58"/>
          <p:cNvSpPr/>
          <p:nvPr/>
        </p:nvSpPr>
        <p:spPr>
          <a:xfrm>
            <a:off x="8194220" y="1783080"/>
            <a:ext cx="10973" cy="457200"/>
          </a:xfrm>
          <a:prstGeom prst="rect">
            <a:avLst/>
          </a:prstGeom>
          <a:solidFill>
            <a:srgbClr val="D5DEEA"/>
          </a:solidFill>
          <a:ln w="12700">
            <a:solidFill>
              <a:srgbClr val="D5DEEA"/>
            </a:solidFill>
            <a:prstDash val="solid"/>
          </a:ln>
        </p:spPr>
      </p:sp>
      <p:sp>
        <p:nvSpPr>
          <p:cNvPr id="61" name="Shape 59"/>
          <p:cNvSpPr/>
          <p:nvPr/>
        </p:nvSpPr>
        <p:spPr>
          <a:xfrm>
            <a:off x="8334111" y="1783080"/>
            <a:ext cx="10973" cy="457200"/>
          </a:xfrm>
          <a:prstGeom prst="rect">
            <a:avLst/>
          </a:prstGeom>
          <a:solidFill>
            <a:srgbClr val="D5DEEA"/>
          </a:solidFill>
          <a:ln w="12700">
            <a:solidFill>
              <a:srgbClr val="D5DEEA"/>
            </a:solidFill>
            <a:prstDash val="solid"/>
          </a:ln>
        </p:spPr>
      </p:sp>
      <p:sp>
        <p:nvSpPr>
          <p:cNvPr id="62" name="Shape 60"/>
          <p:cNvSpPr/>
          <p:nvPr/>
        </p:nvSpPr>
        <p:spPr>
          <a:xfrm>
            <a:off x="8474003" y="1783080"/>
            <a:ext cx="10973" cy="457200"/>
          </a:xfrm>
          <a:prstGeom prst="rect">
            <a:avLst/>
          </a:prstGeom>
          <a:solidFill>
            <a:srgbClr val="D5DEEA"/>
          </a:solidFill>
          <a:ln w="12700">
            <a:solidFill>
              <a:srgbClr val="D5DEEA"/>
            </a:solidFill>
            <a:prstDash val="solid"/>
          </a:ln>
        </p:spPr>
      </p:sp>
      <p:sp>
        <p:nvSpPr>
          <p:cNvPr id="63" name="Shape 61"/>
          <p:cNvSpPr/>
          <p:nvPr/>
        </p:nvSpPr>
        <p:spPr>
          <a:xfrm>
            <a:off x="8613894" y="1783080"/>
            <a:ext cx="10973" cy="457200"/>
          </a:xfrm>
          <a:prstGeom prst="rect">
            <a:avLst/>
          </a:prstGeom>
          <a:solidFill>
            <a:srgbClr val="D5DEEA"/>
          </a:solidFill>
          <a:ln w="12700">
            <a:solidFill>
              <a:srgbClr val="D5DEEA"/>
            </a:solidFill>
            <a:prstDash val="solid"/>
          </a:ln>
        </p:spPr>
      </p:sp>
      <p:sp>
        <p:nvSpPr>
          <p:cNvPr id="64" name="Shape 62"/>
          <p:cNvSpPr/>
          <p:nvPr/>
        </p:nvSpPr>
        <p:spPr>
          <a:xfrm>
            <a:off x="8753786" y="1783080"/>
            <a:ext cx="10973" cy="457200"/>
          </a:xfrm>
          <a:prstGeom prst="rect">
            <a:avLst/>
          </a:prstGeom>
          <a:solidFill>
            <a:srgbClr val="D5DEEA"/>
          </a:solidFill>
          <a:ln w="12700">
            <a:solidFill>
              <a:srgbClr val="D5DEEA"/>
            </a:solidFill>
            <a:prstDash val="solid"/>
          </a:ln>
        </p:spPr>
      </p:sp>
      <p:sp>
        <p:nvSpPr>
          <p:cNvPr id="65" name="Shape 63"/>
          <p:cNvSpPr/>
          <p:nvPr/>
        </p:nvSpPr>
        <p:spPr>
          <a:xfrm>
            <a:off x="8893677" y="1783080"/>
            <a:ext cx="10973" cy="457200"/>
          </a:xfrm>
          <a:prstGeom prst="rect">
            <a:avLst/>
          </a:prstGeom>
          <a:solidFill>
            <a:srgbClr val="D5DEEA"/>
          </a:solidFill>
          <a:ln w="12700">
            <a:solidFill>
              <a:srgbClr val="D5DEEA"/>
            </a:solidFill>
            <a:prstDash val="solid"/>
          </a:ln>
        </p:spPr>
      </p:sp>
      <p:sp>
        <p:nvSpPr>
          <p:cNvPr id="66" name="Shape 64"/>
          <p:cNvSpPr/>
          <p:nvPr/>
        </p:nvSpPr>
        <p:spPr>
          <a:xfrm>
            <a:off x="9033569" y="1783080"/>
            <a:ext cx="10973" cy="457200"/>
          </a:xfrm>
          <a:prstGeom prst="rect">
            <a:avLst/>
          </a:prstGeom>
          <a:solidFill>
            <a:srgbClr val="D5DEEA"/>
          </a:solidFill>
          <a:ln w="12700">
            <a:solidFill>
              <a:srgbClr val="D5DEEA"/>
            </a:solidFill>
            <a:prstDash val="solid"/>
          </a:ln>
        </p:spPr>
      </p:sp>
      <p:sp>
        <p:nvSpPr>
          <p:cNvPr id="67" name="Shape 65"/>
          <p:cNvSpPr/>
          <p:nvPr/>
        </p:nvSpPr>
        <p:spPr>
          <a:xfrm>
            <a:off x="9173460" y="1783080"/>
            <a:ext cx="10973" cy="457200"/>
          </a:xfrm>
          <a:prstGeom prst="rect">
            <a:avLst/>
          </a:prstGeom>
          <a:solidFill>
            <a:srgbClr val="D5DEEA"/>
          </a:solidFill>
          <a:ln w="12700">
            <a:solidFill>
              <a:srgbClr val="D5DEEA"/>
            </a:solidFill>
            <a:prstDash val="solid"/>
          </a:ln>
        </p:spPr>
      </p:sp>
      <p:sp>
        <p:nvSpPr>
          <p:cNvPr id="68" name="Shape 66"/>
          <p:cNvSpPr/>
          <p:nvPr/>
        </p:nvSpPr>
        <p:spPr>
          <a:xfrm>
            <a:off x="9313352" y="1783080"/>
            <a:ext cx="10973" cy="457200"/>
          </a:xfrm>
          <a:prstGeom prst="rect">
            <a:avLst/>
          </a:prstGeom>
          <a:solidFill>
            <a:srgbClr val="D5DEEA"/>
          </a:solidFill>
          <a:ln w="12700">
            <a:solidFill>
              <a:srgbClr val="D5DEEA"/>
            </a:solidFill>
            <a:prstDash val="solid"/>
          </a:ln>
        </p:spPr>
      </p:sp>
      <p:sp>
        <p:nvSpPr>
          <p:cNvPr id="69" name="Shape 67"/>
          <p:cNvSpPr/>
          <p:nvPr/>
        </p:nvSpPr>
        <p:spPr>
          <a:xfrm>
            <a:off x="9453243" y="1783080"/>
            <a:ext cx="10973" cy="457200"/>
          </a:xfrm>
          <a:prstGeom prst="rect">
            <a:avLst/>
          </a:prstGeom>
          <a:solidFill>
            <a:srgbClr val="D5DEEA"/>
          </a:solidFill>
          <a:ln w="12700">
            <a:solidFill>
              <a:srgbClr val="D5DEEA"/>
            </a:solidFill>
            <a:prstDash val="solid"/>
          </a:ln>
        </p:spPr>
      </p:sp>
      <p:sp>
        <p:nvSpPr>
          <p:cNvPr id="70" name="Shape 68"/>
          <p:cNvSpPr/>
          <p:nvPr/>
        </p:nvSpPr>
        <p:spPr>
          <a:xfrm>
            <a:off x="9593135" y="1783080"/>
            <a:ext cx="10973" cy="457200"/>
          </a:xfrm>
          <a:prstGeom prst="rect">
            <a:avLst/>
          </a:prstGeom>
          <a:solidFill>
            <a:srgbClr val="D5DEEA"/>
          </a:solidFill>
          <a:ln w="12700">
            <a:solidFill>
              <a:srgbClr val="D5DEEA"/>
            </a:solidFill>
            <a:prstDash val="solid"/>
          </a:ln>
        </p:spPr>
      </p:sp>
      <p:sp>
        <p:nvSpPr>
          <p:cNvPr id="71" name="Shape 69"/>
          <p:cNvSpPr/>
          <p:nvPr/>
        </p:nvSpPr>
        <p:spPr>
          <a:xfrm>
            <a:off x="9733026" y="1783080"/>
            <a:ext cx="10973" cy="457200"/>
          </a:xfrm>
          <a:prstGeom prst="rect">
            <a:avLst/>
          </a:prstGeom>
          <a:solidFill>
            <a:srgbClr val="D5DEEA"/>
          </a:solidFill>
          <a:ln w="12700">
            <a:solidFill>
              <a:srgbClr val="D5DEEA"/>
            </a:solidFill>
            <a:prstDash val="solid"/>
          </a:ln>
        </p:spPr>
      </p:sp>
      <p:sp>
        <p:nvSpPr>
          <p:cNvPr id="72" name="Shape 70"/>
          <p:cNvSpPr/>
          <p:nvPr/>
        </p:nvSpPr>
        <p:spPr>
          <a:xfrm>
            <a:off x="9872917" y="1783080"/>
            <a:ext cx="10973" cy="457200"/>
          </a:xfrm>
          <a:prstGeom prst="rect">
            <a:avLst/>
          </a:prstGeom>
          <a:solidFill>
            <a:srgbClr val="D5DEEA"/>
          </a:solidFill>
          <a:ln w="12700">
            <a:solidFill>
              <a:srgbClr val="D5DEEA"/>
            </a:solidFill>
            <a:prstDash val="solid"/>
          </a:ln>
        </p:spPr>
      </p:sp>
      <p:sp>
        <p:nvSpPr>
          <p:cNvPr id="73" name="Shape 71"/>
          <p:cNvSpPr/>
          <p:nvPr/>
        </p:nvSpPr>
        <p:spPr>
          <a:xfrm>
            <a:off x="10012809" y="1783080"/>
            <a:ext cx="10973" cy="457200"/>
          </a:xfrm>
          <a:prstGeom prst="rect">
            <a:avLst/>
          </a:prstGeom>
          <a:solidFill>
            <a:srgbClr val="D5DEEA"/>
          </a:solidFill>
          <a:ln w="12700">
            <a:solidFill>
              <a:srgbClr val="D5DEEA"/>
            </a:solidFill>
            <a:prstDash val="solid"/>
          </a:ln>
        </p:spPr>
      </p:sp>
      <p:sp>
        <p:nvSpPr>
          <p:cNvPr id="74" name="Shape 72"/>
          <p:cNvSpPr/>
          <p:nvPr/>
        </p:nvSpPr>
        <p:spPr>
          <a:xfrm>
            <a:off x="10152700" y="1783080"/>
            <a:ext cx="10973" cy="457200"/>
          </a:xfrm>
          <a:prstGeom prst="rect">
            <a:avLst/>
          </a:prstGeom>
          <a:solidFill>
            <a:srgbClr val="D5DEEA"/>
          </a:solidFill>
          <a:ln w="12700">
            <a:solidFill>
              <a:srgbClr val="D5DEEA"/>
            </a:solidFill>
            <a:prstDash val="solid"/>
          </a:ln>
        </p:spPr>
      </p:sp>
      <p:sp>
        <p:nvSpPr>
          <p:cNvPr id="75" name="Shape 73"/>
          <p:cNvSpPr/>
          <p:nvPr/>
        </p:nvSpPr>
        <p:spPr>
          <a:xfrm>
            <a:off x="10292592" y="1783080"/>
            <a:ext cx="10973" cy="457200"/>
          </a:xfrm>
          <a:prstGeom prst="rect">
            <a:avLst/>
          </a:prstGeom>
          <a:solidFill>
            <a:srgbClr val="D5DEEA"/>
          </a:solidFill>
          <a:ln w="12700">
            <a:solidFill>
              <a:srgbClr val="D5DEEA"/>
            </a:solidFill>
            <a:prstDash val="solid"/>
          </a:ln>
        </p:spPr>
      </p:sp>
      <p:sp>
        <p:nvSpPr>
          <p:cNvPr id="76" name="Shape 74"/>
          <p:cNvSpPr/>
          <p:nvPr/>
        </p:nvSpPr>
        <p:spPr>
          <a:xfrm>
            <a:off x="10432483" y="1783080"/>
            <a:ext cx="10973" cy="457200"/>
          </a:xfrm>
          <a:prstGeom prst="rect">
            <a:avLst/>
          </a:prstGeom>
          <a:solidFill>
            <a:srgbClr val="D5DEEA"/>
          </a:solidFill>
          <a:ln w="12700">
            <a:solidFill>
              <a:srgbClr val="D5DEEA"/>
            </a:solidFill>
            <a:prstDash val="solid"/>
          </a:ln>
        </p:spPr>
      </p:sp>
      <p:sp>
        <p:nvSpPr>
          <p:cNvPr id="77" name="Shape 75"/>
          <p:cNvSpPr/>
          <p:nvPr/>
        </p:nvSpPr>
        <p:spPr>
          <a:xfrm>
            <a:off x="10572375" y="1783080"/>
            <a:ext cx="10973" cy="457200"/>
          </a:xfrm>
          <a:prstGeom prst="rect">
            <a:avLst/>
          </a:prstGeom>
          <a:solidFill>
            <a:srgbClr val="D5DEEA"/>
          </a:solidFill>
          <a:ln w="12700">
            <a:solidFill>
              <a:srgbClr val="D5DEEA"/>
            </a:solidFill>
            <a:prstDash val="solid"/>
          </a:ln>
        </p:spPr>
      </p:sp>
      <p:sp>
        <p:nvSpPr>
          <p:cNvPr id="78" name="Shape 76"/>
          <p:cNvSpPr/>
          <p:nvPr/>
        </p:nvSpPr>
        <p:spPr>
          <a:xfrm>
            <a:off x="10712266" y="1783080"/>
            <a:ext cx="10973" cy="457200"/>
          </a:xfrm>
          <a:prstGeom prst="rect">
            <a:avLst/>
          </a:prstGeom>
          <a:solidFill>
            <a:srgbClr val="D5DEEA"/>
          </a:solidFill>
          <a:ln w="12700">
            <a:solidFill>
              <a:srgbClr val="D5DEEA"/>
            </a:solidFill>
            <a:prstDash val="solid"/>
          </a:ln>
        </p:spPr>
      </p:sp>
      <p:sp>
        <p:nvSpPr>
          <p:cNvPr id="79" name="Shape 77"/>
          <p:cNvSpPr/>
          <p:nvPr/>
        </p:nvSpPr>
        <p:spPr>
          <a:xfrm>
            <a:off x="10852158" y="1783080"/>
            <a:ext cx="10973" cy="457200"/>
          </a:xfrm>
          <a:prstGeom prst="rect">
            <a:avLst/>
          </a:prstGeom>
          <a:solidFill>
            <a:srgbClr val="D5DEEA"/>
          </a:solidFill>
          <a:ln w="12700">
            <a:solidFill>
              <a:srgbClr val="D5DEEA"/>
            </a:solidFill>
            <a:prstDash val="solid"/>
          </a:ln>
        </p:spPr>
      </p:sp>
      <p:sp>
        <p:nvSpPr>
          <p:cNvPr id="80" name="Shape 78"/>
          <p:cNvSpPr/>
          <p:nvPr/>
        </p:nvSpPr>
        <p:spPr>
          <a:xfrm>
            <a:off x="10992049" y="1783080"/>
            <a:ext cx="10973" cy="457200"/>
          </a:xfrm>
          <a:prstGeom prst="rect">
            <a:avLst/>
          </a:prstGeom>
          <a:solidFill>
            <a:srgbClr val="D5DEEA"/>
          </a:solidFill>
          <a:ln w="12700">
            <a:solidFill>
              <a:srgbClr val="D5DEEA"/>
            </a:solidFill>
            <a:prstDash val="solid"/>
          </a:ln>
        </p:spPr>
      </p:sp>
      <p:sp>
        <p:nvSpPr>
          <p:cNvPr id="81" name="Shape 79"/>
          <p:cNvSpPr/>
          <p:nvPr/>
        </p:nvSpPr>
        <p:spPr>
          <a:xfrm>
            <a:off x="11131941" y="1783080"/>
            <a:ext cx="10973" cy="457200"/>
          </a:xfrm>
          <a:prstGeom prst="rect">
            <a:avLst/>
          </a:prstGeom>
          <a:solidFill>
            <a:srgbClr val="D5DEEA"/>
          </a:solidFill>
          <a:ln w="12700">
            <a:solidFill>
              <a:srgbClr val="D5DEEA"/>
            </a:solidFill>
            <a:prstDash val="solid"/>
          </a:ln>
        </p:spPr>
      </p:sp>
      <p:sp>
        <p:nvSpPr>
          <p:cNvPr id="82" name="Shape 80"/>
          <p:cNvSpPr/>
          <p:nvPr/>
        </p:nvSpPr>
        <p:spPr>
          <a:xfrm>
            <a:off x="11271832" y="1783080"/>
            <a:ext cx="10973" cy="457200"/>
          </a:xfrm>
          <a:prstGeom prst="rect">
            <a:avLst/>
          </a:prstGeom>
          <a:solidFill>
            <a:srgbClr val="D5DEEA"/>
          </a:solidFill>
          <a:ln w="12700">
            <a:solidFill>
              <a:srgbClr val="D5DEEA"/>
            </a:solidFill>
            <a:prstDash val="solid"/>
          </a:ln>
        </p:spPr>
      </p:sp>
      <p:sp>
        <p:nvSpPr>
          <p:cNvPr id="83" name="Shape 81"/>
          <p:cNvSpPr/>
          <p:nvPr/>
        </p:nvSpPr>
        <p:spPr>
          <a:xfrm>
            <a:off x="11411724" y="1783080"/>
            <a:ext cx="10973" cy="457200"/>
          </a:xfrm>
          <a:prstGeom prst="rect">
            <a:avLst/>
          </a:prstGeom>
          <a:solidFill>
            <a:srgbClr val="D5DEEA"/>
          </a:solidFill>
          <a:ln w="12700">
            <a:solidFill>
              <a:srgbClr val="D5DEEA"/>
            </a:solidFill>
            <a:prstDash val="solid"/>
          </a:ln>
        </p:spPr>
      </p:sp>
      <p:sp>
        <p:nvSpPr>
          <p:cNvPr id="84" name="Shape 82"/>
          <p:cNvSpPr/>
          <p:nvPr/>
        </p:nvSpPr>
        <p:spPr>
          <a:xfrm>
            <a:off x="7075088" y="1700784"/>
            <a:ext cx="139891" cy="621792"/>
          </a:xfrm>
          <a:prstGeom prst="rect">
            <a:avLst/>
          </a:prstGeom>
          <a:solidFill>
            <a:srgbClr val="F2A541"/>
          </a:solidFill>
          <a:ln w="12700">
            <a:solidFill>
              <a:srgbClr val="F2A541"/>
            </a:solidFill>
            <a:prstDash val="solid"/>
          </a:ln>
        </p:spPr>
      </p:sp>
      <p:sp>
        <p:nvSpPr>
          <p:cNvPr id="85" name="Text 83"/>
          <p:cNvSpPr txBox="1"/>
          <p:nvPr/>
        </p:nvSpPr>
        <p:spPr>
          <a:xfrm>
            <a:off x="5977808" y="2368296"/>
            <a:ext cx="2377440" cy="256032"/>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one 0.25 s window</a:t>
            </a:r>
            <a:endParaRPr lang="en-US" sz="1050" dirty="0"/>
          </a:p>
        </p:txBody>
      </p:sp>
      <p:sp>
        <p:nvSpPr>
          <p:cNvPr id="86" name="Text 84"/>
          <p:cNvSpPr txBox="1"/>
          <p:nvPr/>
        </p:nvSpPr>
        <p:spPr>
          <a:xfrm>
            <a:off x="640080" y="2368296"/>
            <a:ext cx="2926080" cy="256032"/>
          </a:xfrm>
          <a:prstGeom prst="rect">
            <a:avLst/>
          </a:prstGeom>
          <a:noFill/>
          <a:ln/>
        </p:spPr>
        <p:txBody>
          <a:bodyPr wrap="square" lIns="0" tIns="0" rIns="0" bIns="0" rtlCol="0" anchor="ctr"/>
          <a:lstStyle/>
          <a:p>
            <a:pPr indent="0" marL="0">
              <a:buNone/>
            </a:pPr>
            <a:r>
              <a:rPr lang="en-US" sz="1050" dirty="0">
                <a:solidFill>
                  <a:srgbClr val="5F718C"/>
                </a:solidFill>
                <a:latin typeface="Calibri" pitchFamily="34" charset="0"/>
                <a:ea typeface="Calibri" pitchFamily="34" charset="-122"/>
                <a:cs typeface="Calibri" pitchFamily="34" charset="-120"/>
              </a:rPr>
              <a:t>one 60-second recording</a:t>
            </a:r>
            <a:endParaRPr lang="en-US" sz="1050" dirty="0"/>
          </a:p>
        </p:txBody>
      </p:sp>
      <p:sp>
        <p:nvSpPr>
          <p:cNvPr id="87" name="Text 85"/>
          <p:cNvSpPr txBox="1"/>
          <p:nvPr/>
        </p:nvSpPr>
        <p:spPr>
          <a:xfrm>
            <a:off x="640080" y="2971800"/>
            <a:ext cx="3291840" cy="960120"/>
          </a:xfrm>
          <a:prstGeom prst="rect">
            <a:avLst/>
          </a:prstGeom>
          <a:noFill/>
          <a:ln/>
        </p:spPr>
        <p:txBody>
          <a:bodyPr wrap="square" lIns="0" tIns="0" rIns="0" bIns="0" rtlCol="0" anchor="ctr"/>
          <a:lstStyle/>
          <a:p>
            <a:pPr indent="0" marL="0">
              <a:buNone/>
            </a:pPr>
            <a:r>
              <a:rPr lang="en-US" sz="5400" b="1" dirty="0">
                <a:solidFill>
                  <a:srgbClr val="22314D"/>
                </a:solidFill>
                <a:latin typeface="Cambria" pitchFamily="34" charset="0"/>
                <a:ea typeface="Cambria" pitchFamily="34" charset="-122"/>
                <a:cs typeface="Cambria" pitchFamily="34" charset="-120"/>
              </a:rPr>
              <a:t>9.4 h</a:t>
            </a:r>
            <a:endParaRPr lang="en-US" sz="5400" dirty="0"/>
          </a:p>
        </p:txBody>
      </p:sp>
      <p:sp>
        <p:nvSpPr>
          <p:cNvPr id="88" name="Text 86"/>
          <p:cNvSpPr txBox="1"/>
          <p:nvPr/>
        </p:nvSpPr>
        <p:spPr>
          <a:xfrm>
            <a:off x="640080" y="3977640"/>
            <a:ext cx="3291840" cy="310896"/>
          </a:xfrm>
          <a:prstGeom prst="rect">
            <a:avLst/>
          </a:prstGeom>
          <a:noFill/>
          <a:ln/>
        </p:spPr>
        <p:txBody>
          <a:bodyPr wrap="square" lIns="0" tIns="0" rIns="0" bIns="0" rtlCol="0" anchor="ctr"/>
          <a:lstStyle/>
          <a:p>
            <a:pPr indent="0" marL="0">
              <a:buNone/>
            </a:pPr>
            <a:r>
              <a:rPr lang="en-US" sz="1350" dirty="0">
                <a:solidFill>
                  <a:srgbClr val="5F718C"/>
                </a:solidFill>
                <a:latin typeface="Calibri" pitchFamily="34" charset="0"/>
                <a:ea typeface="Calibri" pitchFamily="34" charset="-122"/>
                <a:cs typeface="Calibri" pitchFamily="34" charset="-120"/>
              </a:rPr>
              <a:t>from one recorder</a:t>
            </a:r>
            <a:endParaRPr lang="en-US" sz="1350" dirty="0"/>
          </a:p>
        </p:txBody>
      </p:sp>
      <p:sp>
        <p:nvSpPr>
          <p:cNvPr id="89" name="Text 87"/>
          <p:cNvSpPr txBox="1"/>
          <p:nvPr/>
        </p:nvSpPr>
        <p:spPr>
          <a:xfrm>
            <a:off x="3950208" y="2971800"/>
            <a:ext cx="640080" cy="960120"/>
          </a:xfrm>
          <a:prstGeom prst="rect">
            <a:avLst/>
          </a:prstGeom>
          <a:noFill/>
          <a:ln/>
        </p:spPr>
        <p:txBody>
          <a:bodyPr wrap="square" lIns="0" tIns="0" rIns="0" bIns="0" rtlCol="0" anchor="ctr"/>
          <a:lstStyle/>
          <a:p>
            <a:pPr algn="ctr" indent="0" marL="0">
              <a:buNone/>
            </a:pPr>
            <a:r>
              <a:rPr lang="en-US" sz="2600" dirty="0">
                <a:solidFill>
                  <a:srgbClr val="D5DEEA"/>
                </a:solidFill>
                <a:latin typeface="Calibri" pitchFamily="34" charset="0"/>
                <a:ea typeface="Calibri" pitchFamily="34" charset="-122"/>
                <a:cs typeface="Calibri" pitchFamily="34" charset="-120"/>
              </a:rPr>
              <a:t>→</a:t>
            </a:r>
            <a:endParaRPr lang="en-US" sz="2600" dirty="0"/>
          </a:p>
        </p:txBody>
      </p:sp>
      <p:sp>
        <p:nvSpPr>
          <p:cNvPr id="90" name="Text 88"/>
          <p:cNvSpPr txBox="1"/>
          <p:nvPr/>
        </p:nvSpPr>
        <p:spPr>
          <a:xfrm>
            <a:off x="4617720" y="2971800"/>
            <a:ext cx="3291840" cy="960120"/>
          </a:xfrm>
          <a:prstGeom prst="rect">
            <a:avLst/>
          </a:prstGeom>
          <a:noFill/>
          <a:ln/>
        </p:spPr>
        <p:txBody>
          <a:bodyPr wrap="square" lIns="0" tIns="0" rIns="0" bIns="0" rtlCol="0" anchor="ctr"/>
          <a:lstStyle/>
          <a:p>
            <a:pPr indent="0" marL="0">
              <a:buNone/>
            </a:pPr>
            <a:r>
              <a:rPr lang="en-US" sz="5400" b="1" dirty="0">
                <a:solidFill>
                  <a:srgbClr val="F2A541"/>
                </a:solidFill>
                <a:latin typeface="Cambria" pitchFamily="34" charset="0"/>
                <a:ea typeface="Cambria" pitchFamily="34" charset="-122"/>
                <a:cs typeface="Cambria" pitchFamily="34" charset="-120"/>
              </a:rPr>
              <a:t>270,156</a:t>
            </a:r>
            <a:endParaRPr lang="en-US" sz="5400" dirty="0"/>
          </a:p>
        </p:txBody>
      </p:sp>
      <p:sp>
        <p:nvSpPr>
          <p:cNvPr id="91" name="Text 89"/>
          <p:cNvSpPr txBox="1"/>
          <p:nvPr/>
        </p:nvSpPr>
        <p:spPr>
          <a:xfrm>
            <a:off x="4617720" y="3977640"/>
            <a:ext cx="3291840" cy="310896"/>
          </a:xfrm>
          <a:prstGeom prst="rect">
            <a:avLst/>
          </a:prstGeom>
          <a:noFill/>
          <a:ln/>
        </p:spPr>
        <p:txBody>
          <a:bodyPr wrap="square" lIns="0" tIns="0" rIns="0" bIns="0" rtlCol="0" anchor="ctr"/>
          <a:lstStyle/>
          <a:p>
            <a:pPr indent="0" marL="0">
              <a:buNone/>
            </a:pPr>
            <a:r>
              <a:rPr lang="en-US" sz="1350" dirty="0">
                <a:solidFill>
                  <a:srgbClr val="5F718C"/>
                </a:solidFill>
                <a:latin typeface="Calibri" pitchFamily="34" charset="0"/>
                <a:ea typeface="Calibri" pitchFamily="34" charset="-122"/>
                <a:cs typeface="Calibri" pitchFamily="34" charset="-120"/>
              </a:rPr>
              <a:t>windows to be scored</a:t>
            </a:r>
            <a:endParaRPr lang="en-US" sz="1350" dirty="0"/>
          </a:p>
        </p:txBody>
      </p:sp>
      <p:sp>
        <p:nvSpPr>
          <p:cNvPr id="92" name="Text 90"/>
          <p:cNvSpPr txBox="1"/>
          <p:nvPr/>
        </p:nvSpPr>
        <p:spPr>
          <a:xfrm>
            <a:off x="7927848" y="2971800"/>
            <a:ext cx="640080" cy="960120"/>
          </a:xfrm>
          <a:prstGeom prst="rect">
            <a:avLst/>
          </a:prstGeom>
          <a:noFill/>
          <a:ln/>
        </p:spPr>
        <p:txBody>
          <a:bodyPr wrap="square" lIns="0" tIns="0" rIns="0" bIns="0" rtlCol="0" anchor="ctr"/>
          <a:lstStyle/>
          <a:p>
            <a:pPr algn="ctr" indent="0" marL="0">
              <a:buNone/>
            </a:pPr>
            <a:r>
              <a:rPr lang="en-US" sz="2600" dirty="0">
                <a:solidFill>
                  <a:srgbClr val="D5DEEA"/>
                </a:solidFill>
                <a:latin typeface="Calibri" pitchFamily="34" charset="0"/>
                <a:ea typeface="Calibri" pitchFamily="34" charset="-122"/>
                <a:cs typeface="Calibri" pitchFamily="34" charset="-120"/>
              </a:rPr>
              <a:t>→</a:t>
            </a:r>
            <a:endParaRPr lang="en-US" sz="2600" dirty="0"/>
          </a:p>
        </p:txBody>
      </p:sp>
      <p:sp>
        <p:nvSpPr>
          <p:cNvPr id="93" name="Text 91"/>
          <p:cNvSpPr txBox="1"/>
          <p:nvPr/>
        </p:nvSpPr>
        <p:spPr>
          <a:xfrm>
            <a:off x="8595360" y="2971800"/>
            <a:ext cx="3291840" cy="960120"/>
          </a:xfrm>
          <a:prstGeom prst="rect">
            <a:avLst/>
          </a:prstGeom>
          <a:noFill/>
          <a:ln/>
        </p:spPr>
        <p:txBody>
          <a:bodyPr wrap="square" lIns="0" tIns="0" rIns="0" bIns="0" rtlCol="0" anchor="ctr"/>
          <a:lstStyle/>
          <a:p>
            <a:pPr indent="0" marL="0">
              <a:buNone/>
            </a:pPr>
            <a:r>
              <a:rPr lang="en-US" sz="5400" b="1" dirty="0">
                <a:solidFill>
                  <a:srgbClr val="1E7A70"/>
                </a:solidFill>
                <a:latin typeface="Cambria" pitchFamily="34" charset="0"/>
                <a:ea typeface="Cambria" pitchFamily="34" charset="-122"/>
                <a:cs typeface="Cambria" pitchFamily="34" charset="-120"/>
              </a:rPr>
              <a:t>69</a:t>
            </a:r>
            <a:endParaRPr lang="en-US" sz="5400" dirty="0"/>
          </a:p>
        </p:txBody>
      </p:sp>
      <p:sp>
        <p:nvSpPr>
          <p:cNvPr id="94" name="Text 92"/>
          <p:cNvSpPr txBox="1"/>
          <p:nvPr/>
        </p:nvSpPr>
        <p:spPr>
          <a:xfrm>
            <a:off x="8595360" y="3977640"/>
            <a:ext cx="3291840" cy="310896"/>
          </a:xfrm>
          <a:prstGeom prst="rect">
            <a:avLst/>
          </a:prstGeom>
          <a:noFill/>
          <a:ln/>
        </p:spPr>
        <p:txBody>
          <a:bodyPr wrap="square" lIns="0" tIns="0" rIns="0" bIns="0" rtlCol="0" anchor="ctr"/>
          <a:lstStyle/>
          <a:p>
            <a:pPr indent="0" marL="0">
              <a:buNone/>
            </a:pPr>
            <a:r>
              <a:rPr lang="en-US" sz="1350" dirty="0">
                <a:solidFill>
                  <a:srgbClr val="5F718C"/>
                </a:solidFill>
                <a:latin typeface="Calibri" pitchFamily="34" charset="0"/>
                <a:ea typeface="Calibri" pitchFamily="34" charset="-122"/>
                <a:cs typeface="Calibri" pitchFamily="34" charset="-120"/>
              </a:rPr>
              <a:t>a human could review</a:t>
            </a:r>
            <a:endParaRPr lang="en-US" sz="1350" dirty="0"/>
          </a:p>
        </p:txBody>
      </p:sp>
      <p:sp>
        <p:nvSpPr>
          <p:cNvPr id="95" name="Shape 93"/>
          <p:cNvSpPr/>
          <p:nvPr/>
        </p:nvSpPr>
        <p:spPr>
          <a:xfrm>
            <a:off x="640080" y="4983480"/>
            <a:ext cx="10911535" cy="566928"/>
          </a:xfrm>
          <a:prstGeom prst="roundRect">
            <a:avLst>
              <a:gd name="adj" fmla="val 9677"/>
            </a:avLst>
          </a:prstGeom>
          <a:solidFill>
            <a:srgbClr val="0E1B33"/>
          </a:solidFill>
          <a:ln w="12700">
            <a:solidFill>
              <a:srgbClr val="0E1B33"/>
            </a:solidFill>
            <a:prstDash val="solid"/>
          </a:ln>
        </p:spPr>
      </p:sp>
      <p:sp>
        <p:nvSpPr>
          <p:cNvPr id="96" name="Text 94"/>
          <p:cNvSpPr txBox="1"/>
          <p:nvPr/>
        </p:nvSpPr>
        <p:spPr>
          <a:xfrm>
            <a:off x="914400" y="4983480"/>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Something has to rank those windows before anyone listens to them.</a:t>
            </a:r>
            <a:endParaRPr lang="en-US" sz="1450" dirty="0"/>
          </a:p>
        </p:txBody>
      </p:sp>
      <p:sp>
        <p:nvSpPr>
          <p:cNvPr id="97" name="Text 95"/>
          <p:cNvSpPr txBox="1"/>
          <p:nvPr/>
        </p:nvSpPr>
        <p:spPr>
          <a:xfrm>
            <a:off x="640080" y="5742432"/>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564 one-minute recordings · 0.25 s windows with a 0.125 s hop · one AudioMoth, Mara Triangle, Kenya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THE GAP</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Detectors are graded where they were born</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The generalisation gap</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777240" y="2217420"/>
            <a:ext cx="6949440" cy="7315"/>
          </a:xfrm>
          <a:prstGeom prst="rect">
            <a:avLst/>
          </a:prstGeom>
          <a:solidFill>
            <a:srgbClr val="EDF1F7"/>
          </a:solidFill>
          <a:ln w="12700">
            <a:solidFill>
              <a:srgbClr val="EDF1F7"/>
            </a:solidFill>
            <a:prstDash val="solid"/>
          </a:ln>
        </p:spPr>
      </p:sp>
      <p:sp>
        <p:nvSpPr>
          <p:cNvPr id="7" name="Text 5"/>
          <p:cNvSpPr txBox="1"/>
          <p:nvPr/>
        </p:nvSpPr>
        <p:spPr>
          <a:xfrm>
            <a:off x="210312" y="2089404"/>
            <a:ext cx="475488" cy="256032"/>
          </a:xfrm>
          <a:prstGeom prst="rect">
            <a:avLst/>
          </a:prstGeom>
          <a:noFill/>
          <a:ln/>
        </p:spPr>
        <p:txBody>
          <a:bodyPr wrap="square" lIns="0" tIns="0" rIns="0" bIns="0" rtlCol="0" anchor="ctr"/>
          <a:lstStyle/>
          <a:p>
            <a:pPr algn="r" indent="0" marL="0">
              <a:buNone/>
            </a:pPr>
            <a:r>
              <a:rPr lang="en-US" sz="1000" dirty="0">
                <a:solidFill>
                  <a:srgbClr val="D5DEEA"/>
                </a:solidFill>
                <a:latin typeface="Calibri" pitchFamily="34" charset="0"/>
                <a:ea typeface="Calibri" pitchFamily="34" charset="-122"/>
                <a:cs typeface="Calibri" pitchFamily="34" charset="-120"/>
              </a:rPr>
              <a:t>1.0</a:t>
            </a:r>
            <a:endParaRPr lang="en-US" sz="1000" dirty="0"/>
          </a:p>
        </p:txBody>
      </p:sp>
      <p:sp>
        <p:nvSpPr>
          <p:cNvPr id="8" name="Shape 6"/>
          <p:cNvSpPr/>
          <p:nvPr/>
        </p:nvSpPr>
        <p:spPr>
          <a:xfrm>
            <a:off x="777240" y="2811780"/>
            <a:ext cx="6949440" cy="7315"/>
          </a:xfrm>
          <a:prstGeom prst="rect">
            <a:avLst/>
          </a:prstGeom>
          <a:solidFill>
            <a:srgbClr val="EDF1F7"/>
          </a:solidFill>
          <a:ln w="12700">
            <a:solidFill>
              <a:srgbClr val="EDF1F7"/>
            </a:solidFill>
            <a:prstDash val="solid"/>
          </a:ln>
        </p:spPr>
      </p:sp>
      <p:sp>
        <p:nvSpPr>
          <p:cNvPr id="9" name="Text 7"/>
          <p:cNvSpPr txBox="1"/>
          <p:nvPr/>
        </p:nvSpPr>
        <p:spPr>
          <a:xfrm>
            <a:off x="210312" y="2683764"/>
            <a:ext cx="475488" cy="256032"/>
          </a:xfrm>
          <a:prstGeom prst="rect">
            <a:avLst/>
          </a:prstGeom>
          <a:noFill/>
          <a:ln/>
        </p:spPr>
        <p:txBody>
          <a:bodyPr wrap="square" lIns="0" tIns="0" rIns="0" bIns="0" rtlCol="0" anchor="ctr"/>
          <a:lstStyle/>
          <a:p>
            <a:pPr algn="r" indent="0" marL="0">
              <a:buNone/>
            </a:pPr>
            <a:r>
              <a:rPr lang="en-US" sz="1000" dirty="0">
                <a:solidFill>
                  <a:srgbClr val="D5DEEA"/>
                </a:solidFill>
                <a:latin typeface="Calibri" pitchFamily="34" charset="0"/>
                <a:ea typeface="Calibri" pitchFamily="34" charset="-122"/>
                <a:cs typeface="Calibri" pitchFamily="34" charset="-120"/>
              </a:rPr>
              <a:t>0.9</a:t>
            </a:r>
            <a:endParaRPr lang="en-US" sz="1000" dirty="0"/>
          </a:p>
        </p:txBody>
      </p:sp>
      <p:sp>
        <p:nvSpPr>
          <p:cNvPr id="10" name="Shape 8"/>
          <p:cNvSpPr/>
          <p:nvPr/>
        </p:nvSpPr>
        <p:spPr>
          <a:xfrm>
            <a:off x="777240" y="3406140"/>
            <a:ext cx="6949440" cy="7315"/>
          </a:xfrm>
          <a:prstGeom prst="rect">
            <a:avLst/>
          </a:prstGeom>
          <a:solidFill>
            <a:srgbClr val="EDF1F7"/>
          </a:solidFill>
          <a:ln w="12700">
            <a:solidFill>
              <a:srgbClr val="EDF1F7"/>
            </a:solidFill>
            <a:prstDash val="solid"/>
          </a:ln>
        </p:spPr>
      </p:sp>
      <p:sp>
        <p:nvSpPr>
          <p:cNvPr id="11" name="Text 9"/>
          <p:cNvSpPr txBox="1"/>
          <p:nvPr/>
        </p:nvSpPr>
        <p:spPr>
          <a:xfrm>
            <a:off x="210312" y="3278124"/>
            <a:ext cx="475488" cy="256032"/>
          </a:xfrm>
          <a:prstGeom prst="rect">
            <a:avLst/>
          </a:prstGeom>
          <a:noFill/>
          <a:ln/>
        </p:spPr>
        <p:txBody>
          <a:bodyPr wrap="square" lIns="0" tIns="0" rIns="0" bIns="0" rtlCol="0" anchor="ctr"/>
          <a:lstStyle/>
          <a:p>
            <a:pPr algn="r" indent="0" marL="0">
              <a:buNone/>
            </a:pPr>
            <a:r>
              <a:rPr lang="en-US" sz="1000" dirty="0">
                <a:solidFill>
                  <a:srgbClr val="D5DEEA"/>
                </a:solidFill>
                <a:latin typeface="Calibri" pitchFamily="34" charset="0"/>
                <a:ea typeface="Calibri" pitchFamily="34" charset="-122"/>
                <a:cs typeface="Calibri" pitchFamily="34" charset="-120"/>
              </a:rPr>
              <a:t>0.8</a:t>
            </a:r>
            <a:endParaRPr lang="en-US" sz="1000" dirty="0"/>
          </a:p>
        </p:txBody>
      </p:sp>
      <p:sp>
        <p:nvSpPr>
          <p:cNvPr id="12" name="Shape 10"/>
          <p:cNvSpPr/>
          <p:nvPr/>
        </p:nvSpPr>
        <p:spPr>
          <a:xfrm>
            <a:off x="777240" y="4000500"/>
            <a:ext cx="6949440" cy="7315"/>
          </a:xfrm>
          <a:prstGeom prst="rect">
            <a:avLst/>
          </a:prstGeom>
          <a:solidFill>
            <a:srgbClr val="EDF1F7"/>
          </a:solidFill>
          <a:ln w="12700">
            <a:solidFill>
              <a:srgbClr val="EDF1F7"/>
            </a:solidFill>
            <a:prstDash val="solid"/>
          </a:ln>
        </p:spPr>
      </p:sp>
      <p:sp>
        <p:nvSpPr>
          <p:cNvPr id="13" name="Text 11"/>
          <p:cNvSpPr txBox="1"/>
          <p:nvPr/>
        </p:nvSpPr>
        <p:spPr>
          <a:xfrm>
            <a:off x="210312" y="3872484"/>
            <a:ext cx="475488" cy="256032"/>
          </a:xfrm>
          <a:prstGeom prst="rect">
            <a:avLst/>
          </a:prstGeom>
          <a:noFill/>
          <a:ln/>
        </p:spPr>
        <p:txBody>
          <a:bodyPr wrap="square" lIns="0" tIns="0" rIns="0" bIns="0" rtlCol="0" anchor="ctr"/>
          <a:lstStyle/>
          <a:p>
            <a:pPr algn="r" indent="0" marL="0">
              <a:buNone/>
            </a:pPr>
            <a:r>
              <a:rPr lang="en-US" sz="1000" dirty="0">
                <a:solidFill>
                  <a:srgbClr val="D5DEEA"/>
                </a:solidFill>
                <a:latin typeface="Calibri" pitchFamily="34" charset="0"/>
                <a:ea typeface="Calibri" pitchFamily="34" charset="-122"/>
                <a:cs typeface="Calibri" pitchFamily="34" charset="-120"/>
              </a:rPr>
              <a:t>0.7</a:t>
            </a:r>
            <a:endParaRPr lang="en-US" sz="1000" dirty="0"/>
          </a:p>
        </p:txBody>
      </p:sp>
      <p:sp>
        <p:nvSpPr>
          <p:cNvPr id="14" name="Shape 12"/>
          <p:cNvSpPr/>
          <p:nvPr/>
        </p:nvSpPr>
        <p:spPr>
          <a:xfrm>
            <a:off x="2011680" y="2633472"/>
            <a:ext cx="4389120" cy="1206551"/>
          </a:xfrm>
          <a:prstGeom prst="line">
            <a:avLst/>
          </a:prstGeom>
          <a:noFill/>
          <a:ln w="50800">
            <a:solidFill>
              <a:srgbClr val="E76F51"/>
            </a:solidFill>
            <a:prstDash val="solid"/>
          </a:ln>
        </p:spPr>
      </p:sp>
      <p:sp>
        <p:nvSpPr>
          <p:cNvPr id="15" name="Shape 13"/>
          <p:cNvSpPr/>
          <p:nvPr/>
        </p:nvSpPr>
        <p:spPr>
          <a:xfrm>
            <a:off x="1911096" y="2532888"/>
            <a:ext cx="201168" cy="201168"/>
          </a:xfrm>
          <a:prstGeom prst="ellipse">
            <a:avLst/>
          </a:prstGeom>
          <a:solidFill>
            <a:srgbClr val="22314D"/>
          </a:solidFill>
          <a:ln w="25400">
            <a:solidFill>
              <a:srgbClr val="FFFFFF"/>
            </a:solidFill>
            <a:prstDash val="solid"/>
          </a:ln>
        </p:spPr>
      </p:sp>
      <p:sp>
        <p:nvSpPr>
          <p:cNvPr id="16" name="Text 14"/>
          <p:cNvSpPr txBox="1"/>
          <p:nvPr/>
        </p:nvSpPr>
        <p:spPr>
          <a:xfrm>
            <a:off x="1234440" y="1975104"/>
            <a:ext cx="1554480" cy="420624"/>
          </a:xfrm>
          <a:prstGeom prst="rect">
            <a:avLst/>
          </a:prstGeom>
          <a:noFill/>
          <a:ln/>
        </p:spPr>
        <p:txBody>
          <a:bodyPr wrap="square" lIns="0" tIns="0" rIns="0" bIns="0" rtlCol="0" anchor="ctr"/>
          <a:lstStyle/>
          <a:p>
            <a:pPr algn="ctr" indent="0" marL="0">
              <a:buNone/>
            </a:pPr>
            <a:r>
              <a:rPr lang="en-US" sz="2800" b="1" dirty="0">
                <a:solidFill>
                  <a:srgbClr val="22314D"/>
                </a:solidFill>
                <a:latin typeface="Cambria" pitchFamily="34" charset="0"/>
                <a:ea typeface="Cambria" pitchFamily="34" charset="-122"/>
                <a:cs typeface="Cambria" pitchFamily="34" charset="-120"/>
              </a:rPr>
              <a:t>0.930</a:t>
            </a:r>
            <a:endParaRPr lang="en-US" sz="2800" dirty="0"/>
          </a:p>
        </p:txBody>
      </p:sp>
      <p:sp>
        <p:nvSpPr>
          <p:cNvPr id="17" name="Shape 15"/>
          <p:cNvSpPr/>
          <p:nvPr/>
        </p:nvSpPr>
        <p:spPr>
          <a:xfrm>
            <a:off x="6300216" y="3739439"/>
            <a:ext cx="201168" cy="201168"/>
          </a:xfrm>
          <a:prstGeom prst="ellipse">
            <a:avLst/>
          </a:prstGeom>
          <a:solidFill>
            <a:srgbClr val="E76F51"/>
          </a:solidFill>
          <a:ln w="25400">
            <a:solidFill>
              <a:srgbClr val="FFFFFF"/>
            </a:solidFill>
            <a:prstDash val="solid"/>
          </a:ln>
        </p:spPr>
      </p:sp>
      <p:sp>
        <p:nvSpPr>
          <p:cNvPr id="18" name="Text 16"/>
          <p:cNvSpPr txBox="1"/>
          <p:nvPr/>
        </p:nvSpPr>
        <p:spPr>
          <a:xfrm>
            <a:off x="5623560" y="3181655"/>
            <a:ext cx="1554480" cy="420624"/>
          </a:xfrm>
          <a:prstGeom prst="rect">
            <a:avLst/>
          </a:prstGeom>
          <a:noFill/>
          <a:ln/>
        </p:spPr>
        <p:txBody>
          <a:bodyPr wrap="square" lIns="0" tIns="0" rIns="0" bIns="0" rtlCol="0" anchor="ctr"/>
          <a:lstStyle/>
          <a:p>
            <a:pPr algn="ctr" indent="0" marL="0">
              <a:buNone/>
            </a:pPr>
            <a:r>
              <a:rPr lang="en-US" sz="2800" b="1" dirty="0">
                <a:solidFill>
                  <a:srgbClr val="E76F51"/>
                </a:solidFill>
                <a:latin typeface="Cambria" pitchFamily="34" charset="0"/>
                <a:ea typeface="Cambria" pitchFamily="34" charset="-122"/>
                <a:cs typeface="Cambria" pitchFamily="34" charset="-120"/>
              </a:rPr>
              <a:t>0.727</a:t>
            </a:r>
            <a:endParaRPr lang="en-US" sz="2800" dirty="0"/>
          </a:p>
        </p:txBody>
      </p:sp>
      <p:sp>
        <p:nvSpPr>
          <p:cNvPr id="19" name="Text 17"/>
          <p:cNvSpPr txBox="1"/>
          <p:nvPr/>
        </p:nvSpPr>
        <p:spPr>
          <a:xfrm>
            <a:off x="3337560" y="3346475"/>
            <a:ext cx="1737360" cy="310896"/>
          </a:xfrm>
          <a:prstGeom prst="rect">
            <a:avLst/>
          </a:prstGeom>
          <a:noFill/>
          <a:ln/>
        </p:spPr>
        <p:txBody>
          <a:bodyPr wrap="square" lIns="0" tIns="0" rIns="0" bIns="0" rtlCol="0" anchor="ctr"/>
          <a:lstStyle/>
          <a:p>
            <a:pPr algn="ctr" indent="0" marL="0">
              <a:buNone/>
            </a:pPr>
            <a:r>
              <a:rPr lang="en-US" sz="1500" b="1" dirty="0">
                <a:solidFill>
                  <a:srgbClr val="E76F51"/>
                </a:solidFill>
                <a:latin typeface="Calibri" pitchFamily="34" charset="0"/>
                <a:ea typeface="Calibri" pitchFamily="34" charset="-122"/>
                <a:cs typeface="Calibri" pitchFamily="34" charset="-120"/>
              </a:rPr>
              <a:t>−0.203 F1</a:t>
            </a:r>
            <a:endParaRPr lang="en-US" sz="1500" dirty="0"/>
          </a:p>
        </p:txBody>
      </p:sp>
      <p:sp>
        <p:nvSpPr>
          <p:cNvPr id="20" name="Text 18"/>
          <p:cNvSpPr txBox="1"/>
          <p:nvPr/>
        </p:nvSpPr>
        <p:spPr>
          <a:xfrm>
            <a:off x="548640" y="4462272"/>
            <a:ext cx="2926080" cy="640080"/>
          </a:xfrm>
          <a:prstGeom prst="rect">
            <a:avLst/>
          </a:prstGeom>
          <a:noFill/>
          <a:ln/>
        </p:spPr>
        <p:txBody>
          <a:bodyPr wrap="square" lIns="0" tIns="0" rIns="0" bIns="0" rtlCol="0" anchor="t"/>
          <a:lstStyle/>
          <a:p>
            <a:pPr algn="ctr" indent="0" marL="0">
              <a:lnSpc>
                <a:spcPts val="1700"/>
              </a:lnSpc>
              <a:buNone/>
            </a:pPr>
            <a:r>
              <a:rPr lang="en-US" sz="1250" dirty="0">
                <a:solidFill>
                  <a:srgbClr val="22314D"/>
                </a:solidFill>
                <a:latin typeface="Calibri" pitchFamily="34" charset="0"/>
                <a:ea typeface="Calibri" pitchFamily="34" charset="-122"/>
                <a:cs typeface="Calibri" pitchFamily="34" charset="-120"/>
              </a:rPr>
              <a:t>tested the usual way</a:t>
            </a:r>
            <a:endParaRPr lang="en-US" sz="1250" dirty="0"/>
          </a:p>
          <a:p>
            <a:pPr algn="ctr" indent="0" marL="0">
              <a:lnSpc>
                <a:spcPts val="1700"/>
              </a:lnSpc>
              <a:buNone/>
            </a:pPr>
            <a:r>
              <a:rPr lang="en-US" sz="1250" dirty="0">
                <a:solidFill>
                  <a:srgbClr val="22314D"/>
                </a:solidFill>
                <a:latin typeface="Calibri" pitchFamily="34" charset="0"/>
                <a:ea typeface="Calibri" pitchFamily="34" charset="-122"/>
                <a:cs typeface="Calibri" pitchFamily="34" charset="-120"/>
              </a:rPr>
              <a:t>clips shuffled and split at random</a:t>
            </a:r>
            <a:endParaRPr lang="en-US" sz="1250" dirty="0"/>
          </a:p>
        </p:txBody>
      </p:sp>
      <p:sp>
        <p:nvSpPr>
          <p:cNvPr id="21" name="Text 19"/>
          <p:cNvSpPr txBox="1"/>
          <p:nvPr/>
        </p:nvSpPr>
        <p:spPr>
          <a:xfrm>
            <a:off x="4754880" y="4462272"/>
            <a:ext cx="3291840" cy="640080"/>
          </a:xfrm>
          <a:prstGeom prst="rect">
            <a:avLst/>
          </a:prstGeom>
          <a:noFill/>
          <a:ln/>
        </p:spPr>
        <p:txBody>
          <a:bodyPr wrap="square" lIns="0" tIns="0" rIns="0" bIns="0" rtlCol="0" anchor="t"/>
          <a:lstStyle/>
          <a:p>
            <a:pPr algn="ctr" indent="0" marL="0">
              <a:lnSpc>
                <a:spcPts val="1700"/>
              </a:lnSpc>
              <a:buNone/>
            </a:pPr>
            <a:r>
              <a:rPr lang="en-US" sz="1250" b="1" dirty="0">
                <a:solidFill>
                  <a:srgbClr val="E76F51"/>
                </a:solidFill>
                <a:latin typeface="Calibri" pitchFamily="34" charset="0"/>
                <a:ea typeface="Calibri" pitchFamily="34" charset="-122"/>
                <a:cs typeface="Calibri" pitchFamily="34" charset="-120"/>
              </a:rPr>
              <a:t>tested on a site it has never heard</a:t>
            </a:r>
            <a:endParaRPr lang="en-US" sz="1250" dirty="0"/>
          </a:p>
          <a:p>
            <a:pPr algn="ctr" indent="0" marL="0">
              <a:lnSpc>
                <a:spcPts val="1700"/>
              </a:lnSpc>
              <a:buNone/>
            </a:pPr>
            <a:r>
              <a:rPr lang="en-US" sz="1250" b="1" dirty="0">
                <a:solidFill>
                  <a:srgbClr val="E76F51"/>
                </a:solidFill>
                <a:latin typeface="Calibri" pitchFamily="34" charset="0"/>
                <a:ea typeface="Calibri" pitchFamily="34" charset="-122"/>
                <a:cs typeface="Calibri" pitchFamily="34" charset="-120"/>
              </a:rPr>
              <a:t>its weakest held-out site</a:t>
            </a:r>
            <a:endParaRPr lang="en-US" sz="1250" dirty="0"/>
          </a:p>
        </p:txBody>
      </p:sp>
      <p:sp>
        <p:nvSpPr>
          <p:cNvPr id="22" name="Shape 20"/>
          <p:cNvSpPr/>
          <p:nvPr/>
        </p:nvSpPr>
        <p:spPr>
          <a:xfrm>
            <a:off x="777240" y="5440680"/>
            <a:ext cx="310896" cy="310896"/>
          </a:xfrm>
          <a:prstGeom prst="roundRect">
            <a:avLst>
              <a:gd name="adj" fmla="val 29412"/>
            </a:avLst>
          </a:prstGeom>
          <a:solidFill>
            <a:srgbClr val="DDE5EF"/>
          </a:solidFill>
          <a:ln w="12700">
            <a:solidFill>
              <a:srgbClr val="D5DEEA"/>
            </a:solidFill>
            <a:prstDash val="solid"/>
          </a:ln>
        </p:spPr>
      </p:sp>
      <p:sp>
        <p:nvSpPr>
          <p:cNvPr id="23" name="Shape 21"/>
          <p:cNvSpPr/>
          <p:nvPr/>
        </p:nvSpPr>
        <p:spPr>
          <a:xfrm>
            <a:off x="1216152" y="5440680"/>
            <a:ext cx="310896" cy="310896"/>
          </a:xfrm>
          <a:prstGeom prst="roundRect">
            <a:avLst>
              <a:gd name="adj" fmla="val 29412"/>
            </a:avLst>
          </a:prstGeom>
          <a:solidFill>
            <a:srgbClr val="DDE5EF"/>
          </a:solidFill>
          <a:ln w="12700">
            <a:solidFill>
              <a:srgbClr val="D5DEEA"/>
            </a:solidFill>
            <a:prstDash val="solid"/>
          </a:ln>
        </p:spPr>
      </p:sp>
      <p:sp>
        <p:nvSpPr>
          <p:cNvPr id="24" name="Shape 22"/>
          <p:cNvSpPr/>
          <p:nvPr/>
        </p:nvSpPr>
        <p:spPr>
          <a:xfrm>
            <a:off x="1655064" y="5440680"/>
            <a:ext cx="310896" cy="310896"/>
          </a:xfrm>
          <a:prstGeom prst="roundRect">
            <a:avLst>
              <a:gd name="adj" fmla="val 29412"/>
            </a:avLst>
          </a:prstGeom>
          <a:solidFill>
            <a:srgbClr val="DDE5EF"/>
          </a:solidFill>
          <a:ln w="12700">
            <a:solidFill>
              <a:srgbClr val="D5DEEA"/>
            </a:solidFill>
            <a:prstDash val="solid"/>
          </a:ln>
        </p:spPr>
      </p:sp>
      <p:sp>
        <p:nvSpPr>
          <p:cNvPr id="25" name="Shape 23"/>
          <p:cNvSpPr/>
          <p:nvPr/>
        </p:nvSpPr>
        <p:spPr>
          <a:xfrm>
            <a:off x="2093976" y="5440680"/>
            <a:ext cx="310896" cy="310896"/>
          </a:xfrm>
          <a:prstGeom prst="roundRect">
            <a:avLst>
              <a:gd name="adj" fmla="val 29412"/>
            </a:avLst>
          </a:prstGeom>
          <a:solidFill>
            <a:srgbClr val="E76F51"/>
          </a:solidFill>
          <a:ln w="12700">
            <a:solidFill>
              <a:srgbClr val="E76F51"/>
            </a:solidFill>
            <a:prstDash val="solid"/>
          </a:ln>
        </p:spPr>
      </p:sp>
      <p:sp>
        <p:nvSpPr>
          <p:cNvPr id="26" name="Shape 24"/>
          <p:cNvSpPr/>
          <p:nvPr/>
        </p:nvSpPr>
        <p:spPr>
          <a:xfrm>
            <a:off x="2532888" y="5440680"/>
            <a:ext cx="310896" cy="310896"/>
          </a:xfrm>
          <a:prstGeom prst="roundRect">
            <a:avLst>
              <a:gd name="adj" fmla="val 29412"/>
            </a:avLst>
          </a:prstGeom>
          <a:solidFill>
            <a:srgbClr val="DDE5EF"/>
          </a:solidFill>
          <a:ln w="12700">
            <a:solidFill>
              <a:srgbClr val="D5DEEA"/>
            </a:solidFill>
            <a:prstDash val="solid"/>
          </a:ln>
        </p:spPr>
      </p:sp>
      <p:sp>
        <p:nvSpPr>
          <p:cNvPr id="27" name="Shape 25"/>
          <p:cNvSpPr/>
          <p:nvPr/>
        </p:nvSpPr>
        <p:spPr>
          <a:xfrm>
            <a:off x="2971800" y="5440680"/>
            <a:ext cx="310896" cy="310896"/>
          </a:xfrm>
          <a:prstGeom prst="roundRect">
            <a:avLst>
              <a:gd name="adj" fmla="val 29412"/>
            </a:avLst>
          </a:prstGeom>
          <a:solidFill>
            <a:srgbClr val="DDE5EF"/>
          </a:solidFill>
          <a:ln w="12700">
            <a:solidFill>
              <a:srgbClr val="D5DEEA"/>
            </a:solidFill>
            <a:prstDash val="solid"/>
          </a:ln>
        </p:spPr>
      </p:sp>
      <p:sp>
        <p:nvSpPr>
          <p:cNvPr id="28" name="Text 26"/>
          <p:cNvSpPr txBox="1"/>
          <p:nvPr/>
        </p:nvSpPr>
        <p:spPr>
          <a:xfrm>
            <a:off x="3520440" y="5385816"/>
            <a:ext cx="4023360" cy="457200"/>
          </a:xfrm>
          <a:prstGeom prst="rect">
            <a:avLst/>
          </a:prstGeom>
          <a:noFill/>
          <a:ln/>
        </p:spPr>
        <p:txBody>
          <a:bodyPr wrap="square" lIns="0" tIns="0" rIns="0" bIns="0" rtlCol="0" anchor="ctr"/>
          <a:lstStyle/>
          <a:p>
            <a:pPr indent="0" marL="0">
              <a:buNone/>
            </a:pPr>
            <a:r>
              <a:rPr lang="en-US" sz="1200" b="1" dirty="0">
                <a:solidFill>
                  <a:srgbClr val="22314D"/>
                </a:solidFill>
                <a:latin typeface="Calibri" pitchFamily="34" charset="0"/>
                <a:ea typeface="Calibri" pitchFamily="34" charset="-122"/>
                <a:cs typeface="Calibri" pitchFamily="34" charset="-120"/>
              </a:rPr>
              <a:t>Six recording sites. </a:t>
            </a:r>
            <a:pPr indent="0" marL="0">
              <a:buNone/>
            </a:pPr>
            <a:r>
              <a:rPr lang="en-US" sz="1200" dirty="0">
                <a:solidFill>
                  <a:srgbClr val="5F718C"/>
                </a:solidFill>
                <a:latin typeface="Calibri" pitchFamily="34" charset="0"/>
                <a:ea typeface="Calibri" pitchFamily="34" charset="-122"/>
                <a:cs typeface="Calibri" pitchFamily="34" charset="-120"/>
              </a:rPr>
              <a:t>Each one held out in turn, and scored only on the site left out.</a:t>
            </a:r>
            <a:endParaRPr lang="en-US" sz="1200" dirty="0"/>
          </a:p>
        </p:txBody>
      </p:sp>
      <p:sp>
        <p:nvSpPr>
          <p:cNvPr id="29" name="Shape 27"/>
          <p:cNvSpPr/>
          <p:nvPr/>
        </p:nvSpPr>
        <p:spPr>
          <a:xfrm>
            <a:off x="8092440" y="1783080"/>
            <a:ext cx="3456432" cy="3456432"/>
          </a:xfrm>
          <a:prstGeom prst="roundRect">
            <a:avLst>
              <a:gd name="adj" fmla="val 1587"/>
            </a:avLst>
          </a:prstGeom>
          <a:solidFill>
            <a:srgbClr val="F2F5F9"/>
          </a:solidFill>
          <a:ln w="12700">
            <a:solidFill>
              <a:srgbClr val="D5DEEA"/>
            </a:solidFill>
            <a:prstDash val="solid"/>
          </a:ln>
        </p:spPr>
      </p:sp>
      <p:sp>
        <p:nvSpPr>
          <p:cNvPr id="30" name="Text 28"/>
          <p:cNvSpPr txBox="1"/>
          <p:nvPr/>
        </p:nvSpPr>
        <p:spPr>
          <a:xfrm>
            <a:off x="8366760" y="2011680"/>
            <a:ext cx="2926080" cy="1280160"/>
          </a:xfrm>
          <a:prstGeom prst="rect">
            <a:avLst/>
          </a:prstGeom>
          <a:noFill/>
          <a:ln/>
        </p:spPr>
        <p:txBody>
          <a:bodyPr wrap="square" lIns="0" tIns="0" rIns="0" bIns="0" rtlCol="0" anchor="t"/>
          <a:lstStyle/>
          <a:p>
            <a:pPr indent="0" marL="0">
              <a:lnSpc>
                <a:spcPts val="2600"/>
              </a:lnSpc>
              <a:buNone/>
            </a:pPr>
            <a:r>
              <a:rPr lang="en-US" sz="1900" b="1" dirty="0">
                <a:solidFill>
                  <a:srgbClr val="22314D"/>
                </a:solidFill>
                <a:latin typeface="Cambria" pitchFamily="34" charset="0"/>
                <a:ea typeface="Cambria" pitchFamily="34" charset="-122"/>
                <a:cs typeface="Cambria" pitchFamily="34" charset="-120"/>
              </a:rPr>
              <a:t>Same detector.</a:t>
            </a:r>
            <a:endParaRPr lang="en-US" sz="1900" dirty="0"/>
          </a:p>
          <a:p>
            <a:pPr indent="0" marL="0">
              <a:lnSpc>
                <a:spcPts val="2600"/>
              </a:lnSpc>
              <a:buNone/>
            </a:pPr>
            <a:r>
              <a:rPr lang="en-US" sz="1900" b="1" dirty="0">
                <a:solidFill>
                  <a:srgbClr val="22314D"/>
                </a:solidFill>
                <a:latin typeface="Cambria" pitchFamily="34" charset="0"/>
                <a:ea typeface="Cambria" pitchFamily="34" charset="-122"/>
                <a:cs typeface="Cambria" pitchFamily="34" charset="-120"/>
              </a:rPr>
              <a:t>Same clips.</a:t>
            </a:r>
            <a:endParaRPr lang="en-US" sz="1900" dirty="0"/>
          </a:p>
          <a:p>
            <a:pPr indent="0" marL="0">
              <a:lnSpc>
                <a:spcPts val="2600"/>
              </a:lnSpc>
              <a:buNone/>
            </a:pPr>
            <a:r>
              <a:rPr lang="en-US" sz="1900" b="1" dirty="0">
                <a:solidFill>
                  <a:srgbClr val="22314D"/>
                </a:solidFill>
                <a:latin typeface="Cambria" pitchFamily="34" charset="0"/>
                <a:ea typeface="Cambria" pitchFamily="34" charset="-122"/>
                <a:cs typeface="Cambria" pitchFamily="34" charset="-120"/>
              </a:rPr>
              <a:t>Only the split changed.</a:t>
            </a:r>
            <a:endParaRPr lang="en-US" sz="1900" dirty="0"/>
          </a:p>
        </p:txBody>
      </p:sp>
      <p:sp>
        <p:nvSpPr>
          <p:cNvPr id="31" name="Text 29"/>
          <p:cNvSpPr txBox="1"/>
          <p:nvPr/>
        </p:nvSpPr>
        <p:spPr>
          <a:xfrm>
            <a:off x="8366760" y="3456432"/>
            <a:ext cx="2971800" cy="1645920"/>
          </a:xfrm>
          <a:prstGeom prst="rect">
            <a:avLst/>
          </a:prstGeom>
          <a:noFill/>
          <a:ln/>
        </p:spPr>
        <p:txBody>
          <a:bodyPr wrap="square" lIns="0" tIns="0" rIns="0" bIns="0" rtlCol="0" anchor="t"/>
          <a:lstStyle/>
          <a:p>
            <a:pPr indent="0" marL="0">
              <a:lnSpc>
                <a:spcPts val="2000"/>
              </a:lnSpc>
              <a:buNone/>
            </a:pPr>
            <a:r>
              <a:rPr lang="en-US" sz="1150" dirty="0">
                <a:solidFill>
                  <a:srgbClr val="5F718C"/>
                </a:solidFill>
                <a:latin typeface="Calibri" pitchFamily="34" charset="0"/>
                <a:ea typeface="Calibri" pitchFamily="34" charset="-122"/>
                <a:cs typeface="Calibri" pitchFamily="34" charset="-120"/>
              </a:rPr>
              <a:t>Built and validated close to home:</a:t>
            </a:r>
            <a:endParaRPr lang="en-US" sz="1150" dirty="0"/>
          </a:p>
          <a:p>
            <a:pPr indent="0" marL="0">
              <a:lnSpc>
                <a:spcPts val="2000"/>
              </a:lnSpc>
              <a:buNone/>
            </a:pPr>
            <a:endParaRPr lang="en-US" sz="1150" dirty="0"/>
          </a:p>
          <a:p>
            <a:pPr indent="0" marL="0">
              <a:lnSpc>
                <a:spcPts val="2000"/>
              </a:lnSpc>
              <a:buNone/>
            </a:pPr>
            <a:r>
              <a:rPr lang="en-US" sz="1150" b="1" dirty="0">
                <a:solidFill>
                  <a:srgbClr val="22314D"/>
                </a:solidFill>
                <a:latin typeface="Calibri" pitchFamily="34" charset="0"/>
                <a:ea typeface="Calibri" pitchFamily="34" charset="-122"/>
                <a:cs typeface="Calibri" pitchFamily="34" charset="-120"/>
              </a:rPr>
              <a:t>Buzzfindr</a:t>
            </a:r>
            <a:pPr indent="0" marL="0">
              <a:lnSpc>
                <a:spcPts val="2000"/>
              </a:lnSpc>
              <a:buNone/>
            </a:pPr>
            <a:r>
              <a:rPr lang="en-US" sz="1150" dirty="0">
                <a:solidFill>
                  <a:srgbClr val="5F718C"/>
                </a:solidFill>
                <a:latin typeface="Calibri" pitchFamily="34" charset="0"/>
                <a:ea typeface="Calibri" pitchFamily="34" charset="-122"/>
                <a:cs typeface="Calibri" pitchFamily="34" charset="-120"/>
              </a:rPr>
              <a:t>  ·  Ontario, Canada</a:t>
            </a:r>
            <a:endParaRPr lang="en-US" sz="1150" dirty="0"/>
          </a:p>
          <a:p>
            <a:pPr indent="0" marL="0">
              <a:lnSpc>
                <a:spcPts val="2000"/>
              </a:lnSpc>
              <a:buNone/>
            </a:pPr>
            <a:r>
              <a:rPr lang="en-US" sz="1150" b="1" dirty="0">
                <a:solidFill>
                  <a:srgbClr val="22314D"/>
                </a:solidFill>
                <a:latin typeface="Calibri" pitchFamily="34" charset="0"/>
                <a:ea typeface="Calibri" pitchFamily="34" charset="-122"/>
                <a:cs typeface="Calibri" pitchFamily="34" charset="-120"/>
              </a:rPr>
              <a:t>BatBuddy</a:t>
            </a:r>
            <a:pPr indent="0" marL="0">
              <a:lnSpc>
                <a:spcPts val="2000"/>
              </a:lnSpc>
              <a:buNone/>
            </a:pPr>
            <a:r>
              <a:rPr lang="en-US" sz="1150" dirty="0">
                <a:solidFill>
                  <a:srgbClr val="5F718C"/>
                </a:solidFill>
                <a:latin typeface="Calibri" pitchFamily="34" charset="0"/>
                <a:ea typeface="Calibri" pitchFamily="34" charset="-122"/>
                <a:cs typeface="Calibri" pitchFamily="34" charset="-120"/>
              </a:rPr>
              <a:t>  ·  the Netherlands</a:t>
            </a:r>
            <a:endParaRPr lang="en-US" sz="1150" dirty="0"/>
          </a:p>
          <a:p>
            <a:pPr indent="0" marL="0">
              <a:lnSpc>
                <a:spcPts val="2000"/>
              </a:lnSpc>
              <a:buNone/>
            </a:pPr>
            <a:r>
              <a:rPr lang="en-US" sz="1150" b="1" dirty="0">
                <a:solidFill>
                  <a:srgbClr val="1E7A70"/>
                </a:solidFill>
                <a:latin typeface="Calibri" pitchFamily="34" charset="0"/>
                <a:ea typeface="Calibri" pitchFamily="34" charset="-122"/>
                <a:cs typeface="Calibri" pitchFamily="34" charset="-120"/>
              </a:rPr>
              <a:t>This field test</a:t>
            </a:r>
            <a:pPr indent="0" marL="0">
              <a:lnSpc>
                <a:spcPts val="2000"/>
              </a:lnSpc>
              <a:buNone/>
            </a:pPr>
            <a:r>
              <a:rPr lang="en-US" sz="1150" dirty="0">
                <a:solidFill>
                  <a:srgbClr val="1E7A70"/>
                </a:solidFill>
                <a:latin typeface="Calibri" pitchFamily="34" charset="0"/>
                <a:ea typeface="Calibri" pitchFamily="34" charset="-122"/>
                <a:cs typeface="Calibri" pitchFamily="34" charset="-120"/>
              </a:rPr>
              <a:t>  ·  Mara Triangle, Kenya</a:t>
            </a:r>
            <a:endParaRPr lang="en-US" sz="1150" dirty="0"/>
          </a:p>
        </p:txBody>
      </p:sp>
      <p:sp>
        <p:nvSpPr>
          <p:cNvPr id="32" name="Text 30"/>
          <p:cNvSpPr txBox="1"/>
          <p:nvPr/>
        </p:nvSpPr>
        <p:spPr>
          <a:xfrm>
            <a:off x="640080" y="5989320"/>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Spectral-statistics baseline, this study · F1 on the Ontario clips · random split vs the weakest of six held-out rounds.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uzz_strip.jpg">    </p:cNvPr>
          <p:cNvPicPr>
            <a:picLocks noChangeAspect="1"/>
          </p:cNvPicPr>
          <p:nvPr/>
        </p:nvPicPr>
        <p:blipFill>
          <a:blip r:embed="rId1">
            <a:alphaModFix amt="55000"/>
          </a:blip>
          <a:stretch>
            <a:fillRect/>
          </a:stretch>
        </p:blipFill>
        <p:spPr>
          <a:xfrm>
            <a:off x="0" y="5897880"/>
            <a:ext cx="12191695" cy="960120"/>
          </a:xfrm>
          <a:prstGeom prst="rect">
            <a:avLst/>
          </a:prstGeom>
        </p:spPr>
      </p:pic>
      <p:sp>
        <p:nvSpPr>
          <p:cNvPr id="3" name="Text 0"/>
          <p:cNvSpPr txBox="1"/>
          <p:nvPr/>
        </p:nvSpPr>
        <p:spPr>
          <a:xfrm>
            <a:off x="640080" y="1691640"/>
            <a:ext cx="2011680" cy="1371600"/>
          </a:xfrm>
          <a:prstGeom prst="rect">
            <a:avLst/>
          </a:prstGeom>
          <a:noFill/>
          <a:ln/>
        </p:spPr>
        <p:txBody>
          <a:bodyPr wrap="square" lIns="0" tIns="0" rIns="0" bIns="0" rtlCol="0" anchor="ctr"/>
          <a:lstStyle/>
          <a:p>
            <a:pPr indent="0" marL="0">
              <a:buNone/>
            </a:pPr>
            <a:r>
              <a:rPr lang="en-US" sz="9000" b="1" dirty="0">
                <a:solidFill>
                  <a:srgbClr val="F2A541"/>
                </a:solidFill>
                <a:latin typeface="Cambria" pitchFamily="34" charset="0"/>
                <a:ea typeface="Cambria" pitchFamily="34" charset="-122"/>
                <a:cs typeface="Cambria" pitchFamily="34" charset="-120"/>
              </a:rPr>
              <a:t>01</a:t>
            </a:r>
            <a:endParaRPr lang="en-US" sz="9000" dirty="0"/>
          </a:p>
        </p:txBody>
      </p:sp>
      <p:sp>
        <p:nvSpPr>
          <p:cNvPr id="4" name="Text 1"/>
          <p:cNvSpPr txBox="1"/>
          <p:nvPr/>
        </p:nvSpPr>
        <p:spPr>
          <a:xfrm>
            <a:off x="640080" y="2971800"/>
            <a:ext cx="9601200" cy="2194560"/>
          </a:xfrm>
          <a:prstGeom prst="rect">
            <a:avLst/>
          </a:prstGeom>
          <a:noFill/>
          <a:ln/>
        </p:spPr>
        <p:txBody>
          <a:bodyPr wrap="square" lIns="0" tIns="0" rIns="0" bIns="0" rtlCol="0" anchor="t"/>
          <a:lstStyle/>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Which way of describing</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the sound survives a site</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it has never heard?</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METHOD · QUESTION 1</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A detector never hears the sound</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What a representation is</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640080" y="2148840"/>
            <a:ext cx="3017520" cy="1783080"/>
          </a:xfrm>
          <a:prstGeom prst="roundRect">
            <a:avLst>
              <a:gd name="adj" fmla="val 3077"/>
            </a:avLst>
          </a:prstGeom>
          <a:solidFill>
            <a:srgbClr val="0E1B33"/>
          </a:solidFill>
          <a:ln w="12700">
            <a:solidFill>
              <a:srgbClr val="0E1B33"/>
            </a:solidFill>
            <a:prstDash val="solid"/>
          </a:ln>
        </p:spPr>
      </p:sp>
      <p:pic>
        <p:nvPicPr>
          <p:cNvPr id="7" name="Image 0" descr="/tmp/claude-0/-home-user-pgs/8689355c-e60c-59e2-8422-64ed5c528138/scratchpad/work/assets/buzz_spec.jpg">    </p:cNvPr>
          <p:cNvPicPr>
            <a:picLocks noChangeAspect="1"/>
          </p:cNvPicPr>
          <p:nvPr/>
        </p:nvPicPr>
        <p:blipFill>
          <a:blip r:embed="rId1"/>
          <a:stretch>
            <a:fillRect/>
          </a:stretch>
        </p:blipFill>
        <p:spPr>
          <a:xfrm>
            <a:off x="841248" y="2606040"/>
            <a:ext cx="2615184" cy="597129"/>
          </a:xfrm>
          <a:prstGeom prst="rect">
            <a:avLst/>
          </a:prstGeom>
        </p:spPr>
      </p:pic>
      <p:sp>
        <p:nvSpPr>
          <p:cNvPr id="8" name="Text 5"/>
          <p:cNvSpPr txBox="1"/>
          <p:nvPr/>
        </p:nvSpPr>
        <p:spPr>
          <a:xfrm>
            <a:off x="841248" y="2295144"/>
            <a:ext cx="2651760" cy="256032"/>
          </a:xfrm>
          <a:prstGeom prst="rect">
            <a:avLst/>
          </a:prstGeom>
          <a:noFill/>
          <a:ln/>
        </p:spPr>
        <p:txBody>
          <a:bodyPr wrap="square" lIns="0" tIns="0" rIns="0" bIns="0" rtlCol="0" anchor="ctr"/>
          <a:lstStyle/>
          <a:p>
            <a:pPr indent="0" marL="0">
              <a:buNone/>
            </a:pPr>
            <a:r>
              <a:rPr lang="en-US" sz="1050" b="1" spc="140" kern="0" dirty="0">
                <a:solidFill>
                  <a:srgbClr val="B3C4DC"/>
                </a:solidFill>
                <a:latin typeface="Calibri" pitchFamily="34" charset="0"/>
                <a:ea typeface="Calibri" pitchFamily="34" charset="-122"/>
                <a:cs typeface="Calibri" pitchFamily="34" charset="-120"/>
              </a:rPr>
              <a:t>THE RECORDING</a:t>
            </a:r>
            <a:endParaRPr lang="en-US" sz="1050" dirty="0"/>
          </a:p>
        </p:txBody>
      </p:sp>
      <p:sp>
        <p:nvSpPr>
          <p:cNvPr id="9" name="Text 6"/>
          <p:cNvSpPr txBox="1"/>
          <p:nvPr/>
        </p:nvSpPr>
        <p:spPr>
          <a:xfrm>
            <a:off x="640080" y="4059936"/>
            <a:ext cx="3017520" cy="274320"/>
          </a:xfrm>
          <a:prstGeom prst="rect">
            <a:avLst/>
          </a:prstGeom>
          <a:noFill/>
          <a:ln/>
        </p:spPr>
        <p:txBody>
          <a:bodyPr wrap="square" lIns="0" tIns="0" rIns="0" bIns="0" rtlCol="0" anchor="ctr"/>
          <a:lstStyle/>
          <a:p>
            <a:pPr algn="ctr" indent="0" marL="0">
              <a:buNone/>
            </a:pPr>
            <a:r>
              <a:rPr lang="en-US" sz="1200" dirty="0">
                <a:solidFill>
                  <a:srgbClr val="5F718C"/>
                </a:solidFill>
                <a:latin typeface="Calibri" pitchFamily="34" charset="0"/>
                <a:ea typeface="Calibri" pitchFamily="34" charset="-122"/>
                <a:cs typeface="Calibri" pitchFamily="34" charset="-120"/>
              </a:rPr>
              <a:t>what a bat actually did</a:t>
            </a:r>
            <a:endParaRPr lang="en-US" sz="1200" dirty="0"/>
          </a:p>
        </p:txBody>
      </p:sp>
      <p:sp>
        <p:nvSpPr>
          <p:cNvPr id="10" name="Shape 7"/>
          <p:cNvSpPr/>
          <p:nvPr/>
        </p:nvSpPr>
        <p:spPr>
          <a:xfrm>
            <a:off x="4343400" y="2148840"/>
            <a:ext cx="3017520" cy="1783080"/>
          </a:xfrm>
          <a:prstGeom prst="roundRect">
            <a:avLst>
              <a:gd name="adj" fmla="val 3077"/>
            </a:avLst>
          </a:prstGeom>
          <a:solidFill>
            <a:srgbClr val="FDF3E3"/>
          </a:solidFill>
          <a:ln w="25400">
            <a:solidFill>
              <a:srgbClr val="F2A541"/>
            </a:solidFill>
            <a:prstDash val="solid"/>
          </a:ln>
        </p:spPr>
      </p:sp>
      <p:sp>
        <p:nvSpPr>
          <p:cNvPr id="11" name="Text 8"/>
          <p:cNvSpPr txBox="1"/>
          <p:nvPr/>
        </p:nvSpPr>
        <p:spPr>
          <a:xfrm>
            <a:off x="4544568" y="2295144"/>
            <a:ext cx="2651760" cy="256032"/>
          </a:xfrm>
          <a:prstGeom prst="rect">
            <a:avLst/>
          </a:prstGeom>
          <a:noFill/>
          <a:ln/>
        </p:spPr>
        <p:txBody>
          <a:bodyPr wrap="square" lIns="0" tIns="0" rIns="0" bIns="0" rtlCol="0" anchor="ctr"/>
          <a:lstStyle/>
          <a:p>
            <a:pPr indent="0" marL="0">
              <a:buNone/>
            </a:pPr>
            <a:r>
              <a:rPr lang="en-US" sz="1050" b="1" spc="140" kern="0" dirty="0">
                <a:solidFill>
                  <a:srgbClr val="B9761E"/>
                </a:solidFill>
                <a:latin typeface="Calibri" pitchFamily="34" charset="0"/>
                <a:ea typeface="Calibri" pitchFamily="34" charset="-122"/>
                <a:cs typeface="Calibri" pitchFamily="34" charset="-120"/>
              </a:rPr>
              <a:t>THE REPRESENTATION</a:t>
            </a:r>
            <a:endParaRPr lang="en-US" sz="1050" dirty="0"/>
          </a:p>
        </p:txBody>
      </p:sp>
      <p:sp>
        <p:nvSpPr>
          <p:cNvPr id="12" name="Shape 9"/>
          <p:cNvSpPr/>
          <p:nvPr/>
        </p:nvSpPr>
        <p:spPr>
          <a:xfrm>
            <a:off x="4663440" y="2715768"/>
            <a:ext cx="246888" cy="182880"/>
          </a:xfrm>
          <a:prstGeom prst="rect">
            <a:avLst/>
          </a:prstGeom>
          <a:solidFill>
            <a:srgbClr val="F2A541"/>
          </a:solidFill>
          <a:ln w="12700">
            <a:solidFill>
              <a:srgbClr val="FFFFFF"/>
            </a:solidFill>
            <a:prstDash val="solid"/>
          </a:ln>
        </p:spPr>
      </p:sp>
      <p:sp>
        <p:nvSpPr>
          <p:cNvPr id="13" name="Shape 10"/>
          <p:cNvSpPr/>
          <p:nvPr/>
        </p:nvSpPr>
        <p:spPr>
          <a:xfrm>
            <a:off x="5001768" y="2715768"/>
            <a:ext cx="246888" cy="182880"/>
          </a:xfrm>
          <a:prstGeom prst="rect">
            <a:avLst/>
          </a:prstGeom>
          <a:solidFill>
            <a:srgbClr val="EBC489"/>
          </a:solidFill>
          <a:ln w="12700">
            <a:solidFill>
              <a:srgbClr val="FFFFFF"/>
            </a:solidFill>
            <a:prstDash val="solid"/>
          </a:ln>
        </p:spPr>
      </p:sp>
      <p:sp>
        <p:nvSpPr>
          <p:cNvPr id="14" name="Shape 11"/>
          <p:cNvSpPr/>
          <p:nvPr/>
        </p:nvSpPr>
        <p:spPr>
          <a:xfrm>
            <a:off x="5340096" y="2715768"/>
            <a:ext cx="246888" cy="182880"/>
          </a:xfrm>
          <a:prstGeom prst="rect">
            <a:avLst/>
          </a:prstGeom>
          <a:solidFill>
            <a:srgbClr val="F7DFBB"/>
          </a:solidFill>
          <a:ln w="12700">
            <a:solidFill>
              <a:srgbClr val="FFFFFF"/>
            </a:solidFill>
            <a:prstDash val="solid"/>
          </a:ln>
        </p:spPr>
      </p:sp>
      <p:sp>
        <p:nvSpPr>
          <p:cNvPr id="15" name="Shape 12"/>
          <p:cNvSpPr/>
          <p:nvPr/>
        </p:nvSpPr>
        <p:spPr>
          <a:xfrm>
            <a:off x="5678424" y="2715768"/>
            <a:ext cx="246888" cy="182880"/>
          </a:xfrm>
          <a:prstGeom prst="rect">
            <a:avLst/>
          </a:prstGeom>
          <a:solidFill>
            <a:srgbClr val="F2A541"/>
          </a:solidFill>
          <a:ln w="12700">
            <a:solidFill>
              <a:srgbClr val="FFFFFF"/>
            </a:solidFill>
            <a:prstDash val="solid"/>
          </a:ln>
        </p:spPr>
      </p:sp>
      <p:sp>
        <p:nvSpPr>
          <p:cNvPr id="16" name="Shape 13"/>
          <p:cNvSpPr/>
          <p:nvPr/>
        </p:nvSpPr>
        <p:spPr>
          <a:xfrm>
            <a:off x="6016752" y="2715768"/>
            <a:ext cx="246888" cy="182880"/>
          </a:xfrm>
          <a:prstGeom prst="rect">
            <a:avLst/>
          </a:prstGeom>
          <a:solidFill>
            <a:srgbClr val="EBC489"/>
          </a:solidFill>
          <a:ln w="12700">
            <a:solidFill>
              <a:srgbClr val="FFFFFF"/>
            </a:solidFill>
            <a:prstDash val="solid"/>
          </a:ln>
        </p:spPr>
      </p:sp>
      <p:sp>
        <p:nvSpPr>
          <p:cNvPr id="17" name="Shape 14"/>
          <p:cNvSpPr/>
          <p:nvPr/>
        </p:nvSpPr>
        <p:spPr>
          <a:xfrm>
            <a:off x="6355080" y="2715768"/>
            <a:ext cx="246888" cy="182880"/>
          </a:xfrm>
          <a:prstGeom prst="rect">
            <a:avLst/>
          </a:prstGeom>
          <a:solidFill>
            <a:srgbClr val="F7DFBB"/>
          </a:solidFill>
          <a:ln w="12700">
            <a:solidFill>
              <a:srgbClr val="FFFFFF"/>
            </a:solidFill>
            <a:prstDash val="solid"/>
          </a:ln>
        </p:spPr>
      </p:sp>
      <p:sp>
        <p:nvSpPr>
          <p:cNvPr id="18" name="Shape 15"/>
          <p:cNvSpPr/>
          <p:nvPr/>
        </p:nvSpPr>
        <p:spPr>
          <a:xfrm>
            <a:off x="6693408" y="2715768"/>
            <a:ext cx="246888" cy="182880"/>
          </a:xfrm>
          <a:prstGeom prst="rect">
            <a:avLst/>
          </a:prstGeom>
          <a:solidFill>
            <a:srgbClr val="F2A541"/>
          </a:solidFill>
          <a:ln w="12700">
            <a:solidFill>
              <a:srgbClr val="FFFFFF"/>
            </a:solidFill>
            <a:prstDash val="solid"/>
          </a:ln>
        </p:spPr>
      </p:sp>
      <p:sp>
        <p:nvSpPr>
          <p:cNvPr id="19" name="Shape 16"/>
          <p:cNvSpPr/>
          <p:nvPr/>
        </p:nvSpPr>
        <p:spPr>
          <a:xfrm>
            <a:off x="4663440" y="2990088"/>
            <a:ext cx="246888" cy="182880"/>
          </a:xfrm>
          <a:prstGeom prst="rect">
            <a:avLst/>
          </a:prstGeom>
          <a:solidFill>
            <a:srgbClr val="EBC489"/>
          </a:solidFill>
          <a:ln w="12700">
            <a:solidFill>
              <a:srgbClr val="FFFFFF"/>
            </a:solidFill>
            <a:prstDash val="solid"/>
          </a:ln>
        </p:spPr>
      </p:sp>
      <p:sp>
        <p:nvSpPr>
          <p:cNvPr id="20" name="Shape 17"/>
          <p:cNvSpPr/>
          <p:nvPr/>
        </p:nvSpPr>
        <p:spPr>
          <a:xfrm>
            <a:off x="5001768" y="2990088"/>
            <a:ext cx="246888" cy="182880"/>
          </a:xfrm>
          <a:prstGeom prst="rect">
            <a:avLst/>
          </a:prstGeom>
          <a:solidFill>
            <a:srgbClr val="F7DFBB"/>
          </a:solidFill>
          <a:ln w="12700">
            <a:solidFill>
              <a:srgbClr val="FFFFFF"/>
            </a:solidFill>
            <a:prstDash val="solid"/>
          </a:ln>
        </p:spPr>
      </p:sp>
      <p:sp>
        <p:nvSpPr>
          <p:cNvPr id="21" name="Shape 18"/>
          <p:cNvSpPr/>
          <p:nvPr/>
        </p:nvSpPr>
        <p:spPr>
          <a:xfrm>
            <a:off x="5340096" y="2990088"/>
            <a:ext cx="246888" cy="182880"/>
          </a:xfrm>
          <a:prstGeom prst="rect">
            <a:avLst/>
          </a:prstGeom>
          <a:solidFill>
            <a:srgbClr val="F2A541"/>
          </a:solidFill>
          <a:ln w="12700">
            <a:solidFill>
              <a:srgbClr val="FFFFFF"/>
            </a:solidFill>
            <a:prstDash val="solid"/>
          </a:ln>
        </p:spPr>
      </p:sp>
      <p:sp>
        <p:nvSpPr>
          <p:cNvPr id="22" name="Shape 19"/>
          <p:cNvSpPr/>
          <p:nvPr/>
        </p:nvSpPr>
        <p:spPr>
          <a:xfrm>
            <a:off x="5678424" y="2990088"/>
            <a:ext cx="246888" cy="182880"/>
          </a:xfrm>
          <a:prstGeom prst="rect">
            <a:avLst/>
          </a:prstGeom>
          <a:solidFill>
            <a:srgbClr val="EBC489"/>
          </a:solidFill>
          <a:ln w="12700">
            <a:solidFill>
              <a:srgbClr val="FFFFFF"/>
            </a:solidFill>
            <a:prstDash val="solid"/>
          </a:ln>
        </p:spPr>
      </p:sp>
      <p:sp>
        <p:nvSpPr>
          <p:cNvPr id="23" name="Shape 20"/>
          <p:cNvSpPr/>
          <p:nvPr/>
        </p:nvSpPr>
        <p:spPr>
          <a:xfrm>
            <a:off x="6016752" y="2990088"/>
            <a:ext cx="246888" cy="182880"/>
          </a:xfrm>
          <a:prstGeom prst="rect">
            <a:avLst/>
          </a:prstGeom>
          <a:solidFill>
            <a:srgbClr val="F7DFBB"/>
          </a:solidFill>
          <a:ln w="12700">
            <a:solidFill>
              <a:srgbClr val="FFFFFF"/>
            </a:solidFill>
            <a:prstDash val="solid"/>
          </a:ln>
        </p:spPr>
      </p:sp>
      <p:sp>
        <p:nvSpPr>
          <p:cNvPr id="24" name="Shape 21"/>
          <p:cNvSpPr/>
          <p:nvPr/>
        </p:nvSpPr>
        <p:spPr>
          <a:xfrm>
            <a:off x="6355080" y="2990088"/>
            <a:ext cx="246888" cy="182880"/>
          </a:xfrm>
          <a:prstGeom prst="rect">
            <a:avLst/>
          </a:prstGeom>
          <a:solidFill>
            <a:srgbClr val="F2A541"/>
          </a:solidFill>
          <a:ln w="12700">
            <a:solidFill>
              <a:srgbClr val="FFFFFF"/>
            </a:solidFill>
            <a:prstDash val="solid"/>
          </a:ln>
        </p:spPr>
      </p:sp>
      <p:sp>
        <p:nvSpPr>
          <p:cNvPr id="25" name="Shape 22"/>
          <p:cNvSpPr/>
          <p:nvPr/>
        </p:nvSpPr>
        <p:spPr>
          <a:xfrm>
            <a:off x="6693408" y="2990088"/>
            <a:ext cx="246888" cy="182880"/>
          </a:xfrm>
          <a:prstGeom prst="rect">
            <a:avLst/>
          </a:prstGeom>
          <a:solidFill>
            <a:srgbClr val="EBC489"/>
          </a:solidFill>
          <a:ln w="12700">
            <a:solidFill>
              <a:srgbClr val="FFFFFF"/>
            </a:solidFill>
            <a:prstDash val="solid"/>
          </a:ln>
        </p:spPr>
      </p:sp>
      <p:sp>
        <p:nvSpPr>
          <p:cNvPr id="26" name="Shape 23"/>
          <p:cNvSpPr/>
          <p:nvPr/>
        </p:nvSpPr>
        <p:spPr>
          <a:xfrm>
            <a:off x="4663440" y="3264408"/>
            <a:ext cx="246888" cy="182880"/>
          </a:xfrm>
          <a:prstGeom prst="rect">
            <a:avLst/>
          </a:prstGeom>
          <a:solidFill>
            <a:srgbClr val="F7DFBB"/>
          </a:solidFill>
          <a:ln w="12700">
            <a:solidFill>
              <a:srgbClr val="FFFFFF"/>
            </a:solidFill>
            <a:prstDash val="solid"/>
          </a:ln>
        </p:spPr>
      </p:sp>
      <p:sp>
        <p:nvSpPr>
          <p:cNvPr id="27" name="Shape 24"/>
          <p:cNvSpPr/>
          <p:nvPr/>
        </p:nvSpPr>
        <p:spPr>
          <a:xfrm>
            <a:off x="5001768" y="3264408"/>
            <a:ext cx="246888" cy="182880"/>
          </a:xfrm>
          <a:prstGeom prst="rect">
            <a:avLst/>
          </a:prstGeom>
          <a:solidFill>
            <a:srgbClr val="F2A541"/>
          </a:solidFill>
          <a:ln w="12700">
            <a:solidFill>
              <a:srgbClr val="FFFFFF"/>
            </a:solidFill>
            <a:prstDash val="solid"/>
          </a:ln>
        </p:spPr>
      </p:sp>
      <p:sp>
        <p:nvSpPr>
          <p:cNvPr id="28" name="Shape 25"/>
          <p:cNvSpPr/>
          <p:nvPr/>
        </p:nvSpPr>
        <p:spPr>
          <a:xfrm>
            <a:off x="5340096" y="3264408"/>
            <a:ext cx="246888" cy="182880"/>
          </a:xfrm>
          <a:prstGeom prst="rect">
            <a:avLst/>
          </a:prstGeom>
          <a:solidFill>
            <a:srgbClr val="EBC489"/>
          </a:solidFill>
          <a:ln w="12700">
            <a:solidFill>
              <a:srgbClr val="FFFFFF"/>
            </a:solidFill>
            <a:prstDash val="solid"/>
          </a:ln>
        </p:spPr>
      </p:sp>
      <p:sp>
        <p:nvSpPr>
          <p:cNvPr id="29" name="Shape 26"/>
          <p:cNvSpPr/>
          <p:nvPr/>
        </p:nvSpPr>
        <p:spPr>
          <a:xfrm>
            <a:off x="5678424" y="3264408"/>
            <a:ext cx="246888" cy="182880"/>
          </a:xfrm>
          <a:prstGeom prst="rect">
            <a:avLst/>
          </a:prstGeom>
          <a:solidFill>
            <a:srgbClr val="F7DFBB"/>
          </a:solidFill>
          <a:ln w="12700">
            <a:solidFill>
              <a:srgbClr val="FFFFFF"/>
            </a:solidFill>
            <a:prstDash val="solid"/>
          </a:ln>
        </p:spPr>
      </p:sp>
      <p:sp>
        <p:nvSpPr>
          <p:cNvPr id="30" name="Shape 27"/>
          <p:cNvSpPr/>
          <p:nvPr/>
        </p:nvSpPr>
        <p:spPr>
          <a:xfrm>
            <a:off x="6016752" y="3264408"/>
            <a:ext cx="246888" cy="182880"/>
          </a:xfrm>
          <a:prstGeom prst="rect">
            <a:avLst/>
          </a:prstGeom>
          <a:solidFill>
            <a:srgbClr val="F2A541"/>
          </a:solidFill>
          <a:ln w="12700">
            <a:solidFill>
              <a:srgbClr val="FFFFFF"/>
            </a:solidFill>
            <a:prstDash val="solid"/>
          </a:ln>
        </p:spPr>
      </p:sp>
      <p:sp>
        <p:nvSpPr>
          <p:cNvPr id="31" name="Shape 28"/>
          <p:cNvSpPr/>
          <p:nvPr/>
        </p:nvSpPr>
        <p:spPr>
          <a:xfrm>
            <a:off x="6355080" y="3264408"/>
            <a:ext cx="246888" cy="182880"/>
          </a:xfrm>
          <a:prstGeom prst="rect">
            <a:avLst/>
          </a:prstGeom>
          <a:solidFill>
            <a:srgbClr val="EBC489"/>
          </a:solidFill>
          <a:ln w="12700">
            <a:solidFill>
              <a:srgbClr val="FFFFFF"/>
            </a:solidFill>
            <a:prstDash val="solid"/>
          </a:ln>
        </p:spPr>
      </p:sp>
      <p:sp>
        <p:nvSpPr>
          <p:cNvPr id="32" name="Shape 29"/>
          <p:cNvSpPr/>
          <p:nvPr/>
        </p:nvSpPr>
        <p:spPr>
          <a:xfrm>
            <a:off x="6693408" y="3264408"/>
            <a:ext cx="246888" cy="182880"/>
          </a:xfrm>
          <a:prstGeom prst="rect">
            <a:avLst/>
          </a:prstGeom>
          <a:solidFill>
            <a:srgbClr val="F7DFBB"/>
          </a:solidFill>
          <a:ln w="12700">
            <a:solidFill>
              <a:srgbClr val="FFFFFF"/>
            </a:solidFill>
            <a:prstDash val="solid"/>
          </a:ln>
        </p:spPr>
      </p:sp>
      <p:sp>
        <p:nvSpPr>
          <p:cNvPr id="33" name="Shape 30"/>
          <p:cNvSpPr/>
          <p:nvPr/>
        </p:nvSpPr>
        <p:spPr>
          <a:xfrm>
            <a:off x="4663440" y="3538728"/>
            <a:ext cx="246888" cy="182880"/>
          </a:xfrm>
          <a:prstGeom prst="rect">
            <a:avLst/>
          </a:prstGeom>
          <a:solidFill>
            <a:srgbClr val="F2A541"/>
          </a:solidFill>
          <a:ln w="12700">
            <a:solidFill>
              <a:srgbClr val="FFFFFF"/>
            </a:solidFill>
            <a:prstDash val="solid"/>
          </a:ln>
        </p:spPr>
      </p:sp>
      <p:sp>
        <p:nvSpPr>
          <p:cNvPr id="34" name="Shape 31"/>
          <p:cNvSpPr/>
          <p:nvPr/>
        </p:nvSpPr>
        <p:spPr>
          <a:xfrm>
            <a:off x="5001768" y="3538728"/>
            <a:ext cx="246888" cy="182880"/>
          </a:xfrm>
          <a:prstGeom prst="rect">
            <a:avLst/>
          </a:prstGeom>
          <a:solidFill>
            <a:srgbClr val="EBC489"/>
          </a:solidFill>
          <a:ln w="12700">
            <a:solidFill>
              <a:srgbClr val="FFFFFF"/>
            </a:solidFill>
            <a:prstDash val="solid"/>
          </a:ln>
        </p:spPr>
      </p:sp>
      <p:sp>
        <p:nvSpPr>
          <p:cNvPr id="35" name="Shape 32"/>
          <p:cNvSpPr/>
          <p:nvPr/>
        </p:nvSpPr>
        <p:spPr>
          <a:xfrm>
            <a:off x="5340096" y="3538728"/>
            <a:ext cx="246888" cy="182880"/>
          </a:xfrm>
          <a:prstGeom prst="rect">
            <a:avLst/>
          </a:prstGeom>
          <a:solidFill>
            <a:srgbClr val="F7DFBB"/>
          </a:solidFill>
          <a:ln w="12700">
            <a:solidFill>
              <a:srgbClr val="FFFFFF"/>
            </a:solidFill>
            <a:prstDash val="solid"/>
          </a:ln>
        </p:spPr>
      </p:sp>
      <p:sp>
        <p:nvSpPr>
          <p:cNvPr id="36" name="Shape 33"/>
          <p:cNvSpPr/>
          <p:nvPr/>
        </p:nvSpPr>
        <p:spPr>
          <a:xfrm>
            <a:off x="5678424" y="3538728"/>
            <a:ext cx="246888" cy="182880"/>
          </a:xfrm>
          <a:prstGeom prst="rect">
            <a:avLst/>
          </a:prstGeom>
          <a:solidFill>
            <a:srgbClr val="F2A541"/>
          </a:solidFill>
          <a:ln w="12700">
            <a:solidFill>
              <a:srgbClr val="FFFFFF"/>
            </a:solidFill>
            <a:prstDash val="solid"/>
          </a:ln>
        </p:spPr>
      </p:sp>
      <p:sp>
        <p:nvSpPr>
          <p:cNvPr id="37" name="Shape 34"/>
          <p:cNvSpPr/>
          <p:nvPr/>
        </p:nvSpPr>
        <p:spPr>
          <a:xfrm>
            <a:off x="6016752" y="3538728"/>
            <a:ext cx="246888" cy="182880"/>
          </a:xfrm>
          <a:prstGeom prst="rect">
            <a:avLst/>
          </a:prstGeom>
          <a:solidFill>
            <a:srgbClr val="EBC489"/>
          </a:solidFill>
          <a:ln w="12700">
            <a:solidFill>
              <a:srgbClr val="FFFFFF"/>
            </a:solidFill>
            <a:prstDash val="solid"/>
          </a:ln>
        </p:spPr>
      </p:sp>
      <p:sp>
        <p:nvSpPr>
          <p:cNvPr id="38" name="Shape 35"/>
          <p:cNvSpPr/>
          <p:nvPr/>
        </p:nvSpPr>
        <p:spPr>
          <a:xfrm>
            <a:off x="6355080" y="3538728"/>
            <a:ext cx="246888" cy="182880"/>
          </a:xfrm>
          <a:prstGeom prst="rect">
            <a:avLst/>
          </a:prstGeom>
          <a:solidFill>
            <a:srgbClr val="F7DFBB"/>
          </a:solidFill>
          <a:ln w="12700">
            <a:solidFill>
              <a:srgbClr val="FFFFFF"/>
            </a:solidFill>
            <a:prstDash val="solid"/>
          </a:ln>
        </p:spPr>
      </p:sp>
      <p:sp>
        <p:nvSpPr>
          <p:cNvPr id="39" name="Shape 36"/>
          <p:cNvSpPr/>
          <p:nvPr/>
        </p:nvSpPr>
        <p:spPr>
          <a:xfrm>
            <a:off x="6693408" y="3538728"/>
            <a:ext cx="246888" cy="182880"/>
          </a:xfrm>
          <a:prstGeom prst="rect">
            <a:avLst/>
          </a:prstGeom>
          <a:solidFill>
            <a:srgbClr val="F2A541"/>
          </a:solidFill>
          <a:ln w="12700">
            <a:solidFill>
              <a:srgbClr val="FFFFFF"/>
            </a:solidFill>
            <a:prstDash val="solid"/>
          </a:ln>
        </p:spPr>
      </p:sp>
      <p:sp>
        <p:nvSpPr>
          <p:cNvPr id="40" name="Text 37"/>
          <p:cNvSpPr txBox="1"/>
          <p:nvPr/>
        </p:nvSpPr>
        <p:spPr>
          <a:xfrm>
            <a:off x="4343400" y="4059936"/>
            <a:ext cx="3017520" cy="274320"/>
          </a:xfrm>
          <a:prstGeom prst="rect">
            <a:avLst/>
          </a:prstGeom>
          <a:noFill/>
          <a:ln/>
        </p:spPr>
        <p:txBody>
          <a:bodyPr wrap="square" lIns="0" tIns="0" rIns="0" bIns="0" rtlCol="0" anchor="ctr"/>
          <a:lstStyle/>
          <a:p>
            <a:pPr algn="ctr" indent="0" marL="0">
              <a:buNone/>
            </a:pPr>
            <a:r>
              <a:rPr lang="en-US" sz="1200" b="1" dirty="0">
                <a:solidFill>
                  <a:srgbClr val="B9761E"/>
                </a:solidFill>
                <a:latin typeface="Calibri" pitchFamily="34" charset="0"/>
                <a:ea typeface="Calibri" pitchFamily="34" charset="-122"/>
                <a:cs typeface="Calibri" pitchFamily="34" charset="-120"/>
              </a:rPr>
              <a:t>a list of numbers</a:t>
            </a:r>
            <a:endParaRPr lang="en-US" sz="1200" dirty="0"/>
          </a:p>
        </p:txBody>
      </p:sp>
      <p:sp>
        <p:nvSpPr>
          <p:cNvPr id="41" name="Shape 38"/>
          <p:cNvSpPr/>
          <p:nvPr/>
        </p:nvSpPr>
        <p:spPr>
          <a:xfrm>
            <a:off x="8046720" y="2148840"/>
            <a:ext cx="3017520" cy="1783080"/>
          </a:xfrm>
          <a:prstGeom prst="roundRect">
            <a:avLst>
              <a:gd name="adj" fmla="val 3077"/>
            </a:avLst>
          </a:prstGeom>
          <a:solidFill>
            <a:srgbClr val="F2F5F9"/>
          </a:solidFill>
          <a:ln w="12700">
            <a:solidFill>
              <a:srgbClr val="D5DEEA"/>
            </a:solidFill>
            <a:prstDash val="solid"/>
          </a:ln>
        </p:spPr>
      </p:sp>
      <p:sp>
        <p:nvSpPr>
          <p:cNvPr id="42" name="Text 39"/>
          <p:cNvSpPr txBox="1"/>
          <p:nvPr/>
        </p:nvSpPr>
        <p:spPr>
          <a:xfrm>
            <a:off x="8247888" y="2295144"/>
            <a:ext cx="2651760" cy="256032"/>
          </a:xfrm>
          <a:prstGeom prst="rect">
            <a:avLst/>
          </a:prstGeom>
          <a:noFill/>
          <a:ln/>
        </p:spPr>
        <p:txBody>
          <a:bodyPr wrap="square" lIns="0" tIns="0" rIns="0" bIns="0" rtlCol="0" anchor="ctr"/>
          <a:lstStyle/>
          <a:p>
            <a:pPr indent="0" marL="0">
              <a:buNone/>
            </a:pPr>
            <a:r>
              <a:rPr lang="en-US" sz="1050" b="1" spc="140" kern="0" dirty="0">
                <a:solidFill>
                  <a:srgbClr val="1E7A70"/>
                </a:solidFill>
                <a:latin typeface="Calibri" pitchFamily="34" charset="0"/>
                <a:ea typeface="Calibri" pitchFamily="34" charset="-122"/>
                <a:cs typeface="Calibri" pitchFamily="34" charset="-120"/>
              </a:rPr>
              <a:t>THE DETECTOR</a:t>
            </a:r>
            <a:endParaRPr lang="en-US" sz="1050" dirty="0"/>
          </a:p>
        </p:txBody>
      </p:sp>
      <p:sp>
        <p:nvSpPr>
          <p:cNvPr id="43" name="Shape 40"/>
          <p:cNvSpPr/>
          <p:nvPr/>
        </p:nvSpPr>
        <p:spPr>
          <a:xfrm>
            <a:off x="8458200" y="2770632"/>
            <a:ext cx="2194560" cy="438912"/>
          </a:xfrm>
          <a:prstGeom prst="roundRect">
            <a:avLst>
              <a:gd name="adj" fmla="val 16667"/>
            </a:avLst>
          </a:prstGeom>
          <a:solidFill>
            <a:srgbClr val="FFFFFF"/>
          </a:solidFill>
          <a:ln w="25400">
            <a:solidFill>
              <a:srgbClr val="1E7A70"/>
            </a:solidFill>
            <a:prstDash val="solid"/>
          </a:ln>
        </p:spPr>
      </p:sp>
      <p:sp>
        <p:nvSpPr>
          <p:cNvPr id="44" name="Text 41"/>
          <p:cNvSpPr txBox="1"/>
          <p:nvPr/>
        </p:nvSpPr>
        <p:spPr>
          <a:xfrm>
            <a:off x="8458200" y="2770632"/>
            <a:ext cx="2194560" cy="438912"/>
          </a:xfrm>
          <a:prstGeom prst="rect">
            <a:avLst/>
          </a:prstGeom>
          <a:noFill/>
          <a:ln/>
        </p:spPr>
        <p:txBody>
          <a:bodyPr wrap="square" lIns="0" tIns="0" rIns="0" bIns="0" rtlCol="0" anchor="ctr"/>
          <a:lstStyle/>
          <a:p>
            <a:pPr algn="ctr" indent="0" marL="0">
              <a:buNone/>
            </a:pPr>
            <a:r>
              <a:rPr lang="en-US" sz="1350" b="1" dirty="0">
                <a:solidFill>
                  <a:srgbClr val="1E7A70"/>
                </a:solidFill>
                <a:latin typeface="Calibri" pitchFamily="34" charset="0"/>
                <a:ea typeface="Calibri" pitchFamily="34" charset="-122"/>
                <a:cs typeface="Calibri" pitchFamily="34" charset="-120"/>
              </a:rPr>
              <a:t>buzz</a:t>
            </a:r>
            <a:endParaRPr lang="en-US" sz="1350" dirty="0"/>
          </a:p>
        </p:txBody>
      </p:sp>
      <p:sp>
        <p:nvSpPr>
          <p:cNvPr id="45" name="Shape 42"/>
          <p:cNvSpPr/>
          <p:nvPr/>
        </p:nvSpPr>
        <p:spPr>
          <a:xfrm>
            <a:off x="8458200" y="3337560"/>
            <a:ext cx="2194560" cy="438912"/>
          </a:xfrm>
          <a:prstGeom prst="roundRect">
            <a:avLst>
              <a:gd name="adj" fmla="val 16667"/>
            </a:avLst>
          </a:prstGeom>
          <a:solidFill>
            <a:srgbClr val="FFFFFF"/>
          </a:solidFill>
          <a:ln w="12700">
            <a:solidFill>
              <a:srgbClr val="5F718C"/>
            </a:solidFill>
            <a:prstDash val="solid"/>
          </a:ln>
        </p:spPr>
      </p:sp>
      <p:sp>
        <p:nvSpPr>
          <p:cNvPr id="46" name="Text 43"/>
          <p:cNvSpPr txBox="1"/>
          <p:nvPr/>
        </p:nvSpPr>
        <p:spPr>
          <a:xfrm>
            <a:off x="8458200" y="3337560"/>
            <a:ext cx="2194560" cy="438912"/>
          </a:xfrm>
          <a:prstGeom prst="rect">
            <a:avLst/>
          </a:prstGeom>
          <a:noFill/>
          <a:ln/>
        </p:spPr>
        <p:txBody>
          <a:bodyPr wrap="square" lIns="0" tIns="0" rIns="0" bIns="0" rtlCol="0" anchor="ctr"/>
          <a:lstStyle/>
          <a:p>
            <a:pPr algn="ctr" indent="0" marL="0">
              <a:buNone/>
            </a:pPr>
            <a:r>
              <a:rPr lang="en-US" sz="1350" dirty="0">
                <a:solidFill>
                  <a:srgbClr val="5F718C"/>
                </a:solidFill>
                <a:latin typeface="Calibri" pitchFamily="34" charset="0"/>
                <a:ea typeface="Calibri" pitchFamily="34" charset="-122"/>
                <a:cs typeface="Calibri" pitchFamily="34" charset="-120"/>
              </a:rPr>
              <a:t>not a buzz</a:t>
            </a:r>
            <a:endParaRPr lang="en-US" sz="1350" dirty="0"/>
          </a:p>
        </p:txBody>
      </p:sp>
      <p:sp>
        <p:nvSpPr>
          <p:cNvPr id="47" name="Text 44"/>
          <p:cNvSpPr txBox="1"/>
          <p:nvPr/>
        </p:nvSpPr>
        <p:spPr>
          <a:xfrm>
            <a:off x="8046720" y="4059936"/>
            <a:ext cx="3017520" cy="274320"/>
          </a:xfrm>
          <a:prstGeom prst="rect">
            <a:avLst/>
          </a:prstGeom>
          <a:noFill/>
          <a:ln/>
        </p:spPr>
        <p:txBody>
          <a:bodyPr wrap="square" lIns="0" tIns="0" rIns="0" bIns="0" rtlCol="0" anchor="ctr"/>
          <a:lstStyle/>
          <a:p>
            <a:pPr algn="ctr" indent="0" marL="0">
              <a:buNone/>
            </a:pPr>
            <a:r>
              <a:rPr lang="en-US" sz="1200" dirty="0">
                <a:solidFill>
                  <a:srgbClr val="5F718C"/>
                </a:solidFill>
                <a:latin typeface="Calibri" pitchFamily="34" charset="0"/>
                <a:ea typeface="Calibri" pitchFamily="34" charset="-122"/>
                <a:cs typeface="Calibri" pitchFamily="34" charset="-120"/>
              </a:rPr>
              <a:t>one decision per window</a:t>
            </a:r>
            <a:endParaRPr lang="en-US" sz="1200" dirty="0"/>
          </a:p>
        </p:txBody>
      </p:sp>
      <p:sp>
        <p:nvSpPr>
          <p:cNvPr id="48" name="Text 45"/>
          <p:cNvSpPr txBox="1"/>
          <p:nvPr/>
        </p:nvSpPr>
        <p:spPr>
          <a:xfrm>
            <a:off x="3767328" y="2148840"/>
            <a:ext cx="502920" cy="1783080"/>
          </a:xfrm>
          <a:prstGeom prst="rect">
            <a:avLst/>
          </a:prstGeom>
          <a:noFill/>
          <a:ln/>
        </p:spPr>
        <p:txBody>
          <a:bodyPr wrap="square" lIns="0" tIns="0" rIns="0" bIns="0" rtlCol="0" anchor="ctr"/>
          <a:lstStyle/>
          <a:p>
            <a:pPr algn="ctr" indent="0" marL="0">
              <a:buNone/>
            </a:pPr>
            <a:r>
              <a:rPr lang="en-US" sz="2400" dirty="0">
                <a:solidFill>
                  <a:srgbClr val="D5DEEA"/>
                </a:solidFill>
                <a:latin typeface="Calibri" pitchFamily="34" charset="0"/>
                <a:ea typeface="Calibri" pitchFamily="34" charset="-122"/>
                <a:cs typeface="Calibri" pitchFamily="34" charset="-120"/>
              </a:rPr>
              <a:t>→</a:t>
            </a:r>
            <a:endParaRPr lang="en-US" sz="2400" dirty="0"/>
          </a:p>
        </p:txBody>
      </p:sp>
      <p:sp>
        <p:nvSpPr>
          <p:cNvPr id="49" name="Text 46"/>
          <p:cNvSpPr txBox="1"/>
          <p:nvPr/>
        </p:nvSpPr>
        <p:spPr>
          <a:xfrm>
            <a:off x="7470648" y="2148840"/>
            <a:ext cx="502920" cy="1783080"/>
          </a:xfrm>
          <a:prstGeom prst="rect">
            <a:avLst/>
          </a:prstGeom>
          <a:noFill/>
          <a:ln/>
        </p:spPr>
        <p:txBody>
          <a:bodyPr wrap="square" lIns="0" tIns="0" rIns="0" bIns="0" rtlCol="0" anchor="ctr"/>
          <a:lstStyle/>
          <a:p>
            <a:pPr algn="ctr" indent="0" marL="0">
              <a:buNone/>
            </a:pPr>
            <a:r>
              <a:rPr lang="en-US" sz="2400" dirty="0">
                <a:solidFill>
                  <a:srgbClr val="D5DEEA"/>
                </a:solidFill>
                <a:latin typeface="Calibri" pitchFamily="34" charset="0"/>
                <a:ea typeface="Calibri" pitchFamily="34" charset="-122"/>
                <a:cs typeface="Calibri" pitchFamily="34" charset="-120"/>
              </a:rPr>
              <a:t>→</a:t>
            </a:r>
            <a:endParaRPr lang="en-US" sz="2400" dirty="0"/>
          </a:p>
        </p:txBody>
      </p:sp>
      <p:sp>
        <p:nvSpPr>
          <p:cNvPr id="50" name="Shape 47"/>
          <p:cNvSpPr/>
          <p:nvPr/>
        </p:nvSpPr>
        <p:spPr>
          <a:xfrm>
            <a:off x="640080" y="5074920"/>
            <a:ext cx="10911535" cy="566928"/>
          </a:xfrm>
          <a:prstGeom prst="roundRect">
            <a:avLst>
              <a:gd name="adj" fmla="val 9677"/>
            </a:avLst>
          </a:prstGeom>
          <a:solidFill>
            <a:srgbClr val="0E1B33"/>
          </a:solidFill>
          <a:ln w="12700">
            <a:solidFill>
              <a:srgbClr val="0E1B33"/>
            </a:solidFill>
            <a:prstDash val="solid"/>
          </a:ln>
        </p:spPr>
      </p:sp>
      <p:sp>
        <p:nvSpPr>
          <p:cNvPr id="51" name="Text 48"/>
          <p:cNvSpPr txBox="1"/>
          <p:nvPr/>
        </p:nvSpPr>
        <p:spPr>
          <a:xfrm>
            <a:off x="914400" y="5074920"/>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Whatever the representation leaves out, the detector can never learn.</a:t>
            </a:r>
            <a:endParaRPr lang="en-US" sz="1450" dirty="0"/>
          </a:p>
        </p:txBody>
      </p:sp>
      <p:sp>
        <p:nvSpPr>
          <p:cNvPr id="52" name="Text 49"/>
          <p:cNvSpPr txBox="1"/>
          <p:nvPr/>
        </p:nvSpPr>
        <p:spPr>
          <a:xfrm>
            <a:off x="640080" y="5806440"/>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The classifier is the same in every experiment. Only the middle box changes.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METHOD · QUESTION 1</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Three ways to describe the same sound</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Acoustic representations</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640080" y="1737360"/>
            <a:ext cx="3429000" cy="3401568"/>
          </a:xfrm>
          <a:prstGeom prst="roundRect">
            <a:avLst>
              <a:gd name="adj" fmla="val 1613"/>
            </a:avLst>
          </a:prstGeom>
          <a:solidFill>
            <a:srgbClr val="F2F5F9"/>
          </a:solidFill>
          <a:ln w="12700">
            <a:solidFill>
              <a:srgbClr val="D5DEEA"/>
            </a:solidFill>
            <a:prstDash val="solid"/>
          </a:ln>
        </p:spPr>
      </p:sp>
      <p:sp>
        <p:nvSpPr>
          <p:cNvPr id="7" name="Text 5"/>
          <p:cNvSpPr txBox="1"/>
          <p:nvPr/>
        </p:nvSpPr>
        <p:spPr>
          <a:xfrm>
            <a:off x="932688" y="1938528"/>
            <a:ext cx="2834640" cy="310896"/>
          </a:xfrm>
          <a:prstGeom prst="rect">
            <a:avLst/>
          </a:prstGeom>
          <a:noFill/>
          <a:ln/>
        </p:spPr>
        <p:txBody>
          <a:bodyPr wrap="square" lIns="0" tIns="0" rIns="0" bIns="0" rtlCol="0" anchor="ctr"/>
          <a:lstStyle/>
          <a:p>
            <a:pPr indent="0" marL="0">
              <a:buNone/>
            </a:pPr>
            <a:r>
              <a:rPr lang="en-US" sz="1250" b="1" spc="160" kern="0" dirty="0">
                <a:solidFill>
                  <a:srgbClr val="1E7A70"/>
                </a:solidFill>
                <a:latin typeface="Calibri" pitchFamily="34" charset="0"/>
                <a:ea typeface="Calibri" pitchFamily="34" charset="-122"/>
                <a:cs typeface="Calibri" pitchFamily="34" charset="-120"/>
              </a:rPr>
              <a:t>Baseline</a:t>
            </a:r>
            <a:endParaRPr lang="en-US" sz="1250" dirty="0"/>
          </a:p>
        </p:txBody>
      </p:sp>
      <p:sp>
        <p:nvSpPr>
          <p:cNvPr id="8" name="Shape 6"/>
          <p:cNvSpPr/>
          <p:nvPr/>
        </p:nvSpPr>
        <p:spPr>
          <a:xfrm>
            <a:off x="932688" y="2286000"/>
            <a:ext cx="2843784" cy="914400"/>
          </a:xfrm>
          <a:prstGeom prst="rect">
            <a:avLst/>
          </a:prstGeom>
          <a:solidFill>
            <a:srgbClr val="E4EBF3"/>
          </a:solidFill>
          <a:ln w="12700">
            <a:solidFill>
              <a:srgbClr val="D5DEEA"/>
            </a:solidFill>
            <a:prstDash val="solid"/>
          </a:ln>
        </p:spPr>
      </p:sp>
      <p:sp>
        <p:nvSpPr>
          <p:cNvPr id="9" name="Shape 7"/>
          <p:cNvSpPr/>
          <p:nvPr/>
        </p:nvSpPr>
        <p:spPr>
          <a:xfrm>
            <a:off x="987552" y="2296758"/>
            <a:ext cx="1795024" cy="32273"/>
          </a:xfrm>
          <a:prstGeom prst="rect">
            <a:avLst/>
          </a:prstGeom>
          <a:solidFill>
            <a:srgbClr val="1E7A70"/>
          </a:solidFill>
          <a:ln w="12700">
            <a:solidFill>
              <a:srgbClr val="FFFFFF"/>
            </a:solidFill>
            <a:prstDash val="solid"/>
          </a:ln>
        </p:spPr>
      </p:sp>
      <p:sp>
        <p:nvSpPr>
          <p:cNvPr id="10" name="Shape 8"/>
          <p:cNvSpPr/>
          <p:nvPr/>
        </p:nvSpPr>
        <p:spPr>
          <a:xfrm>
            <a:off x="987552" y="2350546"/>
            <a:ext cx="1861619" cy="32273"/>
          </a:xfrm>
          <a:prstGeom prst="rect">
            <a:avLst/>
          </a:prstGeom>
          <a:solidFill>
            <a:srgbClr val="2A9D8F"/>
          </a:solidFill>
          <a:ln w="12700">
            <a:solidFill>
              <a:srgbClr val="FFFFFF"/>
            </a:solidFill>
            <a:prstDash val="solid"/>
          </a:ln>
        </p:spPr>
      </p:sp>
      <p:sp>
        <p:nvSpPr>
          <p:cNvPr id="11" name="Shape 9"/>
          <p:cNvSpPr/>
          <p:nvPr/>
        </p:nvSpPr>
        <p:spPr>
          <a:xfrm>
            <a:off x="987552" y="2404334"/>
            <a:ext cx="2556762" cy="32273"/>
          </a:xfrm>
          <a:prstGeom prst="rect">
            <a:avLst/>
          </a:prstGeom>
          <a:solidFill>
            <a:srgbClr val="1E7A70"/>
          </a:solidFill>
          <a:ln w="12700">
            <a:solidFill>
              <a:srgbClr val="FFFFFF"/>
            </a:solidFill>
            <a:prstDash val="solid"/>
          </a:ln>
        </p:spPr>
      </p:sp>
      <p:sp>
        <p:nvSpPr>
          <p:cNvPr id="12" name="Shape 10"/>
          <p:cNvSpPr/>
          <p:nvPr/>
        </p:nvSpPr>
        <p:spPr>
          <a:xfrm>
            <a:off x="987552" y="2458122"/>
            <a:ext cx="716613" cy="32273"/>
          </a:xfrm>
          <a:prstGeom prst="rect">
            <a:avLst/>
          </a:prstGeom>
          <a:solidFill>
            <a:srgbClr val="2A9D8F"/>
          </a:solidFill>
          <a:ln w="12700">
            <a:solidFill>
              <a:srgbClr val="FFFFFF"/>
            </a:solidFill>
            <a:prstDash val="solid"/>
          </a:ln>
        </p:spPr>
      </p:sp>
      <p:sp>
        <p:nvSpPr>
          <p:cNvPr id="13" name="Shape 11"/>
          <p:cNvSpPr/>
          <p:nvPr/>
        </p:nvSpPr>
        <p:spPr>
          <a:xfrm>
            <a:off x="987552" y="2511911"/>
            <a:ext cx="2535361" cy="32273"/>
          </a:xfrm>
          <a:prstGeom prst="rect">
            <a:avLst/>
          </a:prstGeom>
          <a:solidFill>
            <a:srgbClr val="1E7A70"/>
          </a:solidFill>
          <a:ln w="12700">
            <a:solidFill>
              <a:srgbClr val="FFFFFF"/>
            </a:solidFill>
            <a:prstDash val="solid"/>
          </a:ln>
        </p:spPr>
      </p:sp>
      <p:sp>
        <p:nvSpPr>
          <p:cNvPr id="14" name="Shape 12"/>
          <p:cNvSpPr/>
          <p:nvPr/>
        </p:nvSpPr>
        <p:spPr>
          <a:xfrm>
            <a:off x="987552" y="2565699"/>
            <a:ext cx="1913978" cy="32273"/>
          </a:xfrm>
          <a:prstGeom prst="rect">
            <a:avLst/>
          </a:prstGeom>
          <a:solidFill>
            <a:srgbClr val="2A9D8F"/>
          </a:solidFill>
          <a:ln w="12700">
            <a:solidFill>
              <a:srgbClr val="FFFFFF"/>
            </a:solidFill>
            <a:prstDash val="solid"/>
          </a:ln>
        </p:spPr>
      </p:sp>
      <p:sp>
        <p:nvSpPr>
          <p:cNvPr id="15" name="Shape 13"/>
          <p:cNvSpPr/>
          <p:nvPr/>
        </p:nvSpPr>
        <p:spPr>
          <a:xfrm>
            <a:off x="987552" y="2619487"/>
            <a:ext cx="1739769" cy="32273"/>
          </a:xfrm>
          <a:prstGeom prst="rect">
            <a:avLst/>
          </a:prstGeom>
          <a:solidFill>
            <a:srgbClr val="1E7A70"/>
          </a:solidFill>
          <a:ln w="12700">
            <a:solidFill>
              <a:srgbClr val="FFFFFF"/>
            </a:solidFill>
            <a:prstDash val="solid"/>
          </a:ln>
        </p:spPr>
      </p:sp>
      <p:sp>
        <p:nvSpPr>
          <p:cNvPr id="16" name="Shape 14"/>
          <p:cNvSpPr/>
          <p:nvPr/>
        </p:nvSpPr>
        <p:spPr>
          <a:xfrm>
            <a:off x="987552" y="2673275"/>
            <a:ext cx="2596931" cy="32273"/>
          </a:xfrm>
          <a:prstGeom prst="rect">
            <a:avLst/>
          </a:prstGeom>
          <a:solidFill>
            <a:srgbClr val="2A9D8F"/>
          </a:solidFill>
          <a:ln w="12700">
            <a:solidFill>
              <a:srgbClr val="FFFFFF"/>
            </a:solidFill>
            <a:prstDash val="solid"/>
          </a:ln>
        </p:spPr>
      </p:sp>
      <p:sp>
        <p:nvSpPr>
          <p:cNvPr id="17" name="Shape 15"/>
          <p:cNvSpPr/>
          <p:nvPr/>
        </p:nvSpPr>
        <p:spPr>
          <a:xfrm>
            <a:off x="987552" y="2727064"/>
            <a:ext cx="864435" cy="32273"/>
          </a:xfrm>
          <a:prstGeom prst="rect">
            <a:avLst/>
          </a:prstGeom>
          <a:solidFill>
            <a:srgbClr val="1E7A70"/>
          </a:solidFill>
          <a:ln w="12700">
            <a:solidFill>
              <a:srgbClr val="FFFFFF"/>
            </a:solidFill>
            <a:prstDash val="solid"/>
          </a:ln>
        </p:spPr>
      </p:sp>
      <p:sp>
        <p:nvSpPr>
          <p:cNvPr id="18" name="Shape 16"/>
          <p:cNvSpPr/>
          <p:nvPr/>
        </p:nvSpPr>
        <p:spPr>
          <a:xfrm>
            <a:off x="987552" y="2780852"/>
            <a:ext cx="2479951" cy="32273"/>
          </a:xfrm>
          <a:prstGeom prst="rect">
            <a:avLst/>
          </a:prstGeom>
          <a:solidFill>
            <a:srgbClr val="2A9D8F"/>
          </a:solidFill>
          <a:ln w="12700">
            <a:solidFill>
              <a:srgbClr val="FFFFFF"/>
            </a:solidFill>
            <a:prstDash val="solid"/>
          </a:ln>
        </p:spPr>
      </p:sp>
      <p:sp>
        <p:nvSpPr>
          <p:cNvPr id="19" name="Shape 17"/>
          <p:cNvSpPr/>
          <p:nvPr/>
        </p:nvSpPr>
        <p:spPr>
          <a:xfrm>
            <a:off x="987552" y="2834640"/>
            <a:ext cx="2025973" cy="32273"/>
          </a:xfrm>
          <a:prstGeom prst="rect">
            <a:avLst/>
          </a:prstGeom>
          <a:solidFill>
            <a:srgbClr val="1E7A70"/>
          </a:solidFill>
          <a:ln w="12700">
            <a:solidFill>
              <a:srgbClr val="FFFFFF"/>
            </a:solidFill>
            <a:prstDash val="solid"/>
          </a:ln>
        </p:spPr>
      </p:sp>
      <p:sp>
        <p:nvSpPr>
          <p:cNvPr id="20" name="Shape 18"/>
          <p:cNvSpPr/>
          <p:nvPr/>
        </p:nvSpPr>
        <p:spPr>
          <a:xfrm>
            <a:off x="987552" y="2888428"/>
            <a:ext cx="1611945" cy="32273"/>
          </a:xfrm>
          <a:prstGeom prst="rect">
            <a:avLst/>
          </a:prstGeom>
          <a:solidFill>
            <a:srgbClr val="2A9D8F"/>
          </a:solidFill>
          <a:ln w="12700">
            <a:solidFill>
              <a:srgbClr val="FFFFFF"/>
            </a:solidFill>
            <a:prstDash val="solid"/>
          </a:ln>
        </p:spPr>
      </p:sp>
      <p:sp>
        <p:nvSpPr>
          <p:cNvPr id="21" name="Shape 19"/>
          <p:cNvSpPr/>
          <p:nvPr/>
        </p:nvSpPr>
        <p:spPr>
          <a:xfrm>
            <a:off x="987552" y="2942216"/>
            <a:ext cx="2626277" cy="32273"/>
          </a:xfrm>
          <a:prstGeom prst="rect">
            <a:avLst/>
          </a:prstGeom>
          <a:solidFill>
            <a:srgbClr val="1E7A70"/>
          </a:solidFill>
          <a:ln w="12700">
            <a:solidFill>
              <a:srgbClr val="FFFFFF"/>
            </a:solidFill>
            <a:prstDash val="solid"/>
          </a:ln>
        </p:spPr>
      </p:sp>
      <p:sp>
        <p:nvSpPr>
          <p:cNvPr id="22" name="Shape 20"/>
          <p:cNvSpPr/>
          <p:nvPr/>
        </p:nvSpPr>
        <p:spPr>
          <a:xfrm>
            <a:off x="987552" y="2996005"/>
            <a:ext cx="1011233" cy="32273"/>
          </a:xfrm>
          <a:prstGeom prst="rect">
            <a:avLst/>
          </a:prstGeom>
          <a:solidFill>
            <a:srgbClr val="2A9D8F"/>
          </a:solidFill>
          <a:ln w="12700">
            <a:solidFill>
              <a:srgbClr val="FFFFFF"/>
            </a:solidFill>
            <a:prstDash val="solid"/>
          </a:ln>
        </p:spPr>
      </p:sp>
      <p:sp>
        <p:nvSpPr>
          <p:cNvPr id="23" name="Shape 21"/>
          <p:cNvSpPr/>
          <p:nvPr/>
        </p:nvSpPr>
        <p:spPr>
          <a:xfrm>
            <a:off x="987552" y="3049793"/>
            <a:ext cx="2414381" cy="32273"/>
          </a:xfrm>
          <a:prstGeom prst="rect">
            <a:avLst/>
          </a:prstGeom>
          <a:solidFill>
            <a:srgbClr val="1E7A70"/>
          </a:solidFill>
          <a:ln w="12700">
            <a:solidFill>
              <a:srgbClr val="FFFFFF"/>
            </a:solidFill>
            <a:prstDash val="solid"/>
          </a:ln>
        </p:spPr>
      </p:sp>
      <p:sp>
        <p:nvSpPr>
          <p:cNvPr id="24" name="Shape 22"/>
          <p:cNvSpPr/>
          <p:nvPr/>
        </p:nvSpPr>
        <p:spPr>
          <a:xfrm>
            <a:off x="987552" y="3103581"/>
            <a:ext cx="2130376" cy="32273"/>
          </a:xfrm>
          <a:prstGeom prst="rect">
            <a:avLst/>
          </a:prstGeom>
          <a:solidFill>
            <a:srgbClr val="2A9D8F"/>
          </a:solidFill>
          <a:ln w="12700">
            <a:solidFill>
              <a:srgbClr val="FFFFFF"/>
            </a:solidFill>
            <a:prstDash val="solid"/>
          </a:ln>
        </p:spPr>
      </p:sp>
      <p:sp>
        <p:nvSpPr>
          <p:cNvPr id="25" name="Shape 23"/>
          <p:cNvSpPr/>
          <p:nvPr/>
        </p:nvSpPr>
        <p:spPr>
          <a:xfrm>
            <a:off x="987552" y="3157369"/>
            <a:ext cx="1478870" cy="32273"/>
          </a:xfrm>
          <a:prstGeom prst="rect">
            <a:avLst/>
          </a:prstGeom>
          <a:solidFill>
            <a:srgbClr val="1E7A70"/>
          </a:solidFill>
          <a:ln w="12700">
            <a:solidFill>
              <a:srgbClr val="FFFFFF"/>
            </a:solidFill>
            <a:prstDash val="solid"/>
          </a:ln>
        </p:spPr>
      </p:sp>
      <p:sp>
        <p:nvSpPr>
          <p:cNvPr id="26" name="Text 24"/>
          <p:cNvSpPr txBox="1"/>
          <p:nvPr/>
        </p:nvSpPr>
        <p:spPr>
          <a:xfrm>
            <a:off x="932688" y="3255264"/>
            <a:ext cx="2843784" cy="256032"/>
          </a:xfrm>
          <a:prstGeom prst="rect">
            <a:avLst/>
          </a:prstGeom>
          <a:noFill/>
          <a:ln/>
        </p:spPr>
        <p:txBody>
          <a:bodyPr wrap="square" lIns="0" tIns="0" rIns="0" bIns="0" rtlCol="0" anchor="ctr"/>
          <a:lstStyle/>
          <a:p>
            <a:pPr indent="0" marL="0">
              <a:buNone/>
            </a:pPr>
            <a:r>
              <a:rPr lang="en-US" sz="1050" i="1" dirty="0">
                <a:solidFill>
                  <a:srgbClr val="5F718C"/>
                </a:solidFill>
                <a:latin typeface="Calibri" pitchFamily="34" charset="0"/>
                <a:ea typeface="Calibri" pitchFamily="34" charset="-122"/>
                <a:cs typeface="Calibri" pitchFamily="34" charset="-120"/>
              </a:rPr>
              <a:t>513 narrow frequency bands</a:t>
            </a:r>
            <a:endParaRPr lang="en-US" sz="1050" dirty="0"/>
          </a:p>
        </p:txBody>
      </p:sp>
      <p:sp>
        <p:nvSpPr>
          <p:cNvPr id="27" name="Text 25"/>
          <p:cNvSpPr txBox="1"/>
          <p:nvPr/>
        </p:nvSpPr>
        <p:spPr>
          <a:xfrm>
            <a:off x="932688" y="3547872"/>
            <a:ext cx="2834640" cy="713232"/>
          </a:xfrm>
          <a:prstGeom prst="rect">
            <a:avLst/>
          </a:prstGeom>
          <a:noFill/>
          <a:ln/>
        </p:spPr>
        <p:txBody>
          <a:bodyPr wrap="square" lIns="0" tIns="0" rIns="0" bIns="0" rtlCol="0" anchor="ctr"/>
          <a:lstStyle/>
          <a:p>
            <a:pPr indent="0" marL="0">
              <a:buNone/>
            </a:pPr>
            <a:r>
              <a:rPr lang="en-US" sz="4000" b="1" dirty="0">
                <a:solidFill>
                  <a:srgbClr val="22314D"/>
                </a:solidFill>
                <a:latin typeface="Cambria" pitchFamily="34" charset="0"/>
                <a:ea typeface="Cambria" pitchFamily="34" charset="-122"/>
                <a:cs typeface="Cambria" pitchFamily="34" charset="-120"/>
              </a:rPr>
              <a:t>1,543</a:t>
            </a:r>
            <a:endParaRPr lang="en-US" sz="4000" dirty="0"/>
          </a:p>
        </p:txBody>
      </p:sp>
      <p:sp>
        <p:nvSpPr>
          <p:cNvPr id="28" name="Text 26"/>
          <p:cNvSpPr txBox="1"/>
          <p:nvPr/>
        </p:nvSpPr>
        <p:spPr>
          <a:xfrm>
            <a:off x="932688" y="4242816"/>
            <a:ext cx="2834640" cy="256032"/>
          </a:xfrm>
          <a:prstGeom prst="rect">
            <a:avLst/>
          </a:prstGeom>
          <a:noFill/>
          <a:ln/>
        </p:spPr>
        <p:txBody>
          <a:bodyPr wrap="square" lIns="0" tIns="0" rIns="0" bIns="0" rtlCol="0" anchor="ctr"/>
          <a:lstStyle/>
          <a:p>
            <a:pPr indent="0" marL="0">
              <a:buNone/>
            </a:pPr>
            <a:r>
              <a:rPr lang="en-US" sz="1100" dirty="0">
                <a:solidFill>
                  <a:srgbClr val="5F718C"/>
                </a:solidFill>
                <a:latin typeface="Calibri" pitchFamily="34" charset="0"/>
                <a:ea typeface="Calibri" pitchFamily="34" charset="-122"/>
                <a:cs typeface="Calibri" pitchFamily="34" charset="-120"/>
              </a:rPr>
              <a:t>numbers per 0.25 s window</a:t>
            </a:r>
            <a:endParaRPr lang="en-US" sz="1100" dirty="0"/>
          </a:p>
        </p:txBody>
      </p:sp>
      <p:sp>
        <p:nvSpPr>
          <p:cNvPr id="29" name="Text 27"/>
          <p:cNvSpPr txBox="1"/>
          <p:nvPr/>
        </p:nvSpPr>
        <p:spPr>
          <a:xfrm>
            <a:off x="932688" y="4535424"/>
            <a:ext cx="2834640" cy="457200"/>
          </a:xfrm>
          <a:prstGeom prst="rect">
            <a:avLst/>
          </a:prstGeom>
          <a:noFill/>
          <a:ln/>
        </p:spPr>
        <p:txBody>
          <a:bodyPr wrap="square" lIns="0" tIns="0" rIns="0" bIns="0" rtlCol="0" anchor="t"/>
          <a:lstStyle/>
          <a:p>
            <a:pPr indent="0" marL="0">
              <a:lnSpc>
                <a:spcPts val="1700"/>
              </a:lnSpc>
              <a:buNone/>
            </a:pPr>
            <a:r>
              <a:rPr lang="en-US" sz="1300" b="1" dirty="0">
                <a:solidFill>
                  <a:srgbClr val="22314D"/>
                </a:solidFill>
                <a:latin typeface="Calibri" pitchFamily="34" charset="0"/>
                <a:ea typeface="Calibri" pitchFamily="34" charset="-122"/>
                <a:cs typeface="Calibri" pitchFamily="34" charset="-120"/>
              </a:rPr>
              <a:t>Mean, SD and max in every narrow band</a:t>
            </a:r>
            <a:endParaRPr lang="en-US" sz="1300" dirty="0"/>
          </a:p>
        </p:txBody>
      </p:sp>
      <p:sp>
        <p:nvSpPr>
          <p:cNvPr id="30" name="Shape 28"/>
          <p:cNvSpPr/>
          <p:nvPr/>
        </p:nvSpPr>
        <p:spPr>
          <a:xfrm>
            <a:off x="4343400" y="1737360"/>
            <a:ext cx="3429000" cy="3401568"/>
          </a:xfrm>
          <a:prstGeom prst="roundRect">
            <a:avLst>
              <a:gd name="adj" fmla="val 1613"/>
            </a:avLst>
          </a:prstGeom>
          <a:solidFill>
            <a:srgbClr val="F2F5F9"/>
          </a:solidFill>
          <a:ln w="12700">
            <a:solidFill>
              <a:srgbClr val="D5DEEA"/>
            </a:solidFill>
            <a:prstDash val="solid"/>
          </a:ln>
        </p:spPr>
      </p:sp>
      <p:sp>
        <p:nvSpPr>
          <p:cNvPr id="31" name="Text 29"/>
          <p:cNvSpPr txBox="1"/>
          <p:nvPr/>
        </p:nvSpPr>
        <p:spPr>
          <a:xfrm>
            <a:off x="4636008" y="1938528"/>
            <a:ext cx="2834640" cy="310896"/>
          </a:xfrm>
          <a:prstGeom prst="rect">
            <a:avLst/>
          </a:prstGeom>
          <a:noFill/>
          <a:ln/>
        </p:spPr>
        <p:txBody>
          <a:bodyPr wrap="square" lIns="0" tIns="0" rIns="0" bIns="0" rtlCol="0" anchor="ctr"/>
          <a:lstStyle/>
          <a:p>
            <a:pPr indent="0" marL="0">
              <a:buNone/>
            </a:pPr>
            <a:r>
              <a:rPr lang="en-US" sz="1250" b="1" spc="160" kern="0" dirty="0">
                <a:solidFill>
                  <a:srgbClr val="1E7A70"/>
                </a:solidFill>
                <a:latin typeface="Calibri" pitchFamily="34" charset="0"/>
                <a:ea typeface="Calibri" pitchFamily="34" charset="-122"/>
                <a:cs typeface="Calibri" pitchFamily="34" charset="-120"/>
              </a:rPr>
              <a:t>Compact</a:t>
            </a:r>
            <a:endParaRPr lang="en-US" sz="1250" dirty="0"/>
          </a:p>
        </p:txBody>
      </p:sp>
      <p:sp>
        <p:nvSpPr>
          <p:cNvPr id="32" name="Shape 30"/>
          <p:cNvSpPr/>
          <p:nvPr/>
        </p:nvSpPr>
        <p:spPr>
          <a:xfrm>
            <a:off x="4636008" y="2286000"/>
            <a:ext cx="2843784" cy="914400"/>
          </a:xfrm>
          <a:prstGeom prst="rect">
            <a:avLst/>
          </a:prstGeom>
          <a:solidFill>
            <a:srgbClr val="E4EBF3"/>
          </a:solidFill>
          <a:ln w="12700">
            <a:solidFill>
              <a:srgbClr val="D5DEEA"/>
            </a:solidFill>
            <a:prstDash val="solid"/>
          </a:ln>
        </p:spPr>
      </p:sp>
      <p:sp>
        <p:nvSpPr>
          <p:cNvPr id="33" name="Shape 31"/>
          <p:cNvSpPr/>
          <p:nvPr/>
        </p:nvSpPr>
        <p:spPr>
          <a:xfrm>
            <a:off x="4690872" y="2322576"/>
            <a:ext cx="1795024" cy="109728"/>
          </a:xfrm>
          <a:prstGeom prst="rect">
            <a:avLst/>
          </a:prstGeom>
          <a:solidFill>
            <a:srgbClr val="1E7A70"/>
          </a:solidFill>
          <a:ln w="12700">
            <a:solidFill>
              <a:srgbClr val="FFFFFF"/>
            </a:solidFill>
            <a:prstDash val="solid"/>
          </a:ln>
        </p:spPr>
      </p:sp>
      <p:sp>
        <p:nvSpPr>
          <p:cNvPr id="34" name="Shape 32"/>
          <p:cNvSpPr/>
          <p:nvPr/>
        </p:nvSpPr>
        <p:spPr>
          <a:xfrm>
            <a:off x="4690872" y="2505456"/>
            <a:ext cx="1861619" cy="109728"/>
          </a:xfrm>
          <a:prstGeom prst="rect">
            <a:avLst/>
          </a:prstGeom>
          <a:solidFill>
            <a:srgbClr val="2A9D8F"/>
          </a:solidFill>
          <a:ln w="12700">
            <a:solidFill>
              <a:srgbClr val="FFFFFF"/>
            </a:solidFill>
            <a:prstDash val="solid"/>
          </a:ln>
        </p:spPr>
      </p:sp>
      <p:sp>
        <p:nvSpPr>
          <p:cNvPr id="35" name="Shape 33"/>
          <p:cNvSpPr/>
          <p:nvPr/>
        </p:nvSpPr>
        <p:spPr>
          <a:xfrm>
            <a:off x="4690872" y="2688336"/>
            <a:ext cx="2556762" cy="109728"/>
          </a:xfrm>
          <a:prstGeom prst="rect">
            <a:avLst/>
          </a:prstGeom>
          <a:solidFill>
            <a:srgbClr val="1E7A70"/>
          </a:solidFill>
          <a:ln w="12700">
            <a:solidFill>
              <a:srgbClr val="FFFFFF"/>
            </a:solidFill>
            <a:prstDash val="solid"/>
          </a:ln>
        </p:spPr>
      </p:sp>
      <p:sp>
        <p:nvSpPr>
          <p:cNvPr id="36" name="Shape 34"/>
          <p:cNvSpPr/>
          <p:nvPr/>
        </p:nvSpPr>
        <p:spPr>
          <a:xfrm>
            <a:off x="4690872" y="2871216"/>
            <a:ext cx="716613" cy="109728"/>
          </a:xfrm>
          <a:prstGeom prst="rect">
            <a:avLst/>
          </a:prstGeom>
          <a:solidFill>
            <a:srgbClr val="2A9D8F"/>
          </a:solidFill>
          <a:ln w="12700">
            <a:solidFill>
              <a:srgbClr val="FFFFFF"/>
            </a:solidFill>
            <a:prstDash val="solid"/>
          </a:ln>
        </p:spPr>
      </p:sp>
      <p:sp>
        <p:nvSpPr>
          <p:cNvPr id="37" name="Shape 35"/>
          <p:cNvSpPr/>
          <p:nvPr/>
        </p:nvSpPr>
        <p:spPr>
          <a:xfrm>
            <a:off x="4690872" y="3054096"/>
            <a:ext cx="2535361" cy="109728"/>
          </a:xfrm>
          <a:prstGeom prst="rect">
            <a:avLst/>
          </a:prstGeom>
          <a:solidFill>
            <a:srgbClr val="1E7A70"/>
          </a:solidFill>
          <a:ln w="12700">
            <a:solidFill>
              <a:srgbClr val="FFFFFF"/>
            </a:solidFill>
            <a:prstDash val="solid"/>
          </a:ln>
        </p:spPr>
      </p:sp>
      <p:sp>
        <p:nvSpPr>
          <p:cNvPr id="38" name="Text 36"/>
          <p:cNvSpPr txBox="1"/>
          <p:nvPr/>
        </p:nvSpPr>
        <p:spPr>
          <a:xfrm>
            <a:off x="4636008" y="3255264"/>
            <a:ext cx="2843784" cy="256032"/>
          </a:xfrm>
          <a:prstGeom prst="rect">
            <a:avLst/>
          </a:prstGeom>
          <a:noFill/>
          <a:ln/>
        </p:spPr>
        <p:txBody>
          <a:bodyPr wrap="square" lIns="0" tIns="0" rIns="0" bIns="0" rtlCol="0" anchor="ctr"/>
          <a:lstStyle/>
          <a:p>
            <a:pPr indent="0" marL="0">
              <a:buNone/>
            </a:pPr>
            <a:r>
              <a:rPr lang="en-US" sz="1050" i="1" dirty="0">
                <a:solidFill>
                  <a:srgbClr val="5F718C"/>
                </a:solidFill>
                <a:latin typeface="Calibri" pitchFamily="34" charset="0"/>
                <a:ea typeface="Calibri" pitchFamily="34" charset="-122"/>
                <a:cs typeface="Calibri" pitchFamily="34" charset="-120"/>
              </a:rPr>
              <a:t>64 wide frequency bands</a:t>
            </a:r>
            <a:endParaRPr lang="en-US" sz="1050" dirty="0"/>
          </a:p>
        </p:txBody>
      </p:sp>
      <p:sp>
        <p:nvSpPr>
          <p:cNvPr id="39" name="Text 37"/>
          <p:cNvSpPr txBox="1"/>
          <p:nvPr/>
        </p:nvSpPr>
        <p:spPr>
          <a:xfrm>
            <a:off x="4636008" y="3547872"/>
            <a:ext cx="2834640" cy="713232"/>
          </a:xfrm>
          <a:prstGeom prst="rect">
            <a:avLst/>
          </a:prstGeom>
          <a:noFill/>
          <a:ln/>
        </p:spPr>
        <p:txBody>
          <a:bodyPr wrap="square" lIns="0" tIns="0" rIns="0" bIns="0" rtlCol="0" anchor="ctr"/>
          <a:lstStyle/>
          <a:p>
            <a:pPr indent="0" marL="0">
              <a:buNone/>
            </a:pPr>
            <a:r>
              <a:rPr lang="en-US" sz="4000" b="1" dirty="0">
                <a:solidFill>
                  <a:srgbClr val="22314D"/>
                </a:solidFill>
                <a:latin typeface="Cambria" pitchFamily="34" charset="0"/>
                <a:ea typeface="Cambria" pitchFamily="34" charset="-122"/>
                <a:cs typeface="Cambria" pitchFamily="34" charset="-120"/>
              </a:rPr>
              <a:t>199</a:t>
            </a:r>
            <a:endParaRPr lang="en-US" sz="4000" dirty="0"/>
          </a:p>
        </p:txBody>
      </p:sp>
      <p:sp>
        <p:nvSpPr>
          <p:cNvPr id="40" name="Text 38"/>
          <p:cNvSpPr txBox="1"/>
          <p:nvPr/>
        </p:nvSpPr>
        <p:spPr>
          <a:xfrm>
            <a:off x="4636008" y="4242816"/>
            <a:ext cx="2834640" cy="256032"/>
          </a:xfrm>
          <a:prstGeom prst="rect">
            <a:avLst/>
          </a:prstGeom>
          <a:noFill/>
          <a:ln/>
        </p:spPr>
        <p:txBody>
          <a:bodyPr wrap="square" lIns="0" tIns="0" rIns="0" bIns="0" rtlCol="0" anchor="ctr"/>
          <a:lstStyle/>
          <a:p>
            <a:pPr indent="0" marL="0">
              <a:buNone/>
            </a:pPr>
            <a:r>
              <a:rPr lang="en-US" sz="1100" dirty="0">
                <a:solidFill>
                  <a:srgbClr val="5F718C"/>
                </a:solidFill>
                <a:latin typeface="Calibri" pitchFamily="34" charset="0"/>
                <a:ea typeface="Calibri" pitchFamily="34" charset="-122"/>
                <a:cs typeface="Calibri" pitchFamily="34" charset="-120"/>
              </a:rPr>
              <a:t>numbers per 0.25 s window</a:t>
            </a:r>
            <a:endParaRPr lang="en-US" sz="1100" dirty="0"/>
          </a:p>
        </p:txBody>
      </p:sp>
      <p:sp>
        <p:nvSpPr>
          <p:cNvPr id="41" name="Text 39"/>
          <p:cNvSpPr txBox="1"/>
          <p:nvPr/>
        </p:nvSpPr>
        <p:spPr>
          <a:xfrm>
            <a:off x="4636008" y="4535424"/>
            <a:ext cx="2834640" cy="457200"/>
          </a:xfrm>
          <a:prstGeom prst="rect">
            <a:avLst/>
          </a:prstGeom>
          <a:noFill/>
          <a:ln/>
        </p:spPr>
        <p:txBody>
          <a:bodyPr wrap="square" lIns="0" tIns="0" rIns="0" bIns="0" rtlCol="0" anchor="t"/>
          <a:lstStyle/>
          <a:p>
            <a:pPr indent="0" marL="0">
              <a:lnSpc>
                <a:spcPts val="1700"/>
              </a:lnSpc>
              <a:buNone/>
            </a:pPr>
            <a:r>
              <a:rPr lang="en-US" sz="1300" b="1" dirty="0">
                <a:solidFill>
                  <a:srgbClr val="22314D"/>
                </a:solidFill>
                <a:latin typeface="Calibri" pitchFamily="34" charset="0"/>
                <a:ea typeface="Calibri" pitchFamily="34" charset="-122"/>
                <a:cs typeface="Calibri" pitchFamily="34" charset="-120"/>
              </a:rPr>
              <a:t>The same summary, over wider bands</a:t>
            </a:r>
            <a:endParaRPr lang="en-US" sz="1300" dirty="0"/>
          </a:p>
        </p:txBody>
      </p:sp>
      <p:sp>
        <p:nvSpPr>
          <p:cNvPr id="42" name="Shape 40"/>
          <p:cNvSpPr/>
          <p:nvPr/>
        </p:nvSpPr>
        <p:spPr>
          <a:xfrm>
            <a:off x="8046720" y="1737360"/>
            <a:ext cx="3429000" cy="3401568"/>
          </a:xfrm>
          <a:prstGeom prst="roundRect">
            <a:avLst>
              <a:gd name="adj" fmla="val 1613"/>
            </a:avLst>
          </a:prstGeom>
          <a:solidFill>
            <a:srgbClr val="0E1B33"/>
          </a:solidFill>
          <a:ln w="12700">
            <a:solidFill>
              <a:srgbClr val="0E1B33"/>
            </a:solidFill>
            <a:prstDash val="solid"/>
          </a:ln>
        </p:spPr>
      </p:sp>
      <p:sp>
        <p:nvSpPr>
          <p:cNvPr id="43" name="Text 41"/>
          <p:cNvSpPr txBox="1"/>
          <p:nvPr/>
        </p:nvSpPr>
        <p:spPr>
          <a:xfrm>
            <a:off x="8339328" y="1938528"/>
            <a:ext cx="2834640" cy="310896"/>
          </a:xfrm>
          <a:prstGeom prst="rect">
            <a:avLst/>
          </a:prstGeom>
          <a:noFill/>
          <a:ln/>
        </p:spPr>
        <p:txBody>
          <a:bodyPr wrap="square" lIns="0" tIns="0" rIns="0" bIns="0" rtlCol="0" anchor="ctr"/>
          <a:lstStyle/>
          <a:p>
            <a:pPr indent="0" marL="0">
              <a:buNone/>
            </a:pPr>
            <a:r>
              <a:rPr lang="en-US" sz="1250" b="1" spc="160" kern="0" dirty="0">
                <a:solidFill>
                  <a:srgbClr val="F2A541"/>
                </a:solidFill>
                <a:latin typeface="Calibri" pitchFamily="34" charset="0"/>
                <a:ea typeface="Calibri" pitchFamily="34" charset="-122"/>
                <a:cs typeface="Calibri" pitchFamily="34" charset="-120"/>
              </a:rPr>
              <a:t>Perch v2</a:t>
            </a:r>
            <a:endParaRPr lang="en-US" sz="1250" dirty="0"/>
          </a:p>
        </p:txBody>
      </p:sp>
      <p:sp>
        <p:nvSpPr>
          <p:cNvPr id="44" name="Shape 42"/>
          <p:cNvSpPr/>
          <p:nvPr/>
        </p:nvSpPr>
        <p:spPr>
          <a:xfrm>
            <a:off x="8339328" y="2432304"/>
            <a:ext cx="1298448" cy="621792"/>
          </a:xfrm>
          <a:prstGeom prst="roundRect">
            <a:avLst>
              <a:gd name="adj" fmla="val 11765"/>
            </a:avLst>
          </a:prstGeom>
          <a:solidFill>
            <a:srgbClr val="16294A"/>
          </a:solidFill>
          <a:ln w="19050">
            <a:solidFill>
              <a:srgbClr val="F2A541"/>
            </a:solidFill>
            <a:prstDash val="solid"/>
          </a:ln>
        </p:spPr>
      </p:sp>
      <p:sp>
        <p:nvSpPr>
          <p:cNvPr id="45" name="Text 43"/>
          <p:cNvSpPr txBox="1"/>
          <p:nvPr/>
        </p:nvSpPr>
        <p:spPr>
          <a:xfrm>
            <a:off x="8339328" y="2432304"/>
            <a:ext cx="1298448" cy="621792"/>
          </a:xfrm>
          <a:prstGeom prst="rect">
            <a:avLst/>
          </a:prstGeom>
          <a:noFill/>
          <a:ln/>
        </p:spPr>
        <p:txBody>
          <a:bodyPr wrap="square" lIns="0" tIns="0" rIns="0" bIns="0" rtlCol="0" anchor="ctr"/>
          <a:lstStyle/>
          <a:p>
            <a:pPr algn="ctr" indent="0" marL="0">
              <a:lnSpc>
                <a:spcPts val="1500"/>
              </a:lnSpc>
              <a:buNone/>
            </a:pPr>
            <a:r>
              <a:rPr lang="en-US" sz="1150" b="1" dirty="0">
                <a:solidFill>
                  <a:srgbClr val="F2A541"/>
                </a:solidFill>
                <a:latin typeface="Calibri" pitchFamily="34" charset="0"/>
                <a:ea typeface="Calibri" pitchFamily="34" charset="-122"/>
                <a:cs typeface="Calibri" pitchFamily="34" charset="-120"/>
              </a:rPr>
              <a:t>pretrained</a:t>
            </a:r>
            <a:endParaRPr lang="en-US" sz="1150" dirty="0"/>
          </a:p>
          <a:p>
            <a:pPr algn="ctr" indent="0" marL="0">
              <a:lnSpc>
                <a:spcPts val="1500"/>
              </a:lnSpc>
              <a:buNone/>
            </a:pPr>
            <a:r>
              <a:rPr lang="en-US" sz="1150" b="1" dirty="0">
                <a:solidFill>
                  <a:srgbClr val="F2A541"/>
                </a:solidFill>
                <a:latin typeface="Calibri" pitchFamily="34" charset="0"/>
                <a:ea typeface="Calibri" pitchFamily="34" charset="-122"/>
                <a:cs typeface="Calibri" pitchFamily="34" charset="-120"/>
              </a:rPr>
              <a:t>network</a:t>
            </a:r>
            <a:endParaRPr lang="en-US" sz="1150" dirty="0"/>
          </a:p>
        </p:txBody>
      </p:sp>
      <p:sp>
        <p:nvSpPr>
          <p:cNvPr id="46" name="Text 44"/>
          <p:cNvSpPr txBox="1"/>
          <p:nvPr/>
        </p:nvSpPr>
        <p:spPr>
          <a:xfrm>
            <a:off x="9665208" y="2286000"/>
            <a:ext cx="365760" cy="914400"/>
          </a:xfrm>
          <a:prstGeom prst="rect">
            <a:avLst/>
          </a:prstGeom>
          <a:noFill/>
          <a:ln/>
        </p:spPr>
        <p:txBody>
          <a:bodyPr wrap="square" lIns="0" tIns="0" rIns="0" bIns="0" rtlCol="0" anchor="ctr"/>
          <a:lstStyle/>
          <a:p>
            <a:pPr algn="ctr" indent="0" marL="0">
              <a:buNone/>
            </a:pPr>
            <a:r>
              <a:rPr lang="en-US" sz="1700" dirty="0">
                <a:solidFill>
                  <a:srgbClr val="B3C4DC"/>
                </a:solidFill>
                <a:latin typeface="Calibri" pitchFamily="34" charset="0"/>
                <a:ea typeface="Calibri" pitchFamily="34" charset="-122"/>
                <a:cs typeface="Calibri" pitchFamily="34" charset="-120"/>
              </a:rPr>
              <a:t>→</a:t>
            </a:r>
            <a:endParaRPr lang="en-US" sz="1700" dirty="0"/>
          </a:p>
        </p:txBody>
      </p:sp>
      <p:sp>
        <p:nvSpPr>
          <p:cNvPr id="47" name="Shape 45"/>
          <p:cNvSpPr/>
          <p:nvPr/>
        </p:nvSpPr>
        <p:spPr>
          <a:xfrm>
            <a:off x="10094976" y="2459736"/>
            <a:ext cx="164592" cy="132588"/>
          </a:xfrm>
          <a:prstGeom prst="rect">
            <a:avLst/>
          </a:prstGeom>
          <a:solidFill>
            <a:srgbClr val="F2A541"/>
          </a:solidFill>
          <a:ln w="12700">
            <a:solidFill>
              <a:srgbClr val="0E1B33"/>
            </a:solidFill>
            <a:prstDash val="solid"/>
          </a:ln>
        </p:spPr>
      </p:sp>
      <p:sp>
        <p:nvSpPr>
          <p:cNvPr id="48" name="Shape 46"/>
          <p:cNvSpPr/>
          <p:nvPr/>
        </p:nvSpPr>
        <p:spPr>
          <a:xfrm>
            <a:off x="10314432" y="2459736"/>
            <a:ext cx="164592" cy="132588"/>
          </a:xfrm>
          <a:prstGeom prst="rect">
            <a:avLst/>
          </a:prstGeom>
          <a:solidFill>
            <a:srgbClr val="C98F3C"/>
          </a:solidFill>
          <a:ln w="12700">
            <a:solidFill>
              <a:srgbClr val="0E1B33"/>
            </a:solidFill>
            <a:prstDash val="solid"/>
          </a:ln>
        </p:spPr>
      </p:sp>
      <p:sp>
        <p:nvSpPr>
          <p:cNvPr id="49" name="Shape 47"/>
          <p:cNvSpPr/>
          <p:nvPr/>
        </p:nvSpPr>
        <p:spPr>
          <a:xfrm>
            <a:off x="10533888" y="2459736"/>
            <a:ext cx="164592" cy="132588"/>
          </a:xfrm>
          <a:prstGeom prst="rect">
            <a:avLst/>
          </a:prstGeom>
          <a:solidFill>
            <a:srgbClr val="8C6A33"/>
          </a:solidFill>
          <a:ln w="12700">
            <a:solidFill>
              <a:srgbClr val="0E1B33"/>
            </a:solidFill>
            <a:prstDash val="solid"/>
          </a:ln>
        </p:spPr>
      </p:sp>
      <p:sp>
        <p:nvSpPr>
          <p:cNvPr id="50" name="Shape 48"/>
          <p:cNvSpPr/>
          <p:nvPr/>
        </p:nvSpPr>
        <p:spPr>
          <a:xfrm>
            <a:off x="10753344" y="2459736"/>
            <a:ext cx="164592" cy="132588"/>
          </a:xfrm>
          <a:prstGeom prst="rect">
            <a:avLst/>
          </a:prstGeom>
          <a:solidFill>
            <a:srgbClr val="F2A541"/>
          </a:solidFill>
          <a:ln w="12700">
            <a:solidFill>
              <a:srgbClr val="0E1B33"/>
            </a:solidFill>
            <a:prstDash val="solid"/>
          </a:ln>
        </p:spPr>
      </p:sp>
      <p:sp>
        <p:nvSpPr>
          <p:cNvPr id="51" name="Shape 49"/>
          <p:cNvSpPr/>
          <p:nvPr/>
        </p:nvSpPr>
        <p:spPr>
          <a:xfrm>
            <a:off x="10972800" y="2459736"/>
            <a:ext cx="164592" cy="132588"/>
          </a:xfrm>
          <a:prstGeom prst="rect">
            <a:avLst/>
          </a:prstGeom>
          <a:solidFill>
            <a:srgbClr val="C98F3C"/>
          </a:solidFill>
          <a:ln w="12700">
            <a:solidFill>
              <a:srgbClr val="0E1B33"/>
            </a:solidFill>
            <a:prstDash val="solid"/>
          </a:ln>
        </p:spPr>
      </p:sp>
      <p:sp>
        <p:nvSpPr>
          <p:cNvPr id="52" name="Shape 50"/>
          <p:cNvSpPr/>
          <p:nvPr/>
        </p:nvSpPr>
        <p:spPr>
          <a:xfrm>
            <a:off x="10094976" y="2459736"/>
            <a:ext cx="164592" cy="132588"/>
          </a:xfrm>
          <a:prstGeom prst="rect">
            <a:avLst/>
          </a:prstGeom>
          <a:solidFill>
            <a:srgbClr val="8C6A33"/>
          </a:solidFill>
          <a:ln w="12700">
            <a:solidFill>
              <a:srgbClr val="0E1B33"/>
            </a:solidFill>
            <a:prstDash val="solid"/>
          </a:ln>
        </p:spPr>
      </p:sp>
      <p:sp>
        <p:nvSpPr>
          <p:cNvPr id="53" name="Shape 51"/>
          <p:cNvSpPr/>
          <p:nvPr/>
        </p:nvSpPr>
        <p:spPr>
          <a:xfrm>
            <a:off x="10314432" y="2459736"/>
            <a:ext cx="164592" cy="132588"/>
          </a:xfrm>
          <a:prstGeom prst="rect">
            <a:avLst/>
          </a:prstGeom>
          <a:solidFill>
            <a:srgbClr val="F2A541"/>
          </a:solidFill>
          <a:ln w="12700">
            <a:solidFill>
              <a:srgbClr val="0E1B33"/>
            </a:solidFill>
            <a:prstDash val="solid"/>
          </a:ln>
        </p:spPr>
      </p:sp>
      <p:sp>
        <p:nvSpPr>
          <p:cNvPr id="54" name="Shape 52"/>
          <p:cNvSpPr/>
          <p:nvPr/>
        </p:nvSpPr>
        <p:spPr>
          <a:xfrm>
            <a:off x="10533888" y="2459736"/>
            <a:ext cx="164592" cy="132588"/>
          </a:xfrm>
          <a:prstGeom prst="rect">
            <a:avLst/>
          </a:prstGeom>
          <a:solidFill>
            <a:srgbClr val="C98F3C"/>
          </a:solidFill>
          <a:ln w="12700">
            <a:solidFill>
              <a:srgbClr val="0E1B33"/>
            </a:solidFill>
            <a:prstDash val="solid"/>
          </a:ln>
        </p:spPr>
      </p:sp>
      <p:sp>
        <p:nvSpPr>
          <p:cNvPr id="55" name="Shape 53"/>
          <p:cNvSpPr/>
          <p:nvPr/>
        </p:nvSpPr>
        <p:spPr>
          <a:xfrm>
            <a:off x="10753344" y="2459736"/>
            <a:ext cx="164592" cy="132588"/>
          </a:xfrm>
          <a:prstGeom prst="rect">
            <a:avLst/>
          </a:prstGeom>
          <a:solidFill>
            <a:srgbClr val="8C6A33"/>
          </a:solidFill>
          <a:ln w="12700">
            <a:solidFill>
              <a:srgbClr val="0E1B33"/>
            </a:solidFill>
            <a:prstDash val="solid"/>
          </a:ln>
        </p:spPr>
      </p:sp>
      <p:sp>
        <p:nvSpPr>
          <p:cNvPr id="56" name="Shape 54"/>
          <p:cNvSpPr/>
          <p:nvPr/>
        </p:nvSpPr>
        <p:spPr>
          <a:xfrm>
            <a:off x="10972800" y="2459736"/>
            <a:ext cx="164592" cy="132588"/>
          </a:xfrm>
          <a:prstGeom prst="rect">
            <a:avLst/>
          </a:prstGeom>
          <a:solidFill>
            <a:srgbClr val="F2A541"/>
          </a:solidFill>
          <a:ln w="12700">
            <a:solidFill>
              <a:srgbClr val="0E1B33"/>
            </a:solidFill>
            <a:prstDash val="solid"/>
          </a:ln>
        </p:spPr>
      </p:sp>
      <p:sp>
        <p:nvSpPr>
          <p:cNvPr id="57" name="Shape 55"/>
          <p:cNvSpPr/>
          <p:nvPr/>
        </p:nvSpPr>
        <p:spPr>
          <a:xfrm>
            <a:off x="10094976" y="2459736"/>
            <a:ext cx="164592" cy="132588"/>
          </a:xfrm>
          <a:prstGeom prst="rect">
            <a:avLst/>
          </a:prstGeom>
          <a:solidFill>
            <a:srgbClr val="C98F3C"/>
          </a:solidFill>
          <a:ln w="12700">
            <a:solidFill>
              <a:srgbClr val="0E1B33"/>
            </a:solidFill>
            <a:prstDash val="solid"/>
          </a:ln>
        </p:spPr>
      </p:sp>
      <p:sp>
        <p:nvSpPr>
          <p:cNvPr id="58" name="Shape 56"/>
          <p:cNvSpPr/>
          <p:nvPr/>
        </p:nvSpPr>
        <p:spPr>
          <a:xfrm>
            <a:off x="10314432" y="2459736"/>
            <a:ext cx="164592" cy="132588"/>
          </a:xfrm>
          <a:prstGeom prst="rect">
            <a:avLst/>
          </a:prstGeom>
          <a:solidFill>
            <a:srgbClr val="8C6A33"/>
          </a:solidFill>
          <a:ln w="12700">
            <a:solidFill>
              <a:srgbClr val="0E1B33"/>
            </a:solidFill>
            <a:prstDash val="solid"/>
          </a:ln>
        </p:spPr>
      </p:sp>
      <p:sp>
        <p:nvSpPr>
          <p:cNvPr id="59" name="Shape 57"/>
          <p:cNvSpPr/>
          <p:nvPr/>
        </p:nvSpPr>
        <p:spPr>
          <a:xfrm>
            <a:off x="10533888" y="2459736"/>
            <a:ext cx="164592" cy="132588"/>
          </a:xfrm>
          <a:prstGeom prst="rect">
            <a:avLst/>
          </a:prstGeom>
          <a:solidFill>
            <a:srgbClr val="F2A541"/>
          </a:solidFill>
          <a:ln w="12700">
            <a:solidFill>
              <a:srgbClr val="0E1B33"/>
            </a:solidFill>
            <a:prstDash val="solid"/>
          </a:ln>
        </p:spPr>
      </p:sp>
      <p:sp>
        <p:nvSpPr>
          <p:cNvPr id="60" name="Shape 58"/>
          <p:cNvSpPr/>
          <p:nvPr/>
        </p:nvSpPr>
        <p:spPr>
          <a:xfrm>
            <a:off x="10753344" y="2459736"/>
            <a:ext cx="164592" cy="132588"/>
          </a:xfrm>
          <a:prstGeom prst="rect">
            <a:avLst/>
          </a:prstGeom>
          <a:solidFill>
            <a:srgbClr val="C98F3C"/>
          </a:solidFill>
          <a:ln w="12700">
            <a:solidFill>
              <a:srgbClr val="0E1B33"/>
            </a:solidFill>
            <a:prstDash val="solid"/>
          </a:ln>
        </p:spPr>
      </p:sp>
      <p:sp>
        <p:nvSpPr>
          <p:cNvPr id="61" name="Shape 59"/>
          <p:cNvSpPr/>
          <p:nvPr/>
        </p:nvSpPr>
        <p:spPr>
          <a:xfrm>
            <a:off x="10972800" y="2459736"/>
            <a:ext cx="164592" cy="132588"/>
          </a:xfrm>
          <a:prstGeom prst="rect">
            <a:avLst/>
          </a:prstGeom>
          <a:solidFill>
            <a:srgbClr val="8C6A33"/>
          </a:solidFill>
          <a:ln w="12700">
            <a:solidFill>
              <a:srgbClr val="0E1B33"/>
            </a:solidFill>
            <a:prstDash val="solid"/>
          </a:ln>
        </p:spPr>
      </p:sp>
      <p:sp>
        <p:nvSpPr>
          <p:cNvPr id="62" name="Shape 60"/>
          <p:cNvSpPr/>
          <p:nvPr/>
        </p:nvSpPr>
        <p:spPr>
          <a:xfrm>
            <a:off x="10094976" y="2459736"/>
            <a:ext cx="164592" cy="132588"/>
          </a:xfrm>
          <a:prstGeom prst="rect">
            <a:avLst/>
          </a:prstGeom>
          <a:solidFill>
            <a:srgbClr val="F2A541"/>
          </a:solidFill>
          <a:ln w="12700">
            <a:solidFill>
              <a:srgbClr val="0E1B33"/>
            </a:solidFill>
            <a:prstDash val="solid"/>
          </a:ln>
        </p:spPr>
      </p:sp>
      <p:sp>
        <p:nvSpPr>
          <p:cNvPr id="63" name="Shape 61"/>
          <p:cNvSpPr/>
          <p:nvPr/>
        </p:nvSpPr>
        <p:spPr>
          <a:xfrm>
            <a:off x="10314432" y="2459736"/>
            <a:ext cx="164592" cy="132588"/>
          </a:xfrm>
          <a:prstGeom prst="rect">
            <a:avLst/>
          </a:prstGeom>
          <a:solidFill>
            <a:srgbClr val="C98F3C"/>
          </a:solidFill>
          <a:ln w="12700">
            <a:solidFill>
              <a:srgbClr val="0E1B33"/>
            </a:solidFill>
            <a:prstDash val="solid"/>
          </a:ln>
        </p:spPr>
      </p:sp>
      <p:sp>
        <p:nvSpPr>
          <p:cNvPr id="64" name="Shape 62"/>
          <p:cNvSpPr/>
          <p:nvPr/>
        </p:nvSpPr>
        <p:spPr>
          <a:xfrm>
            <a:off x="10533888" y="2459736"/>
            <a:ext cx="164592" cy="132588"/>
          </a:xfrm>
          <a:prstGeom prst="rect">
            <a:avLst/>
          </a:prstGeom>
          <a:solidFill>
            <a:srgbClr val="8C6A33"/>
          </a:solidFill>
          <a:ln w="12700">
            <a:solidFill>
              <a:srgbClr val="0E1B33"/>
            </a:solidFill>
            <a:prstDash val="solid"/>
          </a:ln>
        </p:spPr>
      </p:sp>
      <p:sp>
        <p:nvSpPr>
          <p:cNvPr id="65" name="Shape 63"/>
          <p:cNvSpPr/>
          <p:nvPr/>
        </p:nvSpPr>
        <p:spPr>
          <a:xfrm>
            <a:off x="10753344" y="2459736"/>
            <a:ext cx="164592" cy="132588"/>
          </a:xfrm>
          <a:prstGeom prst="rect">
            <a:avLst/>
          </a:prstGeom>
          <a:solidFill>
            <a:srgbClr val="F2A541"/>
          </a:solidFill>
          <a:ln w="12700">
            <a:solidFill>
              <a:srgbClr val="0E1B33"/>
            </a:solidFill>
            <a:prstDash val="solid"/>
          </a:ln>
        </p:spPr>
      </p:sp>
      <p:sp>
        <p:nvSpPr>
          <p:cNvPr id="66" name="Shape 64"/>
          <p:cNvSpPr/>
          <p:nvPr/>
        </p:nvSpPr>
        <p:spPr>
          <a:xfrm>
            <a:off x="10972800" y="2459736"/>
            <a:ext cx="164592" cy="132588"/>
          </a:xfrm>
          <a:prstGeom prst="rect">
            <a:avLst/>
          </a:prstGeom>
          <a:solidFill>
            <a:srgbClr val="C98F3C"/>
          </a:solidFill>
          <a:ln w="12700">
            <a:solidFill>
              <a:srgbClr val="0E1B33"/>
            </a:solidFill>
            <a:prstDash val="solid"/>
          </a:ln>
        </p:spPr>
      </p:sp>
      <p:sp>
        <p:nvSpPr>
          <p:cNvPr id="67" name="Shape 65"/>
          <p:cNvSpPr/>
          <p:nvPr/>
        </p:nvSpPr>
        <p:spPr>
          <a:xfrm>
            <a:off x="10094976" y="2642616"/>
            <a:ext cx="164592" cy="132588"/>
          </a:xfrm>
          <a:prstGeom prst="rect">
            <a:avLst/>
          </a:prstGeom>
          <a:solidFill>
            <a:srgbClr val="8C6A33"/>
          </a:solidFill>
          <a:ln w="12700">
            <a:solidFill>
              <a:srgbClr val="0E1B33"/>
            </a:solidFill>
            <a:prstDash val="solid"/>
          </a:ln>
        </p:spPr>
      </p:sp>
      <p:sp>
        <p:nvSpPr>
          <p:cNvPr id="68" name="Shape 66"/>
          <p:cNvSpPr/>
          <p:nvPr/>
        </p:nvSpPr>
        <p:spPr>
          <a:xfrm>
            <a:off x="10314432" y="2642616"/>
            <a:ext cx="164592" cy="132588"/>
          </a:xfrm>
          <a:prstGeom prst="rect">
            <a:avLst/>
          </a:prstGeom>
          <a:solidFill>
            <a:srgbClr val="F2A541"/>
          </a:solidFill>
          <a:ln w="12700">
            <a:solidFill>
              <a:srgbClr val="0E1B33"/>
            </a:solidFill>
            <a:prstDash val="solid"/>
          </a:ln>
        </p:spPr>
      </p:sp>
      <p:sp>
        <p:nvSpPr>
          <p:cNvPr id="69" name="Shape 67"/>
          <p:cNvSpPr/>
          <p:nvPr/>
        </p:nvSpPr>
        <p:spPr>
          <a:xfrm>
            <a:off x="10533888" y="2642616"/>
            <a:ext cx="164592" cy="132588"/>
          </a:xfrm>
          <a:prstGeom prst="rect">
            <a:avLst/>
          </a:prstGeom>
          <a:solidFill>
            <a:srgbClr val="C98F3C"/>
          </a:solidFill>
          <a:ln w="12700">
            <a:solidFill>
              <a:srgbClr val="0E1B33"/>
            </a:solidFill>
            <a:prstDash val="solid"/>
          </a:ln>
        </p:spPr>
      </p:sp>
      <p:sp>
        <p:nvSpPr>
          <p:cNvPr id="70" name="Shape 68"/>
          <p:cNvSpPr/>
          <p:nvPr/>
        </p:nvSpPr>
        <p:spPr>
          <a:xfrm>
            <a:off x="10753344" y="2642616"/>
            <a:ext cx="164592" cy="132588"/>
          </a:xfrm>
          <a:prstGeom prst="rect">
            <a:avLst/>
          </a:prstGeom>
          <a:solidFill>
            <a:srgbClr val="8C6A33"/>
          </a:solidFill>
          <a:ln w="12700">
            <a:solidFill>
              <a:srgbClr val="0E1B33"/>
            </a:solidFill>
            <a:prstDash val="solid"/>
          </a:ln>
        </p:spPr>
      </p:sp>
      <p:sp>
        <p:nvSpPr>
          <p:cNvPr id="71" name="Shape 69"/>
          <p:cNvSpPr/>
          <p:nvPr/>
        </p:nvSpPr>
        <p:spPr>
          <a:xfrm>
            <a:off x="10972800" y="2642616"/>
            <a:ext cx="164592" cy="132588"/>
          </a:xfrm>
          <a:prstGeom prst="rect">
            <a:avLst/>
          </a:prstGeom>
          <a:solidFill>
            <a:srgbClr val="F2A541"/>
          </a:solidFill>
          <a:ln w="12700">
            <a:solidFill>
              <a:srgbClr val="0E1B33"/>
            </a:solidFill>
            <a:prstDash val="solid"/>
          </a:ln>
        </p:spPr>
      </p:sp>
      <p:sp>
        <p:nvSpPr>
          <p:cNvPr id="72" name="Shape 70"/>
          <p:cNvSpPr/>
          <p:nvPr/>
        </p:nvSpPr>
        <p:spPr>
          <a:xfrm>
            <a:off x="10094976" y="2825496"/>
            <a:ext cx="164592" cy="132588"/>
          </a:xfrm>
          <a:prstGeom prst="rect">
            <a:avLst/>
          </a:prstGeom>
          <a:solidFill>
            <a:srgbClr val="C98F3C"/>
          </a:solidFill>
          <a:ln w="12700">
            <a:solidFill>
              <a:srgbClr val="0E1B33"/>
            </a:solidFill>
            <a:prstDash val="solid"/>
          </a:ln>
        </p:spPr>
      </p:sp>
      <p:sp>
        <p:nvSpPr>
          <p:cNvPr id="73" name="Shape 71"/>
          <p:cNvSpPr/>
          <p:nvPr/>
        </p:nvSpPr>
        <p:spPr>
          <a:xfrm>
            <a:off x="10314432" y="2825496"/>
            <a:ext cx="164592" cy="132588"/>
          </a:xfrm>
          <a:prstGeom prst="rect">
            <a:avLst/>
          </a:prstGeom>
          <a:solidFill>
            <a:srgbClr val="8C6A33"/>
          </a:solidFill>
          <a:ln w="12700">
            <a:solidFill>
              <a:srgbClr val="0E1B33"/>
            </a:solidFill>
            <a:prstDash val="solid"/>
          </a:ln>
        </p:spPr>
      </p:sp>
      <p:sp>
        <p:nvSpPr>
          <p:cNvPr id="74" name="Shape 72"/>
          <p:cNvSpPr/>
          <p:nvPr/>
        </p:nvSpPr>
        <p:spPr>
          <a:xfrm>
            <a:off x="10533888" y="2825496"/>
            <a:ext cx="164592" cy="132588"/>
          </a:xfrm>
          <a:prstGeom prst="rect">
            <a:avLst/>
          </a:prstGeom>
          <a:solidFill>
            <a:srgbClr val="F2A541"/>
          </a:solidFill>
          <a:ln w="12700">
            <a:solidFill>
              <a:srgbClr val="0E1B33"/>
            </a:solidFill>
            <a:prstDash val="solid"/>
          </a:ln>
        </p:spPr>
      </p:sp>
      <p:sp>
        <p:nvSpPr>
          <p:cNvPr id="75" name="Shape 73"/>
          <p:cNvSpPr/>
          <p:nvPr/>
        </p:nvSpPr>
        <p:spPr>
          <a:xfrm>
            <a:off x="10753344" y="2825496"/>
            <a:ext cx="164592" cy="132588"/>
          </a:xfrm>
          <a:prstGeom prst="rect">
            <a:avLst/>
          </a:prstGeom>
          <a:solidFill>
            <a:srgbClr val="C98F3C"/>
          </a:solidFill>
          <a:ln w="12700">
            <a:solidFill>
              <a:srgbClr val="0E1B33"/>
            </a:solidFill>
            <a:prstDash val="solid"/>
          </a:ln>
        </p:spPr>
      </p:sp>
      <p:sp>
        <p:nvSpPr>
          <p:cNvPr id="76" name="Shape 74"/>
          <p:cNvSpPr/>
          <p:nvPr/>
        </p:nvSpPr>
        <p:spPr>
          <a:xfrm>
            <a:off x="10972800" y="2825496"/>
            <a:ext cx="164592" cy="132588"/>
          </a:xfrm>
          <a:prstGeom prst="rect">
            <a:avLst/>
          </a:prstGeom>
          <a:solidFill>
            <a:srgbClr val="8C6A33"/>
          </a:solidFill>
          <a:ln w="12700">
            <a:solidFill>
              <a:srgbClr val="0E1B33"/>
            </a:solidFill>
            <a:prstDash val="solid"/>
          </a:ln>
        </p:spPr>
      </p:sp>
      <p:sp>
        <p:nvSpPr>
          <p:cNvPr id="77" name="Shape 75"/>
          <p:cNvSpPr/>
          <p:nvPr/>
        </p:nvSpPr>
        <p:spPr>
          <a:xfrm>
            <a:off x="10094976" y="3008376"/>
            <a:ext cx="164592" cy="132588"/>
          </a:xfrm>
          <a:prstGeom prst="rect">
            <a:avLst/>
          </a:prstGeom>
          <a:solidFill>
            <a:srgbClr val="F2A541"/>
          </a:solidFill>
          <a:ln w="12700">
            <a:solidFill>
              <a:srgbClr val="0E1B33"/>
            </a:solidFill>
            <a:prstDash val="solid"/>
          </a:ln>
        </p:spPr>
      </p:sp>
      <p:sp>
        <p:nvSpPr>
          <p:cNvPr id="78" name="Shape 76"/>
          <p:cNvSpPr/>
          <p:nvPr/>
        </p:nvSpPr>
        <p:spPr>
          <a:xfrm>
            <a:off x="10314432" y="3008376"/>
            <a:ext cx="164592" cy="132588"/>
          </a:xfrm>
          <a:prstGeom prst="rect">
            <a:avLst/>
          </a:prstGeom>
          <a:solidFill>
            <a:srgbClr val="C98F3C"/>
          </a:solidFill>
          <a:ln w="12700">
            <a:solidFill>
              <a:srgbClr val="0E1B33"/>
            </a:solidFill>
            <a:prstDash val="solid"/>
          </a:ln>
        </p:spPr>
      </p:sp>
      <p:sp>
        <p:nvSpPr>
          <p:cNvPr id="79" name="Shape 77"/>
          <p:cNvSpPr/>
          <p:nvPr/>
        </p:nvSpPr>
        <p:spPr>
          <a:xfrm>
            <a:off x="10533888" y="3008376"/>
            <a:ext cx="164592" cy="132588"/>
          </a:xfrm>
          <a:prstGeom prst="rect">
            <a:avLst/>
          </a:prstGeom>
          <a:solidFill>
            <a:srgbClr val="8C6A33"/>
          </a:solidFill>
          <a:ln w="12700">
            <a:solidFill>
              <a:srgbClr val="0E1B33"/>
            </a:solidFill>
            <a:prstDash val="solid"/>
          </a:ln>
        </p:spPr>
      </p:sp>
      <p:sp>
        <p:nvSpPr>
          <p:cNvPr id="80" name="Shape 78"/>
          <p:cNvSpPr/>
          <p:nvPr/>
        </p:nvSpPr>
        <p:spPr>
          <a:xfrm>
            <a:off x="10753344" y="3008376"/>
            <a:ext cx="164592" cy="132588"/>
          </a:xfrm>
          <a:prstGeom prst="rect">
            <a:avLst/>
          </a:prstGeom>
          <a:solidFill>
            <a:srgbClr val="F2A541"/>
          </a:solidFill>
          <a:ln w="12700">
            <a:solidFill>
              <a:srgbClr val="0E1B33"/>
            </a:solidFill>
            <a:prstDash val="solid"/>
          </a:ln>
        </p:spPr>
      </p:sp>
      <p:sp>
        <p:nvSpPr>
          <p:cNvPr id="81" name="Shape 79"/>
          <p:cNvSpPr/>
          <p:nvPr/>
        </p:nvSpPr>
        <p:spPr>
          <a:xfrm>
            <a:off x="10972800" y="3008376"/>
            <a:ext cx="164592" cy="132588"/>
          </a:xfrm>
          <a:prstGeom prst="rect">
            <a:avLst/>
          </a:prstGeom>
          <a:solidFill>
            <a:srgbClr val="C98F3C"/>
          </a:solidFill>
          <a:ln w="12700">
            <a:solidFill>
              <a:srgbClr val="0E1B33"/>
            </a:solidFill>
            <a:prstDash val="solid"/>
          </a:ln>
        </p:spPr>
      </p:sp>
      <p:sp>
        <p:nvSpPr>
          <p:cNvPr id="82" name="Text 80"/>
          <p:cNvSpPr txBox="1"/>
          <p:nvPr/>
        </p:nvSpPr>
        <p:spPr>
          <a:xfrm>
            <a:off x="8339328" y="3255264"/>
            <a:ext cx="2843784" cy="256032"/>
          </a:xfrm>
          <a:prstGeom prst="rect">
            <a:avLst/>
          </a:prstGeom>
          <a:noFill/>
          <a:ln/>
        </p:spPr>
        <p:txBody>
          <a:bodyPr wrap="square" lIns="0" tIns="0" rIns="0" bIns="0" rtlCol="0" anchor="ctr"/>
          <a:lstStyle/>
          <a:p>
            <a:pPr indent="0" marL="0">
              <a:buNone/>
            </a:pPr>
            <a:r>
              <a:rPr lang="en-US" sz="1050" i="1" dirty="0">
                <a:solidFill>
                  <a:srgbClr val="B3C4DC"/>
                </a:solidFill>
                <a:latin typeface="Calibri" pitchFamily="34" charset="0"/>
                <a:ea typeface="Calibri" pitchFamily="34" charset="-122"/>
                <a:cs typeface="Calibri" pitchFamily="34" charset="-120"/>
              </a:rPr>
              <a:t>learned, not chosen by me</a:t>
            </a:r>
            <a:endParaRPr lang="en-US" sz="1050" dirty="0"/>
          </a:p>
        </p:txBody>
      </p:sp>
      <p:sp>
        <p:nvSpPr>
          <p:cNvPr id="83" name="Text 81"/>
          <p:cNvSpPr txBox="1"/>
          <p:nvPr/>
        </p:nvSpPr>
        <p:spPr>
          <a:xfrm>
            <a:off x="8339328" y="3547872"/>
            <a:ext cx="2834640" cy="713232"/>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1,536</a:t>
            </a:r>
            <a:endParaRPr lang="en-US" sz="4000" dirty="0"/>
          </a:p>
        </p:txBody>
      </p:sp>
      <p:sp>
        <p:nvSpPr>
          <p:cNvPr id="84" name="Text 82"/>
          <p:cNvSpPr txBox="1"/>
          <p:nvPr/>
        </p:nvSpPr>
        <p:spPr>
          <a:xfrm>
            <a:off x="8339328" y="4242816"/>
            <a:ext cx="2834640" cy="256032"/>
          </a:xfrm>
          <a:prstGeom prst="rect">
            <a:avLst/>
          </a:prstGeom>
          <a:noFill/>
          <a:ln/>
        </p:spPr>
        <p:txBody>
          <a:bodyPr wrap="square" lIns="0" tIns="0" rIns="0" bIns="0" rtlCol="0" anchor="ctr"/>
          <a:lstStyle/>
          <a:p>
            <a:pPr indent="0" marL="0">
              <a:buNone/>
            </a:pPr>
            <a:r>
              <a:rPr lang="en-US" sz="1100" dirty="0">
                <a:solidFill>
                  <a:srgbClr val="B3C4DC"/>
                </a:solidFill>
                <a:latin typeface="Calibri" pitchFamily="34" charset="0"/>
                <a:ea typeface="Calibri" pitchFamily="34" charset="-122"/>
                <a:cs typeface="Calibri" pitchFamily="34" charset="-120"/>
              </a:rPr>
              <a:t>numbers per 0.25 s window</a:t>
            </a:r>
            <a:endParaRPr lang="en-US" sz="1100" dirty="0"/>
          </a:p>
        </p:txBody>
      </p:sp>
      <p:sp>
        <p:nvSpPr>
          <p:cNvPr id="85" name="Text 83"/>
          <p:cNvSpPr txBox="1"/>
          <p:nvPr/>
        </p:nvSpPr>
        <p:spPr>
          <a:xfrm>
            <a:off x="8339328" y="4535424"/>
            <a:ext cx="2834640" cy="45720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libri" pitchFamily="34" charset="0"/>
                <a:ea typeface="Calibri" pitchFamily="34" charset="-122"/>
                <a:cs typeface="Calibri" pitchFamily="34" charset="-120"/>
              </a:rPr>
              <a:t>A pretrained network's own description</a:t>
            </a:r>
            <a:endParaRPr lang="en-US" sz="1300" dirty="0"/>
          </a:p>
        </p:txBody>
      </p:sp>
      <p:sp>
        <p:nvSpPr>
          <p:cNvPr id="86" name="Shape 84"/>
          <p:cNvSpPr/>
          <p:nvPr/>
        </p:nvSpPr>
        <p:spPr>
          <a:xfrm>
            <a:off x="640080" y="5321808"/>
            <a:ext cx="10911535" cy="566928"/>
          </a:xfrm>
          <a:prstGeom prst="roundRect">
            <a:avLst>
              <a:gd name="adj" fmla="val 9677"/>
            </a:avLst>
          </a:prstGeom>
          <a:solidFill>
            <a:srgbClr val="0E1B33"/>
          </a:solidFill>
          <a:ln w="12700">
            <a:solidFill>
              <a:srgbClr val="0E1B33"/>
            </a:solidFill>
            <a:prstDash val="solid"/>
          </a:ln>
        </p:spPr>
      </p:sp>
      <p:sp>
        <p:nvSpPr>
          <p:cNvPr id="87" name="Text 85"/>
          <p:cNvSpPr txBox="1"/>
          <p:nvPr/>
        </p:nvSpPr>
        <p:spPr>
          <a:xfrm>
            <a:off x="914400" y="5321808"/>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Two are built by hand. One is learned — and used frozen, with no fine-tuning.</a:t>
            </a:r>
            <a:endParaRPr lang="en-US" sz="1450" dirty="0"/>
          </a:p>
        </p:txBody>
      </p:sp>
      <p:sp>
        <p:nvSpPr>
          <p:cNvPr id="88" name="Text 86"/>
          <p:cNvSpPr txBox="1"/>
          <p:nvPr/>
        </p:nvSpPr>
        <p:spPr>
          <a:xfrm>
            <a:off x="640080" y="6016752"/>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Perch v2 was pretrained on a very large multi-taxa sound collection. It needs one adaptation before it can hear a bat.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METHOD · THE KEY ADAPTATION</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Perch hears up to 16 kHz. Bats call at 20–120.</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Tenfold time expansion</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742036" y="1828800"/>
            <a:ext cx="4901184" cy="2468880"/>
          </a:xfrm>
          <a:prstGeom prst="roundRect">
            <a:avLst>
              <a:gd name="adj" fmla="val 2222"/>
            </a:avLst>
          </a:prstGeom>
          <a:solidFill>
            <a:srgbClr val="F2F5F9"/>
          </a:solidFill>
          <a:ln w="12700">
            <a:solidFill>
              <a:srgbClr val="D5DEEA"/>
            </a:solidFill>
            <a:prstDash val="solid"/>
          </a:ln>
        </p:spPr>
      </p:sp>
      <p:sp>
        <p:nvSpPr>
          <p:cNvPr id="7" name="Text 5"/>
          <p:cNvSpPr txBox="1"/>
          <p:nvPr/>
        </p:nvSpPr>
        <p:spPr>
          <a:xfrm>
            <a:off x="906628" y="1920240"/>
            <a:ext cx="4572000" cy="274320"/>
          </a:xfrm>
          <a:prstGeom prst="rect">
            <a:avLst/>
          </a:prstGeom>
          <a:noFill/>
          <a:ln/>
        </p:spPr>
        <p:txBody>
          <a:bodyPr wrap="square" lIns="0" tIns="0" rIns="0" bIns="0" rtlCol="0" anchor="ctr"/>
          <a:lstStyle/>
          <a:p>
            <a:pPr indent="0" marL="0">
              <a:buNone/>
            </a:pPr>
            <a:r>
              <a:rPr lang="en-US" sz="1100" b="1" spc="160" kern="0" dirty="0">
                <a:solidFill>
                  <a:srgbClr val="E76F51"/>
                </a:solidFill>
                <a:latin typeface="Calibri" pitchFamily="34" charset="0"/>
                <a:ea typeface="Calibri" pitchFamily="34" charset="-122"/>
                <a:cs typeface="Calibri" pitchFamily="34" charset="-120"/>
              </a:rPr>
              <a:t>AS RECORDED</a:t>
            </a:r>
            <a:endParaRPr lang="en-US" sz="1100" dirty="0"/>
          </a:p>
        </p:txBody>
      </p:sp>
      <p:pic>
        <p:nvPicPr>
          <p:cNvPr id="8" name="Image 0" descr="/tmp/claude-0/-home-user-pgs/8689355c-e60c-59e2-8422-64ed5c528138/scratchpad/work/assets/buzz_spec.jpg">    </p:cNvPr>
          <p:cNvPicPr>
            <a:picLocks noChangeAspect="1"/>
          </p:cNvPicPr>
          <p:nvPr/>
        </p:nvPicPr>
        <p:blipFill>
          <a:blip r:embed="rId1"/>
          <a:stretch>
            <a:fillRect/>
          </a:stretch>
        </p:blipFill>
        <p:spPr>
          <a:xfrm>
            <a:off x="906628" y="2331720"/>
            <a:ext cx="4572000" cy="1051560"/>
          </a:xfrm>
          <a:prstGeom prst="rect">
            <a:avLst/>
          </a:prstGeom>
        </p:spPr>
      </p:pic>
      <p:sp>
        <p:nvSpPr>
          <p:cNvPr id="9" name="Text 6"/>
          <p:cNvSpPr txBox="1"/>
          <p:nvPr/>
        </p:nvSpPr>
        <p:spPr>
          <a:xfrm>
            <a:off x="906628" y="3511296"/>
            <a:ext cx="4572000" cy="292608"/>
          </a:xfrm>
          <a:prstGeom prst="rect">
            <a:avLst/>
          </a:prstGeom>
          <a:noFill/>
          <a:ln/>
        </p:spPr>
        <p:txBody>
          <a:bodyPr wrap="square" lIns="0" tIns="0" rIns="0" bIns="0" rtlCol="0" anchor="ctr"/>
          <a:lstStyle/>
          <a:p>
            <a:pPr indent="0" marL="0">
              <a:buNone/>
            </a:pPr>
            <a:r>
              <a:rPr lang="en-US" sz="1700" b="1" dirty="0">
                <a:solidFill>
                  <a:srgbClr val="22314D"/>
                </a:solidFill>
                <a:latin typeface="Cambria" pitchFamily="34" charset="0"/>
                <a:ea typeface="Cambria" pitchFamily="34" charset="-122"/>
                <a:cs typeface="Cambria" pitchFamily="34" charset="-120"/>
              </a:rPr>
              <a:t>0.25 s   ·   0 – 192 kHz</a:t>
            </a:r>
            <a:endParaRPr lang="en-US" sz="1700" dirty="0"/>
          </a:p>
        </p:txBody>
      </p:sp>
      <p:sp>
        <p:nvSpPr>
          <p:cNvPr id="10" name="Text 7"/>
          <p:cNvSpPr txBox="1"/>
          <p:nvPr/>
        </p:nvSpPr>
        <p:spPr>
          <a:xfrm>
            <a:off x="906628" y="3840480"/>
            <a:ext cx="4572000" cy="292608"/>
          </a:xfrm>
          <a:prstGeom prst="rect">
            <a:avLst/>
          </a:prstGeom>
          <a:noFill/>
          <a:ln/>
        </p:spPr>
        <p:txBody>
          <a:bodyPr wrap="square" lIns="0" tIns="0" rIns="0" bIns="0" rtlCol="0" anchor="ctr"/>
          <a:lstStyle/>
          <a:p>
            <a:pPr indent="0" marL="0">
              <a:buNone/>
            </a:pPr>
            <a:r>
              <a:rPr lang="en-US" sz="1200" dirty="0">
                <a:solidFill>
                  <a:srgbClr val="5F718C"/>
                </a:solidFill>
                <a:latin typeface="Calibri" pitchFamily="34" charset="0"/>
                <a:ea typeface="Calibri" pitchFamily="34" charset="-122"/>
                <a:cs typeface="Calibri" pitchFamily="34" charset="-120"/>
              </a:rPr>
              <a:t>every call is above the model's ceiling</a:t>
            </a:r>
            <a:endParaRPr lang="en-US" sz="1200" dirty="0"/>
          </a:p>
        </p:txBody>
      </p:sp>
      <p:sp>
        <p:nvSpPr>
          <p:cNvPr id="11" name="Shape 8"/>
          <p:cNvSpPr/>
          <p:nvPr/>
        </p:nvSpPr>
        <p:spPr>
          <a:xfrm>
            <a:off x="6548476" y="1828800"/>
            <a:ext cx="4901184" cy="2468880"/>
          </a:xfrm>
          <a:prstGeom prst="roundRect">
            <a:avLst>
              <a:gd name="adj" fmla="val 2222"/>
            </a:avLst>
          </a:prstGeom>
          <a:solidFill>
            <a:srgbClr val="F2F5F9"/>
          </a:solidFill>
          <a:ln w="12700">
            <a:solidFill>
              <a:srgbClr val="D5DEEA"/>
            </a:solidFill>
            <a:prstDash val="solid"/>
          </a:ln>
        </p:spPr>
      </p:sp>
      <p:sp>
        <p:nvSpPr>
          <p:cNvPr id="12" name="Text 9"/>
          <p:cNvSpPr txBox="1"/>
          <p:nvPr/>
        </p:nvSpPr>
        <p:spPr>
          <a:xfrm>
            <a:off x="6713068" y="1920240"/>
            <a:ext cx="4572000" cy="274320"/>
          </a:xfrm>
          <a:prstGeom prst="rect">
            <a:avLst/>
          </a:prstGeom>
          <a:noFill/>
          <a:ln/>
        </p:spPr>
        <p:txBody>
          <a:bodyPr wrap="square" lIns="0" tIns="0" rIns="0" bIns="0" rtlCol="0" anchor="ctr"/>
          <a:lstStyle/>
          <a:p>
            <a:pPr indent="0" marL="0">
              <a:buNone/>
            </a:pPr>
            <a:r>
              <a:rPr lang="en-US" sz="1100" b="1" spc="160" kern="0" dirty="0">
                <a:solidFill>
                  <a:srgbClr val="1E7A70"/>
                </a:solidFill>
                <a:latin typeface="Calibri" pitchFamily="34" charset="0"/>
                <a:ea typeface="Calibri" pitchFamily="34" charset="-122"/>
                <a:cs typeface="Calibri" pitchFamily="34" charset="-120"/>
              </a:rPr>
              <a:t>AS PERCH READS IT</a:t>
            </a:r>
            <a:endParaRPr lang="en-US" sz="1100" dirty="0"/>
          </a:p>
        </p:txBody>
      </p:sp>
      <p:pic>
        <p:nvPicPr>
          <p:cNvPr id="13" name="Image 1" descr="/tmp/claude-0/-home-user-pgs/8689355c-e60c-59e2-8422-64ed5c528138/scratchpad/work/assets/buzz_spec.jpg">    </p:cNvPr>
          <p:cNvPicPr>
            <a:picLocks noChangeAspect="1"/>
          </p:cNvPicPr>
          <p:nvPr/>
        </p:nvPicPr>
        <p:blipFill>
          <a:blip r:embed="rId2"/>
          <a:stretch>
            <a:fillRect/>
          </a:stretch>
        </p:blipFill>
        <p:spPr>
          <a:xfrm>
            <a:off x="6713068" y="2331720"/>
            <a:ext cx="4572000" cy="1051560"/>
          </a:xfrm>
          <a:prstGeom prst="rect">
            <a:avLst/>
          </a:prstGeom>
        </p:spPr>
      </p:pic>
      <p:sp>
        <p:nvSpPr>
          <p:cNvPr id="14" name="Text 10"/>
          <p:cNvSpPr txBox="1"/>
          <p:nvPr/>
        </p:nvSpPr>
        <p:spPr>
          <a:xfrm>
            <a:off x="6713068" y="3511296"/>
            <a:ext cx="4572000" cy="292608"/>
          </a:xfrm>
          <a:prstGeom prst="rect">
            <a:avLst/>
          </a:prstGeom>
          <a:noFill/>
          <a:ln/>
        </p:spPr>
        <p:txBody>
          <a:bodyPr wrap="square" lIns="0" tIns="0" rIns="0" bIns="0" rtlCol="0" anchor="ctr"/>
          <a:lstStyle/>
          <a:p>
            <a:pPr indent="0" marL="0">
              <a:buNone/>
            </a:pPr>
            <a:r>
              <a:rPr lang="en-US" sz="1700" b="1" dirty="0">
                <a:solidFill>
                  <a:srgbClr val="22314D"/>
                </a:solidFill>
                <a:latin typeface="Cambria" pitchFamily="34" charset="0"/>
                <a:ea typeface="Cambria" pitchFamily="34" charset="-122"/>
                <a:cs typeface="Cambria" pitchFamily="34" charset="-120"/>
              </a:rPr>
              <a:t>2.5 s   ·   0 – 19.2 kHz</a:t>
            </a:r>
            <a:endParaRPr lang="en-US" sz="1700" dirty="0"/>
          </a:p>
        </p:txBody>
      </p:sp>
      <p:sp>
        <p:nvSpPr>
          <p:cNvPr id="15" name="Text 11"/>
          <p:cNvSpPr txBox="1"/>
          <p:nvPr/>
        </p:nvSpPr>
        <p:spPr>
          <a:xfrm>
            <a:off x="6713068" y="3840480"/>
            <a:ext cx="4572000" cy="292608"/>
          </a:xfrm>
          <a:prstGeom prst="rect">
            <a:avLst/>
          </a:prstGeom>
          <a:noFill/>
          <a:ln/>
        </p:spPr>
        <p:txBody>
          <a:bodyPr wrap="square" lIns="0" tIns="0" rIns="0" bIns="0" rtlCol="0" anchor="ctr"/>
          <a:lstStyle/>
          <a:p>
            <a:pPr indent="0" marL="0">
              <a:buNone/>
            </a:pPr>
            <a:r>
              <a:rPr lang="en-US" sz="1200" dirty="0">
                <a:solidFill>
                  <a:srgbClr val="5F718C"/>
                </a:solidFill>
                <a:latin typeface="Calibri" pitchFamily="34" charset="0"/>
                <a:ea typeface="Calibri" pitchFamily="34" charset="-122"/>
                <a:cs typeface="Calibri" pitchFamily="34" charset="-120"/>
              </a:rPr>
              <a:t>the same pattern, now inside the ceiling</a:t>
            </a:r>
            <a:endParaRPr lang="en-US" sz="1200" dirty="0"/>
          </a:p>
        </p:txBody>
      </p:sp>
      <p:sp>
        <p:nvSpPr>
          <p:cNvPr id="16" name="Shape 12"/>
          <p:cNvSpPr/>
          <p:nvPr/>
        </p:nvSpPr>
        <p:spPr>
          <a:xfrm>
            <a:off x="5734660" y="2496312"/>
            <a:ext cx="722376" cy="722376"/>
          </a:xfrm>
          <a:prstGeom prst="ellipse">
            <a:avLst/>
          </a:prstGeom>
          <a:solidFill>
            <a:srgbClr val="0E1B33"/>
          </a:solidFill>
          <a:ln w="12700">
            <a:solidFill>
              <a:srgbClr val="0E1B33"/>
            </a:solidFill>
            <a:prstDash val="solid"/>
          </a:ln>
        </p:spPr>
      </p:sp>
      <p:sp>
        <p:nvSpPr>
          <p:cNvPr id="17" name="Text 13"/>
          <p:cNvSpPr txBox="1"/>
          <p:nvPr/>
        </p:nvSpPr>
        <p:spPr>
          <a:xfrm>
            <a:off x="5734660" y="2496312"/>
            <a:ext cx="722376" cy="722376"/>
          </a:xfrm>
          <a:prstGeom prst="rect">
            <a:avLst/>
          </a:prstGeom>
          <a:noFill/>
          <a:ln/>
        </p:spPr>
        <p:txBody>
          <a:bodyPr wrap="square" lIns="0" tIns="0" rIns="0" bIns="0" rtlCol="0" anchor="ctr"/>
          <a:lstStyle/>
          <a:p>
            <a:pPr algn="ctr" indent="0" marL="0">
              <a:buNone/>
            </a:pPr>
            <a:r>
              <a:rPr lang="en-US" sz="1700" b="1" dirty="0">
                <a:solidFill>
                  <a:srgbClr val="F2A541"/>
                </a:solidFill>
                <a:latin typeface="Calibri" pitchFamily="34" charset="0"/>
                <a:ea typeface="Calibri" pitchFamily="34" charset="-122"/>
                <a:cs typeface="Calibri" pitchFamily="34" charset="-120"/>
              </a:rPr>
              <a:t>×10</a:t>
            </a:r>
            <a:endParaRPr lang="en-US" sz="1700" dirty="0"/>
          </a:p>
        </p:txBody>
      </p:sp>
      <p:sp>
        <p:nvSpPr>
          <p:cNvPr id="18" name="Shape 14"/>
          <p:cNvSpPr/>
          <p:nvPr/>
        </p:nvSpPr>
        <p:spPr>
          <a:xfrm>
            <a:off x="640080" y="5029200"/>
            <a:ext cx="10911535" cy="566928"/>
          </a:xfrm>
          <a:prstGeom prst="roundRect">
            <a:avLst>
              <a:gd name="adj" fmla="val 9677"/>
            </a:avLst>
          </a:prstGeom>
          <a:solidFill>
            <a:srgbClr val="0E1B33"/>
          </a:solidFill>
          <a:ln w="12700">
            <a:solidFill>
              <a:srgbClr val="0E1B33"/>
            </a:solidFill>
            <a:prstDash val="solid"/>
          </a:ln>
        </p:spPr>
      </p:sp>
      <p:sp>
        <p:nvSpPr>
          <p:cNvPr id="19" name="Text 15"/>
          <p:cNvSpPr txBox="1"/>
          <p:nvPr/>
        </p:nvSpPr>
        <p:spPr>
          <a:xfrm>
            <a:off x="914400" y="5029200"/>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Resample 384 → 320 kHz, then let a 32 kHz model read it: time ×10, frequency ÷10, pattern intact.</a:t>
            </a:r>
            <a:endParaRPr lang="en-US" sz="1450" dirty="0"/>
          </a:p>
        </p:txBody>
      </p:sp>
      <p:sp>
        <p:nvSpPr>
          <p:cNvPr id="20" name="Text 16"/>
          <p:cNvSpPr txBox="1"/>
          <p:nvPr/>
        </p:nvSpPr>
        <p:spPr>
          <a:xfrm>
            <a:off x="640080" y="5779008"/>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Only Perch carries this conversion — the comparison is between whole pipelines, not architectures.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 · QUESTION 1</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The gap closes — for one of the three</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Detection performance</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548640" y="1691640"/>
          <a:ext cx="740664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72400" y="1719072"/>
            <a:ext cx="3776472" cy="1024128"/>
          </a:xfrm>
          <a:prstGeom prst="roundRect">
            <a:avLst>
              <a:gd name="adj" fmla="val 5357"/>
            </a:avLst>
          </a:prstGeom>
          <a:solidFill>
            <a:srgbClr val="0E1B33"/>
          </a:solidFill>
          <a:ln w="12700">
            <a:solidFill>
              <a:srgbClr val="0E1B33"/>
            </a:solidFill>
            <a:prstDash val="solid"/>
          </a:ln>
        </p:spPr>
      </p:sp>
      <p:sp>
        <p:nvSpPr>
          <p:cNvPr id="8" name="Text 5"/>
          <p:cNvSpPr txBox="1"/>
          <p:nvPr/>
        </p:nvSpPr>
        <p:spPr>
          <a:xfrm>
            <a:off x="8028432" y="1837944"/>
            <a:ext cx="3291840" cy="457200"/>
          </a:xfrm>
          <a:prstGeom prst="rect">
            <a:avLst/>
          </a:prstGeom>
          <a:noFill/>
          <a:ln/>
        </p:spPr>
        <p:txBody>
          <a:bodyPr wrap="square" lIns="0" tIns="0" rIns="0" bIns="0" rtlCol="0" anchor="t"/>
          <a:lstStyle/>
          <a:p>
            <a:pPr indent="0" marL="0">
              <a:lnSpc>
                <a:spcPts val="1600"/>
              </a:lnSpc>
              <a:buNone/>
            </a:pPr>
            <a:r>
              <a:rPr lang="en-US" sz="1250" b="1" dirty="0">
                <a:solidFill>
                  <a:srgbClr val="F2A541"/>
                </a:solidFill>
                <a:latin typeface="Calibri" pitchFamily="34" charset="0"/>
                <a:ea typeface="Calibri" pitchFamily="34" charset="-122"/>
                <a:cs typeface="Calibri" pitchFamily="34" charset="-120"/>
              </a:rPr>
              <a:t>Perch's worst site beats the baseline's average</a:t>
            </a:r>
            <a:endParaRPr lang="en-US" sz="1250" dirty="0"/>
          </a:p>
        </p:txBody>
      </p:sp>
      <p:sp>
        <p:nvSpPr>
          <p:cNvPr id="9" name="Text 6"/>
          <p:cNvSpPr txBox="1"/>
          <p:nvPr/>
        </p:nvSpPr>
        <p:spPr>
          <a:xfrm>
            <a:off x="8028432" y="2295144"/>
            <a:ext cx="3291840" cy="384048"/>
          </a:xfrm>
          <a:prstGeom prst="rect">
            <a:avLst/>
          </a:prstGeom>
          <a:noFill/>
          <a:ln/>
        </p:spPr>
        <p:txBody>
          <a:bodyPr wrap="square" lIns="0" tIns="0" rIns="0" bIns="0" rtlCol="0" anchor="t"/>
          <a:lstStyle/>
          <a:p>
            <a:pPr indent="0" marL="0">
              <a:lnSpc>
                <a:spcPts val="1500"/>
              </a:lnSpc>
              <a:buNone/>
            </a:pPr>
            <a:r>
              <a:rPr lang="en-US" sz="1100" dirty="0">
                <a:solidFill>
                  <a:srgbClr val="B3C4DC"/>
                </a:solidFill>
                <a:latin typeface="Calibri" pitchFamily="34" charset="0"/>
                <a:ea typeface="Calibri" pitchFamily="34" charset="-122"/>
                <a:cs typeface="Calibri" pitchFamily="34" charset="-120"/>
              </a:rPr>
              <a:t>0.950 against 0.872 mean F1</a:t>
            </a:r>
            <a:endParaRPr lang="en-US" sz="1100" dirty="0"/>
          </a:p>
        </p:txBody>
      </p:sp>
      <p:sp>
        <p:nvSpPr>
          <p:cNvPr id="10" name="Shape 7"/>
          <p:cNvSpPr/>
          <p:nvPr/>
        </p:nvSpPr>
        <p:spPr>
          <a:xfrm>
            <a:off x="7772400" y="2852928"/>
            <a:ext cx="3776472" cy="1024128"/>
          </a:xfrm>
          <a:prstGeom prst="roundRect">
            <a:avLst>
              <a:gd name="adj" fmla="val 5357"/>
            </a:avLst>
          </a:prstGeom>
          <a:solidFill>
            <a:srgbClr val="F2F5F9"/>
          </a:solidFill>
          <a:ln w="12700">
            <a:solidFill>
              <a:srgbClr val="D5DEEA"/>
            </a:solidFill>
            <a:prstDash val="solid"/>
          </a:ln>
        </p:spPr>
      </p:sp>
      <p:sp>
        <p:nvSpPr>
          <p:cNvPr id="11" name="Text 8"/>
          <p:cNvSpPr txBox="1"/>
          <p:nvPr/>
        </p:nvSpPr>
        <p:spPr>
          <a:xfrm>
            <a:off x="8028432" y="2971800"/>
            <a:ext cx="3291840" cy="457200"/>
          </a:xfrm>
          <a:prstGeom prst="rect">
            <a:avLst/>
          </a:prstGeom>
          <a:noFill/>
          <a:ln/>
        </p:spPr>
        <p:txBody>
          <a:bodyPr wrap="square" lIns="0" tIns="0" rIns="0" bIns="0" rtlCol="0" anchor="t"/>
          <a:lstStyle/>
          <a:p>
            <a:pPr indent="0" marL="0">
              <a:lnSpc>
                <a:spcPts val="1600"/>
              </a:lnSpc>
              <a:buNone/>
            </a:pPr>
            <a:r>
              <a:rPr lang="en-US" sz="1250" b="1" dirty="0">
                <a:solidFill>
                  <a:srgbClr val="22314D"/>
                </a:solidFill>
                <a:latin typeface="Calibri" pitchFamily="34" charset="0"/>
                <a:ea typeface="Calibri" pitchFamily="34" charset="-122"/>
                <a:cs typeface="Calibri" pitchFamily="34" charset="-120"/>
              </a:rPr>
              <a:t>And it is steady, not just high</a:t>
            </a:r>
            <a:endParaRPr lang="en-US" sz="1250" dirty="0"/>
          </a:p>
        </p:txBody>
      </p:sp>
      <p:sp>
        <p:nvSpPr>
          <p:cNvPr id="12" name="Text 9"/>
          <p:cNvSpPr txBox="1"/>
          <p:nvPr/>
        </p:nvSpPr>
        <p:spPr>
          <a:xfrm>
            <a:off x="8028432" y="3429000"/>
            <a:ext cx="3291840" cy="384048"/>
          </a:xfrm>
          <a:prstGeom prst="rect">
            <a:avLst/>
          </a:prstGeom>
          <a:noFill/>
          <a:ln/>
        </p:spPr>
        <p:txBody>
          <a:bodyPr wrap="square" lIns="0" tIns="0" rIns="0" bIns="0" rtlCol="0" anchor="t"/>
          <a:lstStyle/>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Spread across sites 0.020, vs 0.101 and 0.114</a:t>
            </a:r>
            <a:endParaRPr lang="en-US" sz="1100" dirty="0"/>
          </a:p>
        </p:txBody>
      </p:sp>
      <p:sp>
        <p:nvSpPr>
          <p:cNvPr id="13" name="Shape 10"/>
          <p:cNvSpPr/>
          <p:nvPr/>
        </p:nvSpPr>
        <p:spPr>
          <a:xfrm>
            <a:off x="7772400" y="3986784"/>
            <a:ext cx="3776472" cy="1024128"/>
          </a:xfrm>
          <a:prstGeom prst="roundRect">
            <a:avLst>
              <a:gd name="adj" fmla="val 5357"/>
            </a:avLst>
          </a:prstGeom>
          <a:solidFill>
            <a:srgbClr val="F2F5F9"/>
          </a:solidFill>
          <a:ln w="12700">
            <a:solidFill>
              <a:srgbClr val="D5DEEA"/>
            </a:solidFill>
            <a:prstDash val="solid"/>
          </a:ln>
        </p:spPr>
      </p:sp>
      <p:sp>
        <p:nvSpPr>
          <p:cNvPr id="14" name="Text 11"/>
          <p:cNvSpPr txBox="1"/>
          <p:nvPr/>
        </p:nvSpPr>
        <p:spPr>
          <a:xfrm>
            <a:off x="8028432" y="4105656"/>
            <a:ext cx="3291840" cy="457200"/>
          </a:xfrm>
          <a:prstGeom prst="rect">
            <a:avLst/>
          </a:prstGeom>
          <a:noFill/>
          <a:ln/>
        </p:spPr>
        <p:txBody>
          <a:bodyPr wrap="square" lIns="0" tIns="0" rIns="0" bIns="0" rtlCol="0" anchor="t"/>
          <a:lstStyle/>
          <a:p>
            <a:pPr indent="0" marL="0">
              <a:lnSpc>
                <a:spcPts val="1600"/>
              </a:lnSpc>
              <a:buNone/>
            </a:pPr>
            <a:r>
              <a:rPr lang="en-US" sz="1250" b="1" dirty="0">
                <a:solidFill>
                  <a:srgbClr val="22314D"/>
                </a:solidFill>
                <a:latin typeface="Calibri" pitchFamily="34" charset="0"/>
                <a:ea typeface="Calibri" pitchFamily="34" charset="-122"/>
                <a:cs typeface="Calibri" pitchFamily="34" charset="-120"/>
              </a:rPr>
              <a:t>More features bought nothing</a:t>
            </a:r>
            <a:endParaRPr lang="en-US" sz="1250" dirty="0"/>
          </a:p>
        </p:txBody>
      </p:sp>
      <p:sp>
        <p:nvSpPr>
          <p:cNvPr id="15" name="Text 12"/>
          <p:cNvSpPr txBox="1"/>
          <p:nvPr/>
        </p:nvSpPr>
        <p:spPr>
          <a:xfrm>
            <a:off x="8028432" y="4562856"/>
            <a:ext cx="3291840" cy="384048"/>
          </a:xfrm>
          <a:prstGeom prst="rect">
            <a:avLst/>
          </a:prstGeom>
          <a:noFill/>
          <a:ln/>
        </p:spPr>
        <p:txBody>
          <a:bodyPr wrap="square" lIns="0" tIns="0" rIns="0" bIns="0" rtlCol="0" anchor="t"/>
          <a:lstStyle/>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199 dimensions matched 1,543 to within 0.002 F1</a:t>
            </a:r>
            <a:endParaRPr lang="en-US" sz="1100" dirty="0"/>
          </a:p>
        </p:txBody>
      </p:sp>
      <p:sp>
        <p:nvSpPr>
          <p:cNvPr id="16" name="Text 13"/>
          <p:cNvSpPr txBox="1"/>
          <p:nvPr/>
        </p:nvSpPr>
        <p:spPr>
          <a:xfrm>
            <a:off x="640080" y="5230368"/>
            <a:ext cx="10881360" cy="73152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F1 on 316 balanced Ontario clips. Six rounds, each recording site held out in turn, scaler and detector refitted inside every round. Two of the six groups share a site — see limitations.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uzz_strip.jpg">    </p:cNvPr>
          <p:cNvPicPr>
            <a:picLocks noChangeAspect="1"/>
          </p:cNvPicPr>
          <p:nvPr/>
        </p:nvPicPr>
        <p:blipFill>
          <a:blip r:embed="rId1">
            <a:alphaModFix amt="55000"/>
          </a:blip>
          <a:stretch>
            <a:fillRect/>
          </a:stretch>
        </p:blipFill>
        <p:spPr>
          <a:xfrm>
            <a:off x="0" y="5897880"/>
            <a:ext cx="12191695" cy="960120"/>
          </a:xfrm>
          <a:prstGeom prst="rect">
            <a:avLst/>
          </a:prstGeom>
        </p:spPr>
      </p:pic>
      <p:sp>
        <p:nvSpPr>
          <p:cNvPr id="3" name="Text 0"/>
          <p:cNvSpPr txBox="1"/>
          <p:nvPr/>
        </p:nvSpPr>
        <p:spPr>
          <a:xfrm>
            <a:off x="640080" y="1691640"/>
            <a:ext cx="2011680" cy="1371600"/>
          </a:xfrm>
          <a:prstGeom prst="rect">
            <a:avLst/>
          </a:prstGeom>
          <a:noFill/>
          <a:ln/>
        </p:spPr>
        <p:txBody>
          <a:bodyPr wrap="square" lIns="0" tIns="0" rIns="0" bIns="0" rtlCol="0" anchor="ctr"/>
          <a:lstStyle/>
          <a:p>
            <a:pPr indent="0" marL="0">
              <a:buNone/>
            </a:pPr>
            <a:r>
              <a:rPr lang="en-US" sz="9000" b="1" dirty="0">
                <a:solidFill>
                  <a:srgbClr val="F2A541"/>
                </a:solidFill>
                <a:latin typeface="Cambria" pitchFamily="34" charset="0"/>
                <a:ea typeface="Cambria" pitchFamily="34" charset="-122"/>
                <a:cs typeface="Cambria" pitchFamily="34" charset="-120"/>
              </a:rPr>
              <a:t>02</a:t>
            </a:r>
            <a:endParaRPr lang="en-US" sz="9000" dirty="0"/>
          </a:p>
        </p:txBody>
      </p:sp>
      <p:sp>
        <p:nvSpPr>
          <p:cNvPr id="4" name="Text 1"/>
          <p:cNvSpPr txBox="1"/>
          <p:nvPr/>
        </p:nvSpPr>
        <p:spPr>
          <a:xfrm>
            <a:off x="640080" y="2971800"/>
            <a:ext cx="10058400" cy="2194560"/>
          </a:xfrm>
          <a:prstGeom prst="rect">
            <a:avLst/>
          </a:prstGeom>
          <a:noFill/>
          <a:ln/>
        </p:spPr>
        <p:txBody>
          <a:bodyPr wrap="square" lIns="0" tIns="0" rIns="0" bIns="0" rtlCol="0" anchor="t"/>
          <a:lstStyle/>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Can it put the right clips</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at the top of a reviewer's list,</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with no threshold at all?</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 · QUESTION 2</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Ten results. How many are real?</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Similarity retrieval</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12</a:t>
            </a:r>
            <a:endParaRPr lang="en-US" sz="900" dirty="0"/>
          </a:p>
        </p:txBody>
      </p:sp>
      <p:sp>
        <p:nvSpPr>
          <p:cNvPr id="6" name="Text 4"/>
          <p:cNvSpPr txBox="1"/>
          <p:nvPr/>
        </p:nvSpPr>
        <p:spPr>
          <a:xfrm>
            <a:off x="640080" y="2029968"/>
            <a:ext cx="1965960" cy="640080"/>
          </a:xfrm>
          <a:prstGeom prst="rect">
            <a:avLst/>
          </a:prstGeom>
          <a:noFill/>
          <a:ln/>
        </p:spPr>
        <p:txBody>
          <a:bodyPr wrap="square" lIns="0" tIns="0" rIns="0" bIns="0" rtlCol="0" anchor="ctr"/>
          <a:lstStyle/>
          <a:p>
            <a:pPr indent="0" marL="0">
              <a:buNone/>
            </a:pPr>
            <a:r>
              <a:rPr lang="en-US" sz="1500" b="1" dirty="0">
                <a:solidFill>
                  <a:srgbClr val="22314D"/>
                </a:solidFill>
                <a:latin typeface="Calibri" pitchFamily="34" charset="0"/>
                <a:ea typeface="Calibri" pitchFamily="34" charset="-122"/>
                <a:cs typeface="Calibri" pitchFamily="34" charset="-120"/>
              </a:rPr>
              <a:t>Perch v2</a:t>
            </a:r>
            <a:endParaRPr lang="en-US" sz="1500" dirty="0"/>
          </a:p>
        </p:txBody>
      </p:sp>
      <p:sp>
        <p:nvSpPr>
          <p:cNvPr id="7" name="Shape 5"/>
          <p:cNvSpPr/>
          <p:nvPr/>
        </p:nvSpPr>
        <p:spPr>
          <a:xfrm>
            <a:off x="2697480" y="2084832"/>
            <a:ext cx="621792" cy="530352"/>
          </a:xfrm>
          <a:prstGeom prst="roundRect">
            <a:avLst>
              <a:gd name="adj" fmla="val 8621"/>
            </a:avLst>
          </a:prstGeom>
          <a:solidFill>
            <a:srgbClr val="1E7A70"/>
          </a:solidFill>
          <a:ln w="12700">
            <a:solidFill>
              <a:srgbClr val="1E7A70"/>
            </a:solidFill>
            <a:prstDash val="solid"/>
          </a:ln>
        </p:spPr>
      </p:sp>
      <p:sp>
        <p:nvSpPr>
          <p:cNvPr id="8" name="Shape 6"/>
          <p:cNvSpPr/>
          <p:nvPr/>
        </p:nvSpPr>
        <p:spPr>
          <a:xfrm>
            <a:off x="3438144" y="2084832"/>
            <a:ext cx="621792" cy="530352"/>
          </a:xfrm>
          <a:prstGeom prst="roundRect">
            <a:avLst>
              <a:gd name="adj" fmla="val 8621"/>
            </a:avLst>
          </a:prstGeom>
          <a:solidFill>
            <a:srgbClr val="1E7A70"/>
          </a:solidFill>
          <a:ln w="12700">
            <a:solidFill>
              <a:srgbClr val="1E7A70"/>
            </a:solidFill>
            <a:prstDash val="solid"/>
          </a:ln>
        </p:spPr>
      </p:sp>
      <p:sp>
        <p:nvSpPr>
          <p:cNvPr id="9" name="Shape 7"/>
          <p:cNvSpPr/>
          <p:nvPr/>
        </p:nvSpPr>
        <p:spPr>
          <a:xfrm>
            <a:off x="4178808" y="2084832"/>
            <a:ext cx="621792" cy="530352"/>
          </a:xfrm>
          <a:prstGeom prst="roundRect">
            <a:avLst>
              <a:gd name="adj" fmla="val 8621"/>
            </a:avLst>
          </a:prstGeom>
          <a:solidFill>
            <a:srgbClr val="1E7A70"/>
          </a:solidFill>
          <a:ln w="12700">
            <a:solidFill>
              <a:srgbClr val="1E7A70"/>
            </a:solidFill>
            <a:prstDash val="solid"/>
          </a:ln>
        </p:spPr>
      </p:sp>
      <p:sp>
        <p:nvSpPr>
          <p:cNvPr id="10" name="Shape 8"/>
          <p:cNvSpPr/>
          <p:nvPr/>
        </p:nvSpPr>
        <p:spPr>
          <a:xfrm>
            <a:off x="4919472" y="2084832"/>
            <a:ext cx="621792" cy="530352"/>
          </a:xfrm>
          <a:prstGeom prst="roundRect">
            <a:avLst>
              <a:gd name="adj" fmla="val 8621"/>
            </a:avLst>
          </a:prstGeom>
          <a:solidFill>
            <a:srgbClr val="1E7A70"/>
          </a:solidFill>
          <a:ln w="12700">
            <a:solidFill>
              <a:srgbClr val="1E7A70"/>
            </a:solidFill>
            <a:prstDash val="solid"/>
          </a:ln>
        </p:spPr>
      </p:sp>
      <p:sp>
        <p:nvSpPr>
          <p:cNvPr id="11" name="Shape 9"/>
          <p:cNvSpPr/>
          <p:nvPr/>
        </p:nvSpPr>
        <p:spPr>
          <a:xfrm>
            <a:off x="5660136" y="2084832"/>
            <a:ext cx="621792" cy="530352"/>
          </a:xfrm>
          <a:prstGeom prst="roundRect">
            <a:avLst>
              <a:gd name="adj" fmla="val 8621"/>
            </a:avLst>
          </a:prstGeom>
          <a:solidFill>
            <a:srgbClr val="1E7A70"/>
          </a:solidFill>
          <a:ln w="12700">
            <a:solidFill>
              <a:srgbClr val="1E7A70"/>
            </a:solidFill>
            <a:prstDash val="solid"/>
          </a:ln>
        </p:spPr>
      </p:sp>
      <p:sp>
        <p:nvSpPr>
          <p:cNvPr id="12" name="Shape 10"/>
          <p:cNvSpPr/>
          <p:nvPr/>
        </p:nvSpPr>
        <p:spPr>
          <a:xfrm>
            <a:off x="6400800" y="2084832"/>
            <a:ext cx="621792" cy="530352"/>
          </a:xfrm>
          <a:prstGeom prst="roundRect">
            <a:avLst>
              <a:gd name="adj" fmla="val 8621"/>
            </a:avLst>
          </a:prstGeom>
          <a:solidFill>
            <a:srgbClr val="1E7A70"/>
          </a:solidFill>
          <a:ln w="12700">
            <a:solidFill>
              <a:srgbClr val="1E7A70"/>
            </a:solidFill>
            <a:prstDash val="solid"/>
          </a:ln>
        </p:spPr>
      </p:sp>
      <p:sp>
        <p:nvSpPr>
          <p:cNvPr id="13" name="Shape 11"/>
          <p:cNvSpPr/>
          <p:nvPr/>
        </p:nvSpPr>
        <p:spPr>
          <a:xfrm>
            <a:off x="7141464" y="2084832"/>
            <a:ext cx="621792" cy="530352"/>
          </a:xfrm>
          <a:prstGeom prst="roundRect">
            <a:avLst>
              <a:gd name="adj" fmla="val 8621"/>
            </a:avLst>
          </a:prstGeom>
          <a:solidFill>
            <a:srgbClr val="1E7A70"/>
          </a:solidFill>
          <a:ln w="12700">
            <a:solidFill>
              <a:srgbClr val="1E7A70"/>
            </a:solidFill>
            <a:prstDash val="solid"/>
          </a:ln>
        </p:spPr>
      </p:sp>
      <p:sp>
        <p:nvSpPr>
          <p:cNvPr id="14" name="Shape 12"/>
          <p:cNvSpPr/>
          <p:nvPr/>
        </p:nvSpPr>
        <p:spPr>
          <a:xfrm>
            <a:off x="7882128" y="2084832"/>
            <a:ext cx="621792" cy="530352"/>
          </a:xfrm>
          <a:prstGeom prst="roundRect">
            <a:avLst>
              <a:gd name="adj" fmla="val 8621"/>
            </a:avLst>
          </a:prstGeom>
          <a:solidFill>
            <a:srgbClr val="1E7A70"/>
          </a:solidFill>
          <a:ln w="12700">
            <a:solidFill>
              <a:srgbClr val="1E7A70"/>
            </a:solidFill>
            <a:prstDash val="solid"/>
          </a:ln>
        </p:spPr>
      </p:sp>
      <p:sp>
        <p:nvSpPr>
          <p:cNvPr id="15" name="Shape 13"/>
          <p:cNvSpPr/>
          <p:nvPr/>
        </p:nvSpPr>
        <p:spPr>
          <a:xfrm>
            <a:off x="8622792" y="2084832"/>
            <a:ext cx="621792" cy="530352"/>
          </a:xfrm>
          <a:prstGeom prst="roundRect">
            <a:avLst>
              <a:gd name="adj" fmla="val 8621"/>
            </a:avLst>
          </a:prstGeom>
          <a:solidFill>
            <a:srgbClr val="1E7A70"/>
          </a:solidFill>
          <a:ln w="12700">
            <a:solidFill>
              <a:srgbClr val="1E7A70"/>
            </a:solidFill>
            <a:prstDash val="solid"/>
          </a:ln>
        </p:spPr>
      </p:sp>
      <p:sp>
        <p:nvSpPr>
          <p:cNvPr id="16" name="Shape 14"/>
          <p:cNvSpPr/>
          <p:nvPr/>
        </p:nvSpPr>
        <p:spPr>
          <a:xfrm>
            <a:off x="9363456" y="2084832"/>
            <a:ext cx="621792" cy="530352"/>
          </a:xfrm>
          <a:prstGeom prst="roundRect">
            <a:avLst>
              <a:gd name="adj" fmla="val 8621"/>
            </a:avLst>
          </a:prstGeom>
          <a:solidFill>
            <a:srgbClr val="1E7A70">
              <a:alpha val="45000"/>
            </a:srgbClr>
          </a:solidFill>
          <a:ln w="12700">
            <a:solidFill>
              <a:srgbClr val="1E7A70"/>
            </a:solidFill>
            <a:prstDash val="solid"/>
          </a:ln>
        </p:spPr>
      </p:sp>
      <p:sp>
        <p:nvSpPr>
          <p:cNvPr id="17" name="Text 15"/>
          <p:cNvSpPr txBox="1"/>
          <p:nvPr/>
        </p:nvSpPr>
        <p:spPr>
          <a:xfrm>
            <a:off x="10287000" y="2029968"/>
            <a:ext cx="1280160" cy="640080"/>
          </a:xfrm>
          <a:prstGeom prst="rect">
            <a:avLst/>
          </a:prstGeom>
          <a:noFill/>
          <a:ln/>
        </p:spPr>
        <p:txBody>
          <a:bodyPr wrap="square" lIns="0" tIns="0" rIns="0" bIns="0" rtlCol="0" anchor="ctr"/>
          <a:lstStyle/>
          <a:p>
            <a:pPr algn="r" indent="0" marL="0">
              <a:buNone/>
            </a:pPr>
            <a:r>
              <a:rPr lang="en-US" sz="2400" b="1" dirty="0">
                <a:solidFill>
                  <a:srgbClr val="1E7A70"/>
                </a:solidFill>
                <a:latin typeface="Cambria" pitchFamily="34" charset="0"/>
                <a:ea typeface="Cambria" pitchFamily="34" charset="-122"/>
                <a:cs typeface="Cambria" pitchFamily="34" charset="-120"/>
              </a:rPr>
              <a:t>0.984</a:t>
            </a:r>
            <a:endParaRPr lang="en-US" sz="2400" dirty="0"/>
          </a:p>
        </p:txBody>
      </p:sp>
      <p:sp>
        <p:nvSpPr>
          <p:cNvPr id="18" name="Text 16"/>
          <p:cNvSpPr txBox="1"/>
          <p:nvPr/>
        </p:nvSpPr>
        <p:spPr>
          <a:xfrm>
            <a:off x="640080" y="3127248"/>
            <a:ext cx="1965960" cy="640080"/>
          </a:xfrm>
          <a:prstGeom prst="rect">
            <a:avLst/>
          </a:prstGeom>
          <a:noFill/>
          <a:ln/>
        </p:spPr>
        <p:txBody>
          <a:bodyPr wrap="square" lIns="0" tIns="0" rIns="0" bIns="0" rtlCol="0" anchor="ctr"/>
          <a:lstStyle/>
          <a:p>
            <a:pPr indent="0" marL="0">
              <a:buNone/>
            </a:pPr>
            <a:r>
              <a:rPr lang="en-US" sz="1400" dirty="0">
                <a:solidFill>
                  <a:srgbClr val="5F718C"/>
                </a:solidFill>
                <a:latin typeface="Calibri" pitchFamily="34" charset="0"/>
                <a:ea typeface="Calibri" pitchFamily="34" charset="-122"/>
                <a:cs typeface="Calibri" pitchFamily="34" charset="-120"/>
              </a:rPr>
              <a:t>Baseline</a:t>
            </a:r>
            <a:endParaRPr lang="en-US" sz="1400" dirty="0"/>
          </a:p>
        </p:txBody>
      </p:sp>
      <p:sp>
        <p:nvSpPr>
          <p:cNvPr id="19" name="Shape 17"/>
          <p:cNvSpPr/>
          <p:nvPr/>
        </p:nvSpPr>
        <p:spPr>
          <a:xfrm>
            <a:off x="2697480" y="3182112"/>
            <a:ext cx="621792" cy="530352"/>
          </a:xfrm>
          <a:prstGeom prst="roundRect">
            <a:avLst>
              <a:gd name="adj" fmla="val 8621"/>
            </a:avLst>
          </a:prstGeom>
          <a:solidFill>
            <a:srgbClr val="8FA3BF"/>
          </a:solidFill>
          <a:ln w="12700">
            <a:solidFill>
              <a:srgbClr val="8FA3BF"/>
            </a:solidFill>
            <a:prstDash val="solid"/>
          </a:ln>
        </p:spPr>
      </p:sp>
      <p:sp>
        <p:nvSpPr>
          <p:cNvPr id="20" name="Shape 18"/>
          <p:cNvSpPr/>
          <p:nvPr/>
        </p:nvSpPr>
        <p:spPr>
          <a:xfrm>
            <a:off x="3438144" y="3182112"/>
            <a:ext cx="621792" cy="530352"/>
          </a:xfrm>
          <a:prstGeom prst="roundRect">
            <a:avLst>
              <a:gd name="adj" fmla="val 8621"/>
            </a:avLst>
          </a:prstGeom>
          <a:solidFill>
            <a:srgbClr val="8FA3BF"/>
          </a:solidFill>
          <a:ln w="12700">
            <a:solidFill>
              <a:srgbClr val="8FA3BF"/>
            </a:solidFill>
            <a:prstDash val="solid"/>
          </a:ln>
        </p:spPr>
      </p:sp>
      <p:sp>
        <p:nvSpPr>
          <p:cNvPr id="21" name="Shape 19"/>
          <p:cNvSpPr/>
          <p:nvPr/>
        </p:nvSpPr>
        <p:spPr>
          <a:xfrm>
            <a:off x="4178808" y="3182112"/>
            <a:ext cx="621792" cy="530352"/>
          </a:xfrm>
          <a:prstGeom prst="roundRect">
            <a:avLst>
              <a:gd name="adj" fmla="val 8621"/>
            </a:avLst>
          </a:prstGeom>
          <a:solidFill>
            <a:srgbClr val="8FA3BF"/>
          </a:solidFill>
          <a:ln w="12700">
            <a:solidFill>
              <a:srgbClr val="8FA3BF"/>
            </a:solidFill>
            <a:prstDash val="solid"/>
          </a:ln>
        </p:spPr>
      </p:sp>
      <p:sp>
        <p:nvSpPr>
          <p:cNvPr id="22" name="Shape 20"/>
          <p:cNvSpPr/>
          <p:nvPr/>
        </p:nvSpPr>
        <p:spPr>
          <a:xfrm>
            <a:off x="4919472" y="3182112"/>
            <a:ext cx="621792" cy="530352"/>
          </a:xfrm>
          <a:prstGeom prst="roundRect">
            <a:avLst>
              <a:gd name="adj" fmla="val 8621"/>
            </a:avLst>
          </a:prstGeom>
          <a:solidFill>
            <a:srgbClr val="8FA3BF"/>
          </a:solidFill>
          <a:ln w="12700">
            <a:solidFill>
              <a:srgbClr val="8FA3BF"/>
            </a:solidFill>
            <a:prstDash val="solid"/>
          </a:ln>
        </p:spPr>
      </p:sp>
      <p:sp>
        <p:nvSpPr>
          <p:cNvPr id="23" name="Shape 21"/>
          <p:cNvSpPr/>
          <p:nvPr/>
        </p:nvSpPr>
        <p:spPr>
          <a:xfrm>
            <a:off x="5660136" y="3182112"/>
            <a:ext cx="621792" cy="530352"/>
          </a:xfrm>
          <a:prstGeom prst="roundRect">
            <a:avLst>
              <a:gd name="adj" fmla="val 8621"/>
            </a:avLst>
          </a:prstGeom>
          <a:solidFill>
            <a:srgbClr val="8FA3BF"/>
          </a:solidFill>
          <a:ln w="12700">
            <a:solidFill>
              <a:srgbClr val="8FA3BF"/>
            </a:solidFill>
            <a:prstDash val="solid"/>
          </a:ln>
        </p:spPr>
      </p:sp>
      <p:sp>
        <p:nvSpPr>
          <p:cNvPr id="24" name="Shape 22"/>
          <p:cNvSpPr/>
          <p:nvPr/>
        </p:nvSpPr>
        <p:spPr>
          <a:xfrm>
            <a:off x="6400800" y="3182112"/>
            <a:ext cx="621792" cy="530352"/>
          </a:xfrm>
          <a:prstGeom prst="roundRect">
            <a:avLst>
              <a:gd name="adj" fmla="val 8621"/>
            </a:avLst>
          </a:prstGeom>
          <a:solidFill>
            <a:srgbClr val="8FA3BF"/>
          </a:solidFill>
          <a:ln w="12700">
            <a:solidFill>
              <a:srgbClr val="8FA3BF"/>
            </a:solidFill>
            <a:prstDash val="solid"/>
          </a:ln>
        </p:spPr>
      </p:sp>
      <p:sp>
        <p:nvSpPr>
          <p:cNvPr id="25" name="Shape 23"/>
          <p:cNvSpPr/>
          <p:nvPr/>
        </p:nvSpPr>
        <p:spPr>
          <a:xfrm>
            <a:off x="7141464" y="3182112"/>
            <a:ext cx="621792" cy="530352"/>
          </a:xfrm>
          <a:prstGeom prst="roundRect">
            <a:avLst>
              <a:gd name="adj" fmla="val 8621"/>
            </a:avLst>
          </a:prstGeom>
          <a:solidFill>
            <a:srgbClr val="8FA3BF"/>
          </a:solidFill>
          <a:ln w="12700">
            <a:solidFill>
              <a:srgbClr val="8FA3BF"/>
            </a:solidFill>
            <a:prstDash val="solid"/>
          </a:ln>
        </p:spPr>
      </p:sp>
      <p:sp>
        <p:nvSpPr>
          <p:cNvPr id="26" name="Shape 24"/>
          <p:cNvSpPr/>
          <p:nvPr/>
        </p:nvSpPr>
        <p:spPr>
          <a:xfrm>
            <a:off x="7882128" y="3182112"/>
            <a:ext cx="621792" cy="530352"/>
          </a:xfrm>
          <a:prstGeom prst="roundRect">
            <a:avLst>
              <a:gd name="adj" fmla="val 8621"/>
            </a:avLst>
          </a:prstGeom>
          <a:solidFill>
            <a:srgbClr val="8FA3BF"/>
          </a:solidFill>
          <a:ln w="12700">
            <a:solidFill>
              <a:srgbClr val="8FA3BF"/>
            </a:solidFill>
            <a:prstDash val="solid"/>
          </a:ln>
        </p:spPr>
      </p:sp>
      <p:sp>
        <p:nvSpPr>
          <p:cNvPr id="27" name="Shape 25"/>
          <p:cNvSpPr/>
          <p:nvPr/>
        </p:nvSpPr>
        <p:spPr>
          <a:xfrm>
            <a:off x="8622792" y="3182112"/>
            <a:ext cx="621792" cy="530352"/>
          </a:xfrm>
          <a:prstGeom prst="roundRect">
            <a:avLst>
              <a:gd name="adj" fmla="val 8621"/>
            </a:avLst>
          </a:prstGeom>
          <a:solidFill>
            <a:srgbClr val="F4F7FA"/>
          </a:solidFill>
          <a:ln w="12700">
            <a:solidFill>
              <a:srgbClr val="D5DEEA"/>
            </a:solidFill>
            <a:prstDash val="solid"/>
          </a:ln>
        </p:spPr>
      </p:sp>
      <p:sp>
        <p:nvSpPr>
          <p:cNvPr id="28" name="Shape 26"/>
          <p:cNvSpPr/>
          <p:nvPr/>
        </p:nvSpPr>
        <p:spPr>
          <a:xfrm>
            <a:off x="9363456" y="3182112"/>
            <a:ext cx="621792" cy="530352"/>
          </a:xfrm>
          <a:prstGeom prst="roundRect">
            <a:avLst>
              <a:gd name="adj" fmla="val 8621"/>
            </a:avLst>
          </a:prstGeom>
          <a:solidFill>
            <a:srgbClr val="F4F7FA"/>
          </a:solidFill>
          <a:ln w="12700">
            <a:solidFill>
              <a:srgbClr val="D5DEEA"/>
            </a:solidFill>
            <a:prstDash val="solid"/>
          </a:ln>
        </p:spPr>
      </p:sp>
      <p:sp>
        <p:nvSpPr>
          <p:cNvPr id="29" name="Text 27"/>
          <p:cNvSpPr txBox="1"/>
          <p:nvPr/>
        </p:nvSpPr>
        <p:spPr>
          <a:xfrm>
            <a:off x="10287000" y="3127248"/>
            <a:ext cx="1280160" cy="640080"/>
          </a:xfrm>
          <a:prstGeom prst="rect">
            <a:avLst/>
          </a:prstGeom>
          <a:noFill/>
          <a:ln/>
        </p:spPr>
        <p:txBody>
          <a:bodyPr wrap="square" lIns="0" tIns="0" rIns="0" bIns="0" rtlCol="0" anchor="ctr"/>
          <a:lstStyle/>
          <a:p>
            <a:pPr algn="r" indent="0" marL="0">
              <a:buNone/>
            </a:pPr>
            <a:r>
              <a:rPr lang="en-US" sz="2000" b="1" dirty="0">
                <a:solidFill>
                  <a:srgbClr val="5F718C"/>
                </a:solidFill>
                <a:latin typeface="Cambria" pitchFamily="34" charset="0"/>
                <a:ea typeface="Cambria" pitchFamily="34" charset="-122"/>
                <a:cs typeface="Cambria" pitchFamily="34" charset="-120"/>
              </a:rPr>
              <a:t>0.831</a:t>
            </a:r>
            <a:endParaRPr lang="en-US" sz="2000" dirty="0"/>
          </a:p>
        </p:txBody>
      </p:sp>
      <p:sp>
        <p:nvSpPr>
          <p:cNvPr id="30" name="Text 28"/>
          <p:cNvSpPr txBox="1"/>
          <p:nvPr/>
        </p:nvSpPr>
        <p:spPr>
          <a:xfrm>
            <a:off x="640080" y="4224528"/>
            <a:ext cx="1965960" cy="640080"/>
          </a:xfrm>
          <a:prstGeom prst="rect">
            <a:avLst/>
          </a:prstGeom>
          <a:noFill/>
          <a:ln/>
        </p:spPr>
        <p:txBody>
          <a:bodyPr wrap="square" lIns="0" tIns="0" rIns="0" bIns="0" rtlCol="0" anchor="ctr"/>
          <a:lstStyle/>
          <a:p>
            <a:pPr indent="0" marL="0">
              <a:buNone/>
            </a:pPr>
            <a:r>
              <a:rPr lang="en-US" sz="1400" dirty="0">
                <a:solidFill>
                  <a:srgbClr val="5F718C"/>
                </a:solidFill>
                <a:latin typeface="Calibri" pitchFamily="34" charset="0"/>
                <a:ea typeface="Calibri" pitchFamily="34" charset="-122"/>
                <a:cs typeface="Calibri" pitchFamily="34" charset="-120"/>
              </a:rPr>
              <a:t>Random ranking</a:t>
            </a:r>
            <a:endParaRPr lang="en-US" sz="1400" dirty="0"/>
          </a:p>
        </p:txBody>
      </p:sp>
      <p:sp>
        <p:nvSpPr>
          <p:cNvPr id="31" name="Shape 29"/>
          <p:cNvSpPr/>
          <p:nvPr/>
        </p:nvSpPr>
        <p:spPr>
          <a:xfrm>
            <a:off x="2697480" y="4279392"/>
            <a:ext cx="621792" cy="530352"/>
          </a:xfrm>
          <a:prstGeom prst="roundRect">
            <a:avLst>
              <a:gd name="adj" fmla="val 8621"/>
            </a:avLst>
          </a:prstGeom>
          <a:solidFill>
            <a:srgbClr val="C3D2E8"/>
          </a:solidFill>
          <a:ln w="12700">
            <a:solidFill>
              <a:srgbClr val="C3D2E8"/>
            </a:solidFill>
            <a:prstDash val="solid"/>
          </a:ln>
        </p:spPr>
      </p:sp>
      <p:sp>
        <p:nvSpPr>
          <p:cNvPr id="32" name="Shape 30"/>
          <p:cNvSpPr/>
          <p:nvPr/>
        </p:nvSpPr>
        <p:spPr>
          <a:xfrm>
            <a:off x="3438144" y="4279392"/>
            <a:ext cx="621792" cy="530352"/>
          </a:xfrm>
          <a:prstGeom prst="roundRect">
            <a:avLst>
              <a:gd name="adj" fmla="val 8621"/>
            </a:avLst>
          </a:prstGeom>
          <a:solidFill>
            <a:srgbClr val="C3D2E8"/>
          </a:solidFill>
          <a:ln w="12700">
            <a:solidFill>
              <a:srgbClr val="C3D2E8"/>
            </a:solidFill>
            <a:prstDash val="solid"/>
          </a:ln>
        </p:spPr>
      </p:sp>
      <p:sp>
        <p:nvSpPr>
          <p:cNvPr id="33" name="Shape 31"/>
          <p:cNvSpPr/>
          <p:nvPr/>
        </p:nvSpPr>
        <p:spPr>
          <a:xfrm>
            <a:off x="4178808" y="4279392"/>
            <a:ext cx="621792" cy="530352"/>
          </a:xfrm>
          <a:prstGeom prst="roundRect">
            <a:avLst>
              <a:gd name="adj" fmla="val 8621"/>
            </a:avLst>
          </a:prstGeom>
          <a:solidFill>
            <a:srgbClr val="C3D2E8"/>
          </a:solidFill>
          <a:ln w="12700">
            <a:solidFill>
              <a:srgbClr val="C3D2E8"/>
            </a:solidFill>
            <a:prstDash val="solid"/>
          </a:ln>
        </p:spPr>
      </p:sp>
      <p:sp>
        <p:nvSpPr>
          <p:cNvPr id="34" name="Shape 32"/>
          <p:cNvSpPr/>
          <p:nvPr/>
        </p:nvSpPr>
        <p:spPr>
          <a:xfrm>
            <a:off x="4919472" y="4279392"/>
            <a:ext cx="621792" cy="530352"/>
          </a:xfrm>
          <a:prstGeom prst="roundRect">
            <a:avLst>
              <a:gd name="adj" fmla="val 8621"/>
            </a:avLst>
          </a:prstGeom>
          <a:solidFill>
            <a:srgbClr val="C3D2E8"/>
          </a:solidFill>
          <a:ln w="12700">
            <a:solidFill>
              <a:srgbClr val="C3D2E8"/>
            </a:solidFill>
            <a:prstDash val="solid"/>
          </a:ln>
        </p:spPr>
      </p:sp>
      <p:sp>
        <p:nvSpPr>
          <p:cNvPr id="35" name="Shape 33"/>
          <p:cNvSpPr/>
          <p:nvPr/>
        </p:nvSpPr>
        <p:spPr>
          <a:xfrm>
            <a:off x="5660136" y="4279392"/>
            <a:ext cx="621792" cy="530352"/>
          </a:xfrm>
          <a:prstGeom prst="roundRect">
            <a:avLst>
              <a:gd name="adj" fmla="val 8621"/>
            </a:avLst>
          </a:prstGeom>
          <a:solidFill>
            <a:srgbClr val="C3D2E8"/>
          </a:solidFill>
          <a:ln w="12700">
            <a:solidFill>
              <a:srgbClr val="C3D2E8"/>
            </a:solidFill>
            <a:prstDash val="solid"/>
          </a:ln>
        </p:spPr>
      </p:sp>
      <p:sp>
        <p:nvSpPr>
          <p:cNvPr id="36" name="Shape 34"/>
          <p:cNvSpPr/>
          <p:nvPr/>
        </p:nvSpPr>
        <p:spPr>
          <a:xfrm>
            <a:off x="6400800" y="4279392"/>
            <a:ext cx="621792" cy="530352"/>
          </a:xfrm>
          <a:prstGeom prst="roundRect">
            <a:avLst>
              <a:gd name="adj" fmla="val 8621"/>
            </a:avLst>
          </a:prstGeom>
          <a:solidFill>
            <a:srgbClr val="F4F7FA"/>
          </a:solidFill>
          <a:ln w="12700">
            <a:solidFill>
              <a:srgbClr val="D5DEEA"/>
            </a:solidFill>
            <a:prstDash val="solid"/>
          </a:ln>
        </p:spPr>
      </p:sp>
      <p:sp>
        <p:nvSpPr>
          <p:cNvPr id="37" name="Shape 35"/>
          <p:cNvSpPr/>
          <p:nvPr/>
        </p:nvSpPr>
        <p:spPr>
          <a:xfrm>
            <a:off x="7141464" y="4279392"/>
            <a:ext cx="621792" cy="530352"/>
          </a:xfrm>
          <a:prstGeom prst="roundRect">
            <a:avLst>
              <a:gd name="adj" fmla="val 8621"/>
            </a:avLst>
          </a:prstGeom>
          <a:solidFill>
            <a:srgbClr val="F4F7FA"/>
          </a:solidFill>
          <a:ln w="12700">
            <a:solidFill>
              <a:srgbClr val="D5DEEA"/>
            </a:solidFill>
            <a:prstDash val="solid"/>
          </a:ln>
        </p:spPr>
      </p:sp>
      <p:sp>
        <p:nvSpPr>
          <p:cNvPr id="38" name="Shape 36"/>
          <p:cNvSpPr/>
          <p:nvPr/>
        </p:nvSpPr>
        <p:spPr>
          <a:xfrm>
            <a:off x="7882128" y="4279392"/>
            <a:ext cx="621792" cy="530352"/>
          </a:xfrm>
          <a:prstGeom prst="roundRect">
            <a:avLst>
              <a:gd name="adj" fmla="val 8621"/>
            </a:avLst>
          </a:prstGeom>
          <a:solidFill>
            <a:srgbClr val="F4F7FA"/>
          </a:solidFill>
          <a:ln w="12700">
            <a:solidFill>
              <a:srgbClr val="D5DEEA"/>
            </a:solidFill>
            <a:prstDash val="solid"/>
          </a:ln>
        </p:spPr>
      </p:sp>
      <p:sp>
        <p:nvSpPr>
          <p:cNvPr id="39" name="Shape 37"/>
          <p:cNvSpPr/>
          <p:nvPr/>
        </p:nvSpPr>
        <p:spPr>
          <a:xfrm>
            <a:off x="8622792" y="4279392"/>
            <a:ext cx="621792" cy="530352"/>
          </a:xfrm>
          <a:prstGeom prst="roundRect">
            <a:avLst>
              <a:gd name="adj" fmla="val 8621"/>
            </a:avLst>
          </a:prstGeom>
          <a:solidFill>
            <a:srgbClr val="F4F7FA"/>
          </a:solidFill>
          <a:ln w="12700">
            <a:solidFill>
              <a:srgbClr val="D5DEEA"/>
            </a:solidFill>
            <a:prstDash val="solid"/>
          </a:ln>
        </p:spPr>
      </p:sp>
      <p:sp>
        <p:nvSpPr>
          <p:cNvPr id="40" name="Shape 38"/>
          <p:cNvSpPr/>
          <p:nvPr/>
        </p:nvSpPr>
        <p:spPr>
          <a:xfrm>
            <a:off x="9363456" y="4279392"/>
            <a:ext cx="621792" cy="530352"/>
          </a:xfrm>
          <a:prstGeom prst="roundRect">
            <a:avLst>
              <a:gd name="adj" fmla="val 8621"/>
            </a:avLst>
          </a:prstGeom>
          <a:solidFill>
            <a:srgbClr val="F4F7FA"/>
          </a:solidFill>
          <a:ln w="12700">
            <a:solidFill>
              <a:srgbClr val="D5DEEA"/>
            </a:solidFill>
            <a:prstDash val="solid"/>
          </a:ln>
        </p:spPr>
      </p:sp>
      <p:sp>
        <p:nvSpPr>
          <p:cNvPr id="41" name="Text 39"/>
          <p:cNvSpPr txBox="1"/>
          <p:nvPr/>
        </p:nvSpPr>
        <p:spPr>
          <a:xfrm>
            <a:off x="10287000" y="4224528"/>
            <a:ext cx="1280160" cy="640080"/>
          </a:xfrm>
          <a:prstGeom prst="rect">
            <a:avLst/>
          </a:prstGeom>
          <a:noFill/>
          <a:ln/>
        </p:spPr>
        <p:txBody>
          <a:bodyPr wrap="square" lIns="0" tIns="0" rIns="0" bIns="0" rtlCol="0" anchor="ctr"/>
          <a:lstStyle/>
          <a:p>
            <a:pPr algn="r" indent="0" marL="0">
              <a:buNone/>
            </a:pPr>
            <a:r>
              <a:rPr lang="en-US" sz="2000" b="1" dirty="0">
                <a:solidFill>
                  <a:srgbClr val="5F718C"/>
                </a:solidFill>
                <a:latin typeface="Cambria" pitchFamily="34" charset="0"/>
                <a:ea typeface="Cambria" pitchFamily="34" charset="-122"/>
                <a:cs typeface="Cambria" pitchFamily="34" charset="-120"/>
              </a:rPr>
              <a:t>0.500</a:t>
            </a:r>
            <a:endParaRPr lang="en-US" sz="2000" dirty="0"/>
          </a:p>
        </p:txBody>
      </p:sp>
      <p:sp>
        <p:nvSpPr>
          <p:cNvPr id="42" name="Text 40"/>
          <p:cNvSpPr txBox="1"/>
          <p:nvPr/>
        </p:nvSpPr>
        <p:spPr>
          <a:xfrm>
            <a:off x="9966960" y="1691640"/>
            <a:ext cx="1600200" cy="274320"/>
          </a:xfrm>
          <a:prstGeom prst="rect">
            <a:avLst/>
          </a:prstGeom>
          <a:noFill/>
          <a:ln/>
        </p:spPr>
        <p:txBody>
          <a:bodyPr wrap="square" lIns="0" tIns="0" rIns="0" bIns="0" rtlCol="0" anchor="ctr"/>
          <a:lstStyle/>
          <a:p>
            <a:pPr algn="r" indent="0" marL="0">
              <a:buNone/>
            </a:pPr>
            <a:r>
              <a:rPr lang="en-US" sz="1050" b="1" spc="100" kern="0" dirty="0">
                <a:solidFill>
                  <a:srgbClr val="5F718C"/>
                </a:solidFill>
                <a:latin typeface="Calibri" pitchFamily="34" charset="0"/>
                <a:ea typeface="Calibri" pitchFamily="34" charset="-122"/>
                <a:cs typeface="Calibri" pitchFamily="34" charset="-120"/>
              </a:rPr>
              <a:t>Precision@10</a:t>
            </a:r>
            <a:endParaRPr lang="en-US" sz="1050" dirty="0"/>
          </a:p>
        </p:txBody>
      </p:sp>
      <p:sp>
        <p:nvSpPr>
          <p:cNvPr id="43" name="Text 41"/>
          <p:cNvSpPr txBox="1"/>
          <p:nvPr/>
        </p:nvSpPr>
        <p:spPr>
          <a:xfrm>
            <a:off x="2679192" y="1691640"/>
            <a:ext cx="3108960" cy="274320"/>
          </a:xfrm>
          <a:prstGeom prst="rect">
            <a:avLst/>
          </a:prstGeom>
          <a:noFill/>
          <a:ln/>
        </p:spPr>
        <p:txBody>
          <a:bodyPr wrap="square" lIns="0" tIns="0" rIns="0" bIns="0" rtlCol="0" anchor="ctr"/>
          <a:lstStyle/>
          <a:p>
            <a:pPr indent="0" marL="0">
              <a:buNone/>
            </a:pPr>
            <a:r>
              <a:rPr lang="en-US" sz="1050" b="1" spc="100" kern="0" dirty="0">
                <a:solidFill>
                  <a:srgbClr val="5F718C"/>
                </a:solidFill>
                <a:latin typeface="Calibri" pitchFamily="34" charset="0"/>
                <a:ea typeface="Calibri" pitchFamily="34" charset="-122"/>
                <a:cs typeface="Calibri" pitchFamily="34" charset="-120"/>
              </a:rPr>
              <a:t>the first ten results  →</a:t>
            </a:r>
            <a:endParaRPr lang="en-US" sz="1050" dirty="0"/>
          </a:p>
        </p:txBody>
      </p:sp>
      <p:sp>
        <p:nvSpPr>
          <p:cNvPr id="44" name="Shape 42"/>
          <p:cNvSpPr/>
          <p:nvPr/>
        </p:nvSpPr>
        <p:spPr>
          <a:xfrm>
            <a:off x="640080" y="5120640"/>
            <a:ext cx="10911535" cy="566928"/>
          </a:xfrm>
          <a:prstGeom prst="roundRect">
            <a:avLst>
              <a:gd name="adj" fmla="val 9677"/>
            </a:avLst>
          </a:prstGeom>
          <a:solidFill>
            <a:srgbClr val="0E1B33"/>
          </a:solidFill>
          <a:ln w="12700">
            <a:solidFill>
              <a:srgbClr val="0E1B33"/>
            </a:solidFill>
            <a:prstDash val="solid"/>
          </a:ln>
        </p:spPr>
      </p:sp>
      <p:sp>
        <p:nvSpPr>
          <p:cNvPr id="45" name="Text 43"/>
          <p:cNvSpPr txBox="1"/>
          <p:nvPr/>
        </p:nvSpPr>
        <p:spPr>
          <a:xfrm>
            <a:off x="914400" y="5120640"/>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Same ordering as detection — and the separation sits right at the top, where a reviewer looks.</a:t>
            </a:r>
            <a:endParaRPr lang="en-US" sz="1450" dirty="0"/>
          </a:p>
        </p:txBody>
      </p:sp>
      <p:sp>
        <p:nvSpPr>
          <p:cNvPr id="46" name="Text 44"/>
          <p:cNvSpPr txBox="1"/>
          <p:nvPr/>
        </p:nvSpPr>
        <p:spPr>
          <a:xfrm>
            <a:off x="640080" y="5779008"/>
            <a:ext cx="10881360" cy="50292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158 buzz queries · the query's own site removed from the candidate pool · cosine similarity · averaged over sites. Average Precision 0.879 vs 0.770 and 0.771.</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uzz_strip.jpg">    </p:cNvPr>
          <p:cNvPicPr>
            <a:picLocks noChangeAspect="1"/>
          </p:cNvPicPr>
          <p:nvPr/>
        </p:nvPicPr>
        <p:blipFill>
          <a:blip r:embed="rId1">
            <a:alphaModFix amt="55000"/>
          </a:blip>
          <a:stretch>
            <a:fillRect/>
          </a:stretch>
        </p:blipFill>
        <p:spPr>
          <a:xfrm>
            <a:off x="0" y="5897880"/>
            <a:ext cx="12191695" cy="960120"/>
          </a:xfrm>
          <a:prstGeom prst="rect">
            <a:avLst/>
          </a:prstGeom>
        </p:spPr>
      </p:pic>
      <p:sp>
        <p:nvSpPr>
          <p:cNvPr id="3" name="Text 0"/>
          <p:cNvSpPr txBox="1"/>
          <p:nvPr/>
        </p:nvSpPr>
        <p:spPr>
          <a:xfrm>
            <a:off x="640080" y="1691640"/>
            <a:ext cx="2011680" cy="1371600"/>
          </a:xfrm>
          <a:prstGeom prst="rect">
            <a:avLst/>
          </a:prstGeom>
          <a:noFill/>
          <a:ln/>
        </p:spPr>
        <p:txBody>
          <a:bodyPr wrap="square" lIns="0" tIns="0" rIns="0" bIns="0" rtlCol="0" anchor="ctr"/>
          <a:lstStyle/>
          <a:p>
            <a:pPr indent="0" marL="0">
              <a:buNone/>
            </a:pPr>
            <a:r>
              <a:rPr lang="en-US" sz="9000" b="1" dirty="0">
                <a:solidFill>
                  <a:srgbClr val="F2A541"/>
                </a:solidFill>
                <a:latin typeface="Cambria" pitchFamily="34" charset="0"/>
                <a:ea typeface="Cambria" pitchFamily="34" charset="-122"/>
                <a:cs typeface="Cambria" pitchFamily="34" charset="-120"/>
              </a:rPr>
              <a:t>03</a:t>
            </a:r>
            <a:endParaRPr lang="en-US" sz="9000" dirty="0"/>
          </a:p>
        </p:txBody>
      </p:sp>
      <p:sp>
        <p:nvSpPr>
          <p:cNvPr id="4" name="Text 1"/>
          <p:cNvSpPr txBox="1"/>
          <p:nvPr/>
        </p:nvSpPr>
        <p:spPr>
          <a:xfrm>
            <a:off x="640080" y="2971800"/>
            <a:ext cx="10058400" cy="1645920"/>
          </a:xfrm>
          <a:prstGeom prst="rect">
            <a:avLst/>
          </a:prstGeom>
          <a:noFill/>
          <a:ln/>
        </p:spPr>
        <p:txBody>
          <a:bodyPr wrap="square" lIns="0" tIns="0" rIns="0" bIns="0" rtlCol="0" anchor="t"/>
          <a:lstStyle/>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Does any of it survive</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a real night in the field?</a:t>
            </a:r>
            <a:endParaRPr lang="en-US" sz="4000" dirty="0"/>
          </a:p>
        </p:txBody>
      </p:sp>
      <p:sp>
        <p:nvSpPr>
          <p:cNvPr id="5" name="Text 2"/>
          <p:cNvSpPr txBox="1"/>
          <p:nvPr/>
        </p:nvSpPr>
        <p:spPr>
          <a:xfrm>
            <a:off x="640080" y="4617720"/>
            <a:ext cx="10058400" cy="365760"/>
          </a:xfrm>
          <a:prstGeom prst="rect">
            <a:avLst/>
          </a:prstGeom>
          <a:noFill/>
          <a:ln/>
        </p:spPr>
        <p:txBody>
          <a:bodyPr wrap="square" lIns="0" tIns="0" rIns="0" bIns="0" rtlCol="0" anchor="ctr"/>
          <a:lstStyle/>
          <a:p>
            <a:pPr indent="0" marL="0">
              <a:buNone/>
            </a:pPr>
            <a:r>
              <a:rPr lang="en-US" sz="1500" dirty="0">
                <a:solidFill>
                  <a:srgbClr val="B3C4DC"/>
                </a:solidFill>
                <a:latin typeface="Calibri" pitchFamily="34" charset="0"/>
                <a:ea typeface="Calibri" pitchFamily="34" charset="-122"/>
                <a:cs typeface="Calibri" pitchFamily="34" charset="-120"/>
              </a:rPr>
              <a:t>9.4 h · 564 recordings · one AudioMoth · Mara Triangle, Kenya · no ground truth</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 · QUESTION 3 · MARA TRIANGLE, KENYA</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The score ranks. It does not identify.</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Reviewed Kenya candidates</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12064" y="1627632"/>
            <a:ext cx="5330952" cy="2454495"/>
          </a:xfrm>
          <a:prstGeom prst="roundRect">
            <a:avLst>
              <a:gd name="adj" fmla="val 2235"/>
            </a:avLst>
          </a:prstGeom>
          <a:solidFill>
            <a:srgbClr val="F2F5F9"/>
          </a:solidFill>
          <a:ln w="12700">
            <a:solidFill>
              <a:srgbClr val="D5DEEA"/>
            </a:solidFill>
            <a:prstDash val="solid"/>
          </a:ln>
        </p:spPr>
      </p:sp>
      <p:pic>
        <p:nvPicPr>
          <p:cNvPr id="7" name="Image 0" descr="/tmp/claude-0/-home-user-pgs/8689355c-e60c-59e2-8422-64ed5c528138/scratchpad/work/assets/kenya_A.jpg">    </p:cNvPr>
          <p:cNvPicPr>
            <a:picLocks noChangeAspect="1"/>
          </p:cNvPicPr>
          <p:nvPr/>
        </p:nvPicPr>
        <p:blipFill>
          <a:blip r:embed="rId1"/>
          <a:stretch>
            <a:fillRect/>
          </a:stretch>
        </p:blipFill>
        <p:spPr>
          <a:xfrm>
            <a:off x="640080" y="1737360"/>
            <a:ext cx="5074920" cy="1814415"/>
          </a:xfrm>
          <a:prstGeom prst="rect">
            <a:avLst/>
          </a:prstGeom>
        </p:spPr>
      </p:pic>
      <p:sp>
        <p:nvSpPr>
          <p:cNvPr id="8" name="Text 5"/>
          <p:cNvSpPr txBox="1"/>
          <p:nvPr/>
        </p:nvSpPr>
        <p:spPr>
          <a:xfrm>
            <a:off x="640080" y="3624927"/>
            <a:ext cx="5074920" cy="310896"/>
          </a:xfrm>
          <a:prstGeom prst="rect">
            <a:avLst/>
          </a:prstGeom>
          <a:noFill/>
          <a:ln/>
        </p:spPr>
        <p:txBody>
          <a:bodyPr wrap="square" lIns="0" tIns="0" rIns="0" bIns="0" rtlCol="0" anchor="ctr"/>
          <a:lstStyle/>
          <a:p>
            <a:pPr indent="0" marL="0">
              <a:buNone/>
            </a:pPr>
            <a:r>
              <a:rPr lang="en-US" sz="1300" b="1" dirty="0">
                <a:solidFill>
                  <a:srgbClr val="1E7A70"/>
                </a:solidFill>
                <a:latin typeface="Calibri" pitchFamily="34" charset="0"/>
                <a:ea typeface="Calibri" pitchFamily="34" charset="-122"/>
                <a:cs typeface="Calibri" pitchFamily="34" charset="-120"/>
              </a:rPr>
              <a:t>Buzz-like</a:t>
            </a:r>
            <a:pPr indent="0" marL="0">
              <a:buNone/>
            </a:pPr>
            <a:r>
              <a:rPr lang="en-US" sz="1300" dirty="0">
                <a:solidFill>
                  <a:srgbClr val="5F718C"/>
                </a:solidFill>
                <a:latin typeface="Calibri" pitchFamily="34" charset="0"/>
                <a:ea typeface="Calibri" pitchFamily="34" charset="-122"/>
                <a:cs typeface="Calibri" pitchFamily="34" charset="-120"/>
              </a:rPr>
              <a:t>   ·   score 1.000</a:t>
            </a:r>
            <a:endParaRPr lang="en-US" sz="1300" dirty="0"/>
          </a:p>
        </p:txBody>
      </p:sp>
      <p:sp>
        <p:nvSpPr>
          <p:cNvPr id="9" name="Shape 6"/>
          <p:cNvSpPr/>
          <p:nvPr/>
        </p:nvSpPr>
        <p:spPr>
          <a:xfrm>
            <a:off x="6336792" y="1627632"/>
            <a:ext cx="5330952" cy="2454495"/>
          </a:xfrm>
          <a:prstGeom prst="roundRect">
            <a:avLst>
              <a:gd name="adj" fmla="val 2235"/>
            </a:avLst>
          </a:prstGeom>
          <a:solidFill>
            <a:srgbClr val="F2F5F9"/>
          </a:solidFill>
          <a:ln w="12700">
            <a:solidFill>
              <a:srgbClr val="D5DEEA"/>
            </a:solidFill>
            <a:prstDash val="solid"/>
          </a:ln>
        </p:spPr>
      </p:sp>
      <p:pic>
        <p:nvPicPr>
          <p:cNvPr id="10" name="Image 1" descr="/tmp/claude-0/-home-user-pgs/8689355c-e60c-59e2-8422-64ed5c528138/scratchpad/work/assets/kenya_C.jpg">    </p:cNvPr>
          <p:cNvPicPr>
            <a:picLocks noChangeAspect="1"/>
          </p:cNvPicPr>
          <p:nvPr/>
        </p:nvPicPr>
        <p:blipFill>
          <a:blip r:embed="rId2"/>
          <a:stretch>
            <a:fillRect/>
          </a:stretch>
        </p:blipFill>
        <p:spPr>
          <a:xfrm>
            <a:off x="6464808" y="1737360"/>
            <a:ext cx="5074920" cy="1814415"/>
          </a:xfrm>
          <a:prstGeom prst="rect">
            <a:avLst/>
          </a:prstGeom>
        </p:spPr>
      </p:pic>
      <p:sp>
        <p:nvSpPr>
          <p:cNvPr id="11" name="Text 7"/>
          <p:cNvSpPr txBox="1"/>
          <p:nvPr/>
        </p:nvSpPr>
        <p:spPr>
          <a:xfrm>
            <a:off x="6464808" y="3624927"/>
            <a:ext cx="5074920" cy="310896"/>
          </a:xfrm>
          <a:prstGeom prst="rect">
            <a:avLst/>
          </a:prstGeom>
          <a:noFill/>
          <a:ln/>
        </p:spPr>
        <p:txBody>
          <a:bodyPr wrap="square" lIns="0" tIns="0" rIns="0" bIns="0" rtlCol="0" anchor="ctr"/>
          <a:lstStyle/>
          <a:p>
            <a:pPr indent="0" marL="0">
              <a:buNone/>
            </a:pPr>
            <a:r>
              <a:rPr lang="en-US" sz="1300" b="1" dirty="0">
                <a:solidFill>
                  <a:srgbClr val="E76F51"/>
                </a:solidFill>
                <a:latin typeface="Calibri" pitchFamily="34" charset="0"/>
                <a:ea typeface="Calibri" pitchFamily="34" charset="-122"/>
                <a:cs typeface="Calibri" pitchFamily="34" charset="-120"/>
              </a:rPr>
              <a:t>Insect-like</a:t>
            </a:r>
            <a:pPr indent="0" marL="0">
              <a:buNone/>
            </a:pPr>
            <a:r>
              <a:rPr lang="en-US" sz="1300" dirty="0">
                <a:solidFill>
                  <a:srgbClr val="5F718C"/>
                </a:solidFill>
                <a:latin typeface="Calibri" pitchFamily="34" charset="0"/>
                <a:ea typeface="Calibri" pitchFamily="34" charset="-122"/>
                <a:cs typeface="Calibri" pitchFamily="34" charset="-120"/>
              </a:rPr>
              <a:t>   ·   score 0.999</a:t>
            </a:r>
            <a:endParaRPr lang="en-US" sz="1300" dirty="0"/>
          </a:p>
        </p:txBody>
      </p:sp>
      <p:sp>
        <p:nvSpPr>
          <p:cNvPr id="12" name="Text 8"/>
          <p:cNvSpPr txBox="1"/>
          <p:nvPr/>
        </p:nvSpPr>
        <p:spPr>
          <a:xfrm>
            <a:off x="640080" y="4210143"/>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1.25 s of context; the cyan band is the scored 0.25 s window.</a:t>
            </a:r>
            <a:endParaRPr lang="en-US" sz="1050" dirty="0"/>
          </a:p>
        </p:txBody>
      </p:sp>
      <p:sp>
        <p:nvSpPr>
          <p:cNvPr id="13" name="Shape 9"/>
          <p:cNvSpPr/>
          <p:nvPr/>
        </p:nvSpPr>
        <p:spPr>
          <a:xfrm>
            <a:off x="640080" y="4553712"/>
            <a:ext cx="4269731" cy="457200"/>
          </a:xfrm>
          <a:prstGeom prst="rect">
            <a:avLst/>
          </a:prstGeom>
          <a:solidFill>
            <a:srgbClr val="E76F51"/>
          </a:solidFill>
          <a:ln w="19050">
            <a:solidFill>
              <a:srgbClr val="FFFFFF"/>
            </a:solidFill>
            <a:prstDash val="solid"/>
          </a:ln>
        </p:spPr>
      </p:sp>
      <p:sp>
        <p:nvSpPr>
          <p:cNvPr id="14" name="Text 10"/>
          <p:cNvSpPr txBox="1"/>
          <p:nvPr/>
        </p:nvSpPr>
        <p:spPr>
          <a:xfrm>
            <a:off x="640080" y="4553712"/>
            <a:ext cx="4269731"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Insect-like  27</a:t>
            </a:r>
            <a:endParaRPr lang="en-US" sz="1150" dirty="0"/>
          </a:p>
        </p:txBody>
      </p:sp>
      <p:sp>
        <p:nvSpPr>
          <p:cNvPr id="15" name="Shape 11"/>
          <p:cNvSpPr/>
          <p:nvPr/>
        </p:nvSpPr>
        <p:spPr>
          <a:xfrm>
            <a:off x="4909811" y="4553712"/>
            <a:ext cx="3004626" cy="457200"/>
          </a:xfrm>
          <a:prstGeom prst="rect">
            <a:avLst/>
          </a:prstGeom>
          <a:solidFill>
            <a:srgbClr val="1E7A70"/>
          </a:solidFill>
          <a:ln w="19050">
            <a:solidFill>
              <a:srgbClr val="FFFFFF"/>
            </a:solidFill>
            <a:prstDash val="solid"/>
          </a:ln>
        </p:spPr>
      </p:sp>
      <p:sp>
        <p:nvSpPr>
          <p:cNvPr id="16" name="Text 12"/>
          <p:cNvSpPr txBox="1"/>
          <p:nvPr/>
        </p:nvSpPr>
        <p:spPr>
          <a:xfrm>
            <a:off x="4909811" y="4553712"/>
            <a:ext cx="3004626"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Buzz-like  19</a:t>
            </a:r>
            <a:endParaRPr lang="en-US" sz="1150" dirty="0"/>
          </a:p>
        </p:txBody>
      </p:sp>
      <p:sp>
        <p:nvSpPr>
          <p:cNvPr id="17" name="Shape 13"/>
          <p:cNvSpPr/>
          <p:nvPr/>
        </p:nvSpPr>
        <p:spPr>
          <a:xfrm>
            <a:off x="7914437" y="4553712"/>
            <a:ext cx="1581382" cy="457200"/>
          </a:xfrm>
          <a:prstGeom prst="rect">
            <a:avLst/>
          </a:prstGeom>
          <a:solidFill>
            <a:srgbClr val="9FB0C8"/>
          </a:solidFill>
          <a:ln w="19050">
            <a:solidFill>
              <a:srgbClr val="FFFFFF"/>
            </a:solidFill>
            <a:prstDash val="solid"/>
          </a:ln>
        </p:spPr>
      </p:sp>
      <p:sp>
        <p:nvSpPr>
          <p:cNvPr id="18" name="Text 14"/>
          <p:cNvSpPr txBox="1"/>
          <p:nvPr/>
        </p:nvSpPr>
        <p:spPr>
          <a:xfrm>
            <a:off x="7914437" y="4553712"/>
            <a:ext cx="1581382" cy="457200"/>
          </a:xfrm>
          <a:prstGeom prst="rect">
            <a:avLst/>
          </a:prstGeom>
          <a:noFill/>
          <a:ln/>
        </p:spPr>
        <p:txBody>
          <a:bodyPr wrap="square" lIns="0" tIns="0" rIns="0" bIns="0" rtlCol="0" anchor="ctr"/>
          <a:lstStyle/>
          <a:p>
            <a:pPr algn="ctr" indent="0" marL="0">
              <a:buNone/>
            </a:pPr>
            <a:r>
              <a:rPr lang="en-US" sz="1150" b="1" dirty="0">
                <a:solidFill>
                  <a:srgbClr val="22314D"/>
                </a:solidFill>
                <a:latin typeface="Calibri" pitchFamily="34" charset="0"/>
                <a:ea typeface="Calibri" pitchFamily="34" charset="-122"/>
                <a:cs typeface="Calibri" pitchFamily="34" charset="-120"/>
              </a:rPr>
              <a:t>Background  10</a:t>
            </a:r>
            <a:endParaRPr lang="en-US" sz="1150" dirty="0"/>
          </a:p>
        </p:txBody>
      </p:sp>
      <p:sp>
        <p:nvSpPr>
          <p:cNvPr id="19" name="Shape 15"/>
          <p:cNvSpPr/>
          <p:nvPr/>
        </p:nvSpPr>
        <p:spPr>
          <a:xfrm>
            <a:off x="9495819" y="4553712"/>
            <a:ext cx="1423244" cy="457200"/>
          </a:xfrm>
          <a:prstGeom prst="rect">
            <a:avLst/>
          </a:prstGeom>
          <a:solidFill>
            <a:srgbClr val="6E819F"/>
          </a:solidFill>
          <a:ln w="19050">
            <a:solidFill>
              <a:srgbClr val="FFFFFF"/>
            </a:solidFill>
            <a:prstDash val="solid"/>
          </a:ln>
        </p:spPr>
      </p:sp>
      <p:sp>
        <p:nvSpPr>
          <p:cNvPr id="20" name="Text 16"/>
          <p:cNvSpPr txBox="1"/>
          <p:nvPr/>
        </p:nvSpPr>
        <p:spPr>
          <a:xfrm>
            <a:off x="9495819" y="4553712"/>
            <a:ext cx="1423244"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Artefact  9</a:t>
            </a:r>
            <a:endParaRPr lang="en-US" sz="1150" dirty="0"/>
          </a:p>
        </p:txBody>
      </p:sp>
      <p:sp>
        <p:nvSpPr>
          <p:cNvPr id="21" name="Shape 17"/>
          <p:cNvSpPr/>
          <p:nvPr/>
        </p:nvSpPr>
        <p:spPr>
          <a:xfrm>
            <a:off x="10919062" y="4553712"/>
            <a:ext cx="474415" cy="457200"/>
          </a:xfrm>
          <a:prstGeom prst="rect">
            <a:avLst/>
          </a:prstGeom>
          <a:solidFill>
            <a:srgbClr val="C3D2E8"/>
          </a:solidFill>
          <a:ln w="19050">
            <a:solidFill>
              <a:srgbClr val="FFFFFF"/>
            </a:solidFill>
            <a:prstDash val="solid"/>
          </a:ln>
        </p:spPr>
      </p:sp>
      <p:sp>
        <p:nvSpPr>
          <p:cNvPr id="22" name="Shape 18"/>
          <p:cNvSpPr/>
          <p:nvPr/>
        </p:nvSpPr>
        <p:spPr>
          <a:xfrm>
            <a:off x="11393477" y="4553712"/>
            <a:ext cx="158138" cy="457200"/>
          </a:xfrm>
          <a:prstGeom prst="rect">
            <a:avLst/>
          </a:prstGeom>
          <a:solidFill>
            <a:srgbClr val="E7EDF4"/>
          </a:solidFill>
          <a:ln w="19050">
            <a:solidFill>
              <a:srgbClr val="FFFFFF"/>
            </a:solidFill>
            <a:prstDash val="solid"/>
          </a:ln>
        </p:spPr>
      </p:sp>
      <p:sp>
        <p:nvSpPr>
          <p:cNvPr id="23" name="Text 19"/>
          <p:cNvSpPr txBox="1"/>
          <p:nvPr/>
        </p:nvSpPr>
        <p:spPr>
          <a:xfrm>
            <a:off x="640080" y="5065776"/>
            <a:ext cx="10911535" cy="274320"/>
          </a:xfrm>
          <a:prstGeom prst="rect">
            <a:avLst/>
          </a:prstGeom>
          <a:noFill/>
          <a:ln/>
        </p:spPr>
        <p:txBody>
          <a:bodyPr wrap="square" lIns="0" tIns="0" rIns="0" bIns="0" rtlCol="0" anchor="ctr"/>
          <a:lstStyle/>
          <a:p>
            <a:pPr indent="0" marL="0">
              <a:buNone/>
            </a:pPr>
            <a:r>
              <a:rPr lang="en-US" sz="1050" i="1" dirty="0">
                <a:solidFill>
                  <a:srgbClr val="5F718C"/>
                </a:solidFill>
                <a:latin typeface="Calibri" pitchFamily="34" charset="0"/>
                <a:ea typeface="Calibri" pitchFamily="34" charset="-122"/>
                <a:cs typeface="Calibri" pitchFamily="34" charset="-120"/>
              </a:rPr>
              <a:t>69 top-ranked candidates, one per recording, reviewed by hand</a:t>
            </a:r>
            <a:endParaRPr lang="en-US" sz="1050" dirty="0"/>
          </a:p>
        </p:txBody>
      </p:sp>
      <p:sp>
        <p:nvSpPr>
          <p:cNvPr id="24" name="Shape 20"/>
          <p:cNvSpPr/>
          <p:nvPr/>
        </p:nvSpPr>
        <p:spPr>
          <a:xfrm>
            <a:off x="640080" y="5532120"/>
            <a:ext cx="10911535" cy="566928"/>
          </a:xfrm>
          <a:prstGeom prst="roundRect">
            <a:avLst>
              <a:gd name="adj" fmla="val 9677"/>
            </a:avLst>
          </a:prstGeom>
          <a:solidFill>
            <a:srgbClr val="0E1B33"/>
          </a:solidFill>
          <a:ln w="12700">
            <a:solidFill>
              <a:srgbClr val="0E1B33"/>
            </a:solidFill>
            <a:prstDash val="solid"/>
          </a:ln>
        </p:spPr>
      </p:sp>
      <p:sp>
        <p:nvSpPr>
          <p:cNvPr id="25" name="Text 21"/>
          <p:cNvSpPr txBox="1"/>
          <p:nvPr/>
        </p:nvSpPr>
        <p:spPr>
          <a:xfrm>
            <a:off x="914400" y="5532120"/>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27 of the 69 were insect pulse trains — ranking is not identification.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 · QUESTION 3</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High scores arrive after sunset</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Temporal pattern</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627632"/>
            <a:ext cx="5026164" cy="4114800"/>
          </a:xfrm>
          <a:prstGeom prst="roundRect">
            <a:avLst>
              <a:gd name="adj" fmla="val 1333"/>
            </a:avLst>
          </a:prstGeom>
          <a:solidFill>
            <a:srgbClr val="FFFFFF"/>
          </a:solidFill>
          <a:ln w="12700">
            <a:solidFill>
              <a:srgbClr val="D5DEEA"/>
            </a:solidFill>
            <a:prstDash val="solid"/>
          </a:ln>
        </p:spPr>
      </p:sp>
      <p:pic>
        <p:nvPicPr>
          <p:cNvPr id="7" name="Image 0" descr="/tmp/claude-0/-home-user-pgs/8689355c-e60c-59e2-8422-64ed5c528138/scratchpad/work/assets/hour_of_day.jpg">    </p:cNvPr>
          <p:cNvPicPr>
            <a:picLocks noChangeAspect="1"/>
          </p:cNvPicPr>
          <p:nvPr/>
        </p:nvPicPr>
        <p:blipFill>
          <a:blip r:embed="rId1"/>
          <a:stretch>
            <a:fillRect/>
          </a:stretch>
        </p:blipFill>
        <p:spPr>
          <a:xfrm>
            <a:off x="685800" y="1737360"/>
            <a:ext cx="4706124" cy="3840480"/>
          </a:xfrm>
          <a:prstGeom prst="rect">
            <a:avLst/>
          </a:prstGeom>
        </p:spPr>
      </p:pic>
      <p:sp>
        <p:nvSpPr>
          <p:cNvPr id="8" name="Text 5"/>
          <p:cNvSpPr txBox="1"/>
          <p:nvPr/>
        </p:nvSpPr>
        <p:spPr>
          <a:xfrm>
            <a:off x="5803404" y="1783080"/>
            <a:ext cx="5748211" cy="310896"/>
          </a:xfrm>
          <a:prstGeom prst="rect">
            <a:avLst/>
          </a:prstGeom>
          <a:noFill/>
          <a:ln/>
        </p:spPr>
        <p:txBody>
          <a:bodyPr wrap="square" lIns="0" tIns="0" rIns="0" bIns="0" rtlCol="0" anchor="ctr"/>
          <a:lstStyle/>
          <a:p>
            <a:pPr indent="0" marL="0">
              <a:buNone/>
            </a:pPr>
            <a:r>
              <a:rPr lang="en-US" sz="1400" b="1" dirty="0">
                <a:solidFill>
                  <a:srgbClr val="22314D"/>
                </a:solidFill>
                <a:latin typeface="Calibri" pitchFamily="34" charset="0"/>
                <a:ea typeface="Calibri" pitchFamily="34" charset="-122"/>
                <a:cs typeface="Calibri" pitchFamily="34" charset="-120"/>
              </a:rPr>
              <a:t>Nothing in daylight</a:t>
            </a:r>
            <a:endParaRPr lang="en-US" sz="1400" dirty="0"/>
          </a:p>
        </p:txBody>
      </p:sp>
      <p:sp>
        <p:nvSpPr>
          <p:cNvPr id="9" name="Text 6"/>
          <p:cNvSpPr txBox="1"/>
          <p:nvPr/>
        </p:nvSpPr>
        <p:spPr>
          <a:xfrm>
            <a:off x="5803404" y="2112264"/>
            <a:ext cx="5748211" cy="868680"/>
          </a:xfrm>
          <a:prstGeom prst="rect">
            <a:avLst/>
          </a:prstGeom>
          <a:noFill/>
          <a:ln/>
        </p:spPr>
        <p:txBody>
          <a:bodyPr wrap="square" lIns="0" tIns="0" rIns="0" bIns="0" rtlCol="0" anchor="t"/>
          <a:lstStyle/>
          <a:p>
            <a:pPr indent="0" marL="0">
              <a:lnSpc>
                <a:spcPts val="1700"/>
              </a:lnSpc>
              <a:buNone/>
            </a:pPr>
            <a:r>
              <a:rPr lang="en-US" sz="1200" dirty="0">
                <a:solidFill>
                  <a:srgbClr val="5F718C"/>
                </a:solidFill>
                <a:latin typeface="Calibri" pitchFamily="34" charset="0"/>
                <a:ea typeface="Calibri" pitchFamily="34" charset="-122"/>
                <a:cs typeface="Calibri" pitchFamily="34" charset="-120"/>
              </a:rPr>
              <a:t>The recorder ran 18:00–23:00 and 00:00–05:00 EAT.</a:t>
            </a:r>
            <a:endParaRPr lang="en-US" sz="1200" dirty="0"/>
          </a:p>
        </p:txBody>
      </p:sp>
      <p:sp>
        <p:nvSpPr>
          <p:cNvPr id="10" name="Text 7"/>
          <p:cNvSpPr txBox="1"/>
          <p:nvPr/>
        </p:nvSpPr>
        <p:spPr>
          <a:xfrm>
            <a:off x="5803404" y="3081528"/>
            <a:ext cx="5748211" cy="310896"/>
          </a:xfrm>
          <a:prstGeom prst="rect">
            <a:avLst/>
          </a:prstGeom>
          <a:noFill/>
          <a:ln/>
        </p:spPr>
        <p:txBody>
          <a:bodyPr wrap="square" lIns="0" tIns="0" rIns="0" bIns="0" rtlCol="0" anchor="ctr"/>
          <a:lstStyle/>
          <a:p>
            <a:pPr indent="0" marL="0">
              <a:buNone/>
            </a:pPr>
            <a:r>
              <a:rPr lang="en-US" sz="1400" b="1" dirty="0">
                <a:solidFill>
                  <a:srgbClr val="22314D"/>
                </a:solidFill>
                <a:latin typeface="Calibri" pitchFamily="34" charset="0"/>
                <a:ea typeface="Calibri" pitchFamily="34" charset="-122"/>
                <a:cs typeface="Calibri" pitchFamily="34" charset="-120"/>
              </a:rPr>
              <a:t>Peak at 23:00 EAT</a:t>
            </a:r>
            <a:endParaRPr lang="en-US" sz="1400" dirty="0"/>
          </a:p>
        </p:txBody>
      </p:sp>
      <p:sp>
        <p:nvSpPr>
          <p:cNvPr id="11" name="Text 8"/>
          <p:cNvSpPr txBox="1"/>
          <p:nvPr/>
        </p:nvSpPr>
        <p:spPr>
          <a:xfrm>
            <a:off x="5803404" y="3410712"/>
            <a:ext cx="5748211" cy="868680"/>
          </a:xfrm>
          <a:prstGeom prst="rect">
            <a:avLst/>
          </a:prstGeom>
          <a:noFill/>
          <a:ln/>
        </p:spPr>
        <p:txBody>
          <a:bodyPr wrap="square" lIns="0" tIns="0" rIns="0" bIns="0" rtlCol="0" anchor="t"/>
          <a:lstStyle/>
          <a:p>
            <a:pPr indent="0" marL="0">
              <a:lnSpc>
                <a:spcPts val="1700"/>
              </a:lnSpc>
              <a:buNone/>
            </a:pPr>
            <a:r>
              <a:rPr lang="en-US" sz="1200" dirty="0">
                <a:solidFill>
                  <a:srgbClr val="5F718C"/>
                </a:solidFill>
                <a:latin typeface="Calibri" pitchFamily="34" charset="0"/>
                <a:ea typeface="Calibri" pitchFamily="34" charset="-122"/>
                <a:cs typeface="Calibri" pitchFamily="34" charset="-120"/>
              </a:rPr>
              <a:t>30.1% of windows ≥ 0.50, against about 5% at 04:00.</a:t>
            </a:r>
            <a:endParaRPr lang="en-US" sz="1200" dirty="0"/>
          </a:p>
        </p:txBody>
      </p:sp>
      <p:sp>
        <p:nvSpPr>
          <p:cNvPr id="12" name="Text 9"/>
          <p:cNvSpPr txBox="1"/>
          <p:nvPr/>
        </p:nvSpPr>
        <p:spPr>
          <a:xfrm>
            <a:off x="5803404" y="4379976"/>
            <a:ext cx="5748211" cy="310896"/>
          </a:xfrm>
          <a:prstGeom prst="rect">
            <a:avLst/>
          </a:prstGeom>
          <a:noFill/>
          <a:ln/>
        </p:spPr>
        <p:txBody>
          <a:bodyPr wrap="square" lIns="0" tIns="0" rIns="0" bIns="0" rtlCol="0" anchor="ctr"/>
          <a:lstStyle/>
          <a:p>
            <a:pPr indent="0" marL="0">
              <a:buNone/>
            </a:pPr>
            <a:r>
              <a:rPr lang="en-US" sz="1400" b="1" dirty="0">
                <a:solidFill>
                  <a:srgbClr val="5F718C"/>
                </a:solidFill>
                <a:latin typeface="Calibri" pitchFamily="34" charset="0"/>
                <a:ea typeface="Calibri" pitchFamily="34" charset="-122"/>
                <a:cs typeface="Calibri" pitchFamily="34" charset="-120"/>
              </a:rPr>
              <a:t>Consistent with foraging</a:t>
            </a:r>
            <a:endParaRPr lang="en-US" sz="1400" dirty="0"/>
          </a:p>
        </p:txBody>
      </p:sp>
      <p:sp>
        <p:nvSpPr>
          <p:cNvPr id="13" name="Text 10"/>
          <p:cNvSpPr txBox="1"/>
          <p:nvPr/>
        </p:nvSpPr>
        <p:spPr>
          <a:xfrm>
            <a:off x="5803404" y="4709160"/>
            <a:ext cx="5748211" cy="868680"/>
          </a:xfrm>
          <a:prstGeom prst="rect">
            <a:avLst/>
          </a:prstGeom>
          <a:noFill/>
          <a:ln/>
        </p:spPr>
        <p:txBody>
          <a:bodyPr wrap="square" lIns="0" tIns="0" rIns="0" bIns="0" rtlCol="0" anchor="t"/>
          <a:lstStyle/>
          <a:p>
            <a:pPr indent="0" marL="0">
              <a:lnSpc>
                <a:spcPts val="1700"/>
              </a:lnSpc>
              <a:buNone/>
            </a:pPr>
            <a:r>
              <a:rPr lang="en-US" sz="1200" dirty="0">
                <a:solidFill>
                  <a:srgbClr val="5F718C"/>
                </a:solidFill>
                <a:latin typeface="Calibri" pitchFamily="34" charset="0"/>
                <a:ea typeface="Calibri" pitchFamily="34" charset="-122"/>
                <a:cs typeface="Calibri" pitchFamily="34" charset="-120"/>
              </a:rPr>
              <a:t>What you would expect of foraging bats — but these are candidates, not confirmed buzzes.</a:t>
            </a:r>
            <a:endParaRPr lang="en-US" sz="1200" dirty="0"/>
          </a:p>
        </p:txBody>
      </p:sp>
      <p:sp>
        <p:nvSpPr>
          <p:cNvPr id="14" name="Text 11"/>
          <p:cNvSpPr txBox="1"/>
          <p:nvPr/>
        </p:nvSpPr>
        <p:spPr>
          <a:xfrm>
            <a:off x="640080" y="5779008"/>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Windows above each Perch threshold, by hour of day (EAT, UTC+3). Descriptive — no ground truth exists for this site.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HONEST LIMITS</a:t>
            </a:r>
            <a:endParaRPr lang="en-US" sz="1100" dirty="0"/>
          </a:p>
        </p:txBody>
      </p:sp>
      <p:sp>
        <p:nvSpPr>
          <p:cNvPr id="3" name="Text 1"/>
          <p:cNvSpPr txBox="1"/>
          <p:nvPr/>
        </p:nvSpPr>
        <p:spPr>
          <a:xfrm>
            <a:off x="640080" y="658368"/>
            <a:ext cx="10881360" cy="658368"/>
          </a:xfrm>
          <a:prstGeom prst="rect">
            <a:avLst/>
          </a:prstGeom>
          <a:noFill/>
          <a:ln/>
        </p:spPr>
        <p:txBody>
          <a:bodyPr wrap="square" lIns="0" tIns="0" rIns="0" bIns="0" rtlCol="0" anchor="ctr"/>
          <a:lstStyle/>
          <a:p>
            <a:pPr indent="0" marL="0">
              <a:buNone/>
            </a:pPr>
            <a:r>
              <a:rPr lang="en-US" sz="3300" b="1" dirty="0">
                <a:solidFill>
                  <a:srgbClr val="22314D"/>
                </a:solidFill>
                <a:latin typeface="Cambria" pitchFamily="34" charset="0"/>
                <a:ea typeface="Cambria" pitchFamily="34" charset="-122"/>
                <a:cs typeface="Cambria" pitchFamily="34" charset="-120"/>
              </a:rPr>
              <a:t>Four things this study cannot tell you</a:t>
            </a:r>
            <a:endParaRPr lang="en-US" sz="3300" dirty="0"/>
          </a:p>
        </p:txBody>
      </p:sp>
      <p:sp>
        <p:nvSpPr>
          <p:cNvPr id="4" name="Text 2"/>
          <p:cNvSpPr txBox="1"/>
          <p:nvPr/>
        </p:nvSpPr>
        <p:spPr>
          <a:xfrm>
            <a:off x="640080" y="6327648"/>
            <a:ext cx="7315200" cy="274320"/>
          </a:xfrm>
          <a:prstGeom prst="rect">
            <a:avLst/>
          </a:prstGeom>
          <a:noFill/>
          <a:ln/>
        </p:spPr>
        <p:txBody>
          <a:bodyPr wrap="square" lIns="0" tIns="0" rIns="0" bIns="0" rtlCol="0" anchor="ctr"/>
          <a:lstStyle/>
          <a:p>
            <a:pPr indent="0" marL="0">
              <a:buNone/>
            </a:pPr>
            <a:r>
              <a:rPr lang="en-US" sz="900" dirty="0">
                <a:solidFill>
                  <a:srgbClr val="5F718C"/>
                </a:solidFill>
                <a:latin typeface="Calibri" pitchFamily="34" charset="0"/>
                <a:ea typeface="Calibri" pitchFamily="34" charset="-122"/>
                <a:cs typeface="Calibri" pitchFamily="34" charset="-120"/>
              </a:rPr>
              <a:t>Limitations</a:t>
            </a:r>
            <a:endParaRPr lang="en-US" sz="900" dirty="0"/>
          </a:p>
        </p:txBody>
      </p:sp>
      <p:sp>
        <p:nvSpPr>
          <p:cNvPr id="5" name="Text 3"/>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640080" y="1783080"/>
            <a:ext cx="5257800" cy="1645920"/>
          </a:xfrm>
          <a:prstGeom prst="roundRect">
            <a:avLst>
              <a:gd name="adj" fmla="val 3333"/>
            </a:avLst>
          </a:prstGeom>
          <a:solidFill>
            <a:srgbClr val="F2F5F9"/>
          </a:solidFill>
          <a:ln w="12700">
            <a:solidFill>
              <a:srgbClr val="D5DEEA"/>
            </a:solidFill>
            <a:prstDash val="solid"/>
          </a:ln>
        </p:spPr>
      </p:sp>
      <p:sp>
        <p:nvSpPr>
          <p:cNvPr id="7" name="Shape 5"/>
          <p:cNvSpPr/>
          <p:nvPr/>
        </p:nvSpPr>
        <p:spPr>
          <a:xfrm>
            <a:off x="932688" y="2057400"/>
            <a:ext cx="384048" cy="384048"/>
          </a:xfrm>
          <a:prstGeom prst="ellipse">
            <a:avLst/>
          </a:prstGeom>
          <a:solidFill>
            <a:srgbClr val="E76F51"/>
          </a:solidFill>
          <a:ln w="12700">
            <a:solidFill>
              <a:srgbClr val="E76F51"/>
            </a:solidFill>
            <a:prstDash val="solid"/>
          </a:ln>
        </p:spPr>
      </p:sp>
      <p:sp>
        <p:nvSpPr>
          <p:cNvPr id="8" name="Text 6"/>
          <p:cNvSpPr txBox="1"/>
          <p:nvPr/>
        </p:nvSpPr>
        <p:spPr>
          <a:xfrm>
            <a:off x="932688" y="2057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481328" y="2039112"/>
            <a:ext cx="4206240" cy="329184"/>
          </a:xfrm>
          <a:prstGeom prst="rect">
            <a:avLst/>
          </a:prstGeom>
          <a:noFill/>
          <a:ln/>
        </p:spPr>
        <p:txBody>
          <a:bodyPr wrap="square" lIns="0" tIns="0" rIns="0" bIns="0" rtlCol="0" anchor="ctr"/>
          <a:lstStyle/>
          <a:p>
            <a:pPr indent="0" marL="0">
              <a:buNone/>
            </a:pPr>
            <a:r>
              <a:rPr lang="en-US" sz="1450" b="1" dirty="0">
                <a:solidFill>
                  <a:srgbClr val="22314D"/>
                </a:solidFill>
                <a:latin typeface="Calibri" pitchFamily="34" charset="0"/>
                <a:ea typeface="Calibri" pitchFamily="34" charset="-122"/>
                <a:cs typeface="Calibri" pitchFamily="34" charset="-120"/>
              </a:rPr>
              <a:t>Two groups, one site</a:t>
            </a:r>
            <a:endParaRPr lang="en-US" sz="1450" dirty="0"/>
          </a:p>
        </p:txBody>
      </p:sp>
      <p:sp>
        <p:nvSpPr>
          <p:cNvPr id="10" name="Text 8"/>
          <p:cNvSpPr txBox="1"/>
          <p:nvPr/>
        </p:nvSpPr>
        <p:spPr>
          <a:xfrm>
            <a:off x="1481328" y="2404872"/>
            <a:ext cx="4206240" cy="868680"/>
          </a:xfrm>
          <a:prstGeom prst="rect">
            <a:avLst/>
          </a:prstGeom>
          <a:noFill/>
          <a:ln/>
        </p:spPr>
        <p:txBody>
          <a:bodyPr wrap="square" lIns="0" tIns="0" rIns="0" bIns="0" rtlCol="0" anchor="t"/>
          <a:lstStyle/>
          <a:p>
            <a:pPr indent="0" marL="0">
              <a:lnSpc>
                <a:spcPts val="1600"/>
              </a:lnSpc>
              <a:buNone/>
            </a:pPr>
            <a:r>
              <a:rPr lang="en-US" sz="1150" dirty="0">
                <a:solidFill>
                  <a:srgbClr val="5F718C"/>
                </a:solidFill>
                <a:latin typeface="Calibri" pitchFamily="34" charset="0"/>
                <a:ea typeface="Calibri" pitchFamily="34" charset="-122"/>
                <a:cs typeface="Calibri" pitchFamily="34" charset="-120"/>
              </a:rPr>
              <a:t>Two of the six recording groups come from the same site, so the held-out test is group-level, not strict five-site isolation.</a:t>
            </a:r>
            <a:endParaRPr lang="en-US" sz="1150" dirty="0"/>
          </a:p>
        </p:txBody>
      </p:sp>
      <p:sp>
        <p:nvSpPr>
          <p:cNvPr id="11" name="Shape 9"/>
          <p:cNvSpPr/>
          <p:nvPr/>
        </p:nvSpPr>
        <p:spPr>
          <a:xfrm>
            <a:off x="6309360" y="1783080"/>
            <a:ext cx="5257800" cy="1645920"/>
          </a:xfrm>
          <a:prstGeom prst="roundRect">
            <a:avLst>
              <a:gd name="adj" fmla="val 3333"/>
            </a:avLst>
          </a:prstGeom>
          <a:solidFill>
            <a:srgbClr val="F2F5F9"/>
          </a:solidFill>
          <a:ln w="12700">
            <a:solidFill>
              <a:srgbClr val="D5DEEA"/>
            </a:solidFill>
            <a:prstDash val="solid"/>
          </a:ln>
        </p:spPr>
      </p:sp>
      <p:sp>
        <p:nvSpPr>
          <p:cNvPr id="12" name="Shape 10"/>
          <p:cNvSpPr/>
          <p:nvPr/>
        </p:nvSpPr>
        <p:spPr>
          <a:xfrm>
            <a:off x="6601968" y="2057400"/>
            <a:ext cx="384048" cy="384048"/>
          </a:xfrm>
          <a:prstGeom prst="ellipse">
            <a:avLst/>
          </a:prstGeom>
          <a:solidFill>
            <a:srgbClr val="E76F51"/>
          </a:solidFill>
          <a:ln w="12700">
            <a:solidFill>
              <a:srgbClr val="E76F51"/>
            </a:solidFill>
            <a:prstDash val="solid"/>
          </a:ln>
        </p:spPr>
      </p:sp>
      <p:sp>
        <p:nvSpPr>
          <p:cNvPr id="13" name="Text 11"/>
          <p:cNvSpPr txBox="1"/>
          <p:nvPr/>
        </p:nvSpPr>
        <p:spPr>
          <a:xfrm>
            <a:off x="6601968" y="2057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7150608" y="2039112"/>
            <a:ext cx="4206240" cy="329184"/>
          </a:xfrm>
          <a:prstGeom prst="rect">
            <a:avLst/>
          </a:prstGeom>
          <a:noFill/>
          <a:ln/>
        </p:spPr>
        <p:txBody>
          <a:bodyPr wrap="square" lIns="0" tIns="0" rIns="0" bIns="0" rtlCol="0" anchor="ctr"/>
          <a:lstStyle/>
          <a:p>
            <a:pPr indent="0" marL="0">
              <a:buNone/>
            </a:pPr>
            <a:r>
              <a:rPr lang="en-US" sz="1450" b="1" dirty="0">
                <a:solidFill>
                  <a:srgbClr val="22314D"/>
                </a:solidFill>
                <a:latin typeface="Calibri" pitchFamily="34" charset="0"/>
                <a:ea typeface="Calibri" pitchFamily="34" charset="-122"/>
                <a:cs typeface="Calibri" pitchFamily="34" charset="-120"/>
              </a:rPr>
              <a:t>A duration shortcut survives</a:t>
            </a:r>
            <a:endParaRPr lang="en-US" sz="1450" dirty="0"/>
          </a:p>
        </p:txBody>
      </p:sp>
      <p:sp>
        <p:nvSpPr>
          <p:cNvPr id="15" name="Text 13"/>
          <p:cNvSpPr txBox="1"/>
          <p:nvPr/>
        </p:nvSpPr>
        <p:spPr>
          <a:xfrm>
            <a:off x="7150608" y="2404872"/>
            <a:ext cx="4206240" cy="868680"/>
          </a:xfrm>
          <a:prstGeom prst="rect">
            <a:avLst/>
          </a:prstGeom>
          <a:noFill/>
          <a:ln/>
        </p:spPr>
        <p:txBody>
          <a:bodyPr wrap="square" lIns="0" tIns="0" rIns="0" bIns="0" rtlCol="0" anchor="t"/>
          <a:lstStyle/>
          <a:p>
            <a:pPr indent="0" marL="0">
              <a:lnSpc>
                <a:spcPts val="1600"/>
              </a:lnSpc>
              <a:buNone/>
            </a:pPr>
            <a:r>
              <a:rPr lang="en-US" sz="1150" dirty="0">
                <a:solidFill>
                  <a:srgbClr val="5F718C"/>
                </a:solidFill>
                <a:latin typeface="Calibri" pitchFamily="34" charset="0"/>
                <a:ea typeface="Calibri" pitchFamily="34" charset="-122"/>
                <a:cs typeface="Calibri" pitchFamily="34" charset="-120"/>
              </a:rPr>
              <a:t>127 buzz clips padded, every non-buzz clip cropped — duration partly encodes the label.</a:t>
            </a:r>
            <a:endParaRPr lang="en-US" sz="1150" dirty="0"/>
          </a:p>
        </p:txBody>
      </p:sp>
      <p:sp>
        <p:nvSpPr>
          <p:cNvPr id="16" name="Shape 14"/>
          <p:cNvSpPr/>
          <p:nvPr/>
        </p:nvSpPr>
        <p:spPr>
          <a:xfrm>
            <a:off x="640080" y="3657600"/>
            <a:ext cx="5257800" cy="1645920"/>
          </a:xfrm>
          <a:prstGeom prst="roundRect">
            <a:avLst>
              <a:gd name="adj" fmla="val 3333"/>
            </a:avLst>
          </a:prstGeom>
          <a:solidFill>
            <a:srgbClr val="F2F5F9"/>
          </a:solidFill>
          <a:ln w="12700">
            <a:solidFill>
              <a:srgbClr val="D5DEEA"/>
            </a:solidFill>
            <a:prstDash val="solid"/>
          </a:ln>
        </p:spPr>
      </p:sp>
      <p:sp>
        <p:nvSpPr>
          <p:cNvPr id="17" name="Shape 15"/>
          <p:cNvSpPr/>
          <p:nvPr/>
        </p:nvSpPr>
        <p:spPr>
          <a:xfrm>
            <a:off x="932688" y="3931920"/>
            <a:ext cx="384048" cy="384048"/>
          </a:xfrm>
          <a:prstGeom prst="ellipse">
            <a:avLst/>
          </a:prstGeom>
          <a:solidFill>
            <a:srgbClr val="E76F51"/>
          </a:solidFill>
          <a:ln w="12700">
            <a:solidFill>
              <a:srgbClr val="E76F51"/>
            </a:solidFill>
            <a:prstDash val="solid"/>
          </a:ln>
        </p:spPr>
      </p:sp>
      <p:sp>
        <p:nvSpPr>
          <p:cNvPr id="18" name="Text 16"/>
          <p:cNvSpPr txBox="1"/>
          <p:nvPr/>
        </p:nvSpPr>
        <p:spPr>
          <a:xfrm>
            <a:off x="932688" y="3931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481328" y="3913632"/>
            <a:ext cx="4206240" cy="329184"/>
          </a:xfrm>
          <a:prstGeom prst="rect">
            <a:avLst/>
          </a:prstGeom>
          <a:noFill/>
          <a:ln/>
        </p:spPr>
        <p:txBody>
          <a:bodyPr wrap="square" lIns="0" tIns="0" rIns="0" bIns="0" rtlCol="0" anchor="ctr"/>
          <a:lstStyle/>
          <a:p>
            <a:pPr indent="0" marL="0">
              <a:buNone/>
            </a:pPr>
            <a:r>
              <a:rPr lang="en-US" sz="1450" b="1" dirty="0">
                <a:solidFill>
                  <a:srgbClr val="22314D"/>
                </a:solidFill>
                <a:latin typeface="Calibri" pitchFamily="34" charset="0"/>
                <a:ea typeface="Calibri" pitchFamily="34" charset="-122"/>
                <a:cs typeface="Calibri" pitchFamily="34" charset="-120"/>
              </a:rPr>
              <a:t>Pipelines, not architectures</a:t>
            </a:r>
            <a:endParaRPr lang="en-US" sz="1450" dirty="0"/>
          </a:p>
        </p:txBody>
      </p:sp>
      <p:sp>
        <p:nvSpPr>
          <p:cNvPr id="20" name="Text 18"/>
          <p:cNvSpPr txBox="1"/>
          <p:nvPr/>
        </p:nvSpPr>
        <p:spPr>
          <a:xfrm>
            <a:off x="1481328" y="4279392"/>
            <a:ext cx="4206240" cy="868680"/>
          </a:xfrm>
          <a:prstGeom prst="rect">
            <a:avLst/>
          </a:prstGeom>
          <a:noFill/>
          <a:ln/>
        </p:spPr>
        <p:txBody>
          <a:bodyPr wrap="square" lIns="0" tIns="0" rIns="0" bIns="0" rtlCol="0" anchor="t"/>
          <a:lstStyle/>
          <a:p>
            <a:pPr indent="0" marL="0">
              <a:lnSpc>
                <a:spcPts val="1600"/>
              </a:lnSpc>
              <a:buNone/>
            </a:pPr>
            <a:r>
              <a:rPr lang="en-US" sz="1150" dirty="0">
                <a:solidFill>
                  <a:srgbClr val="5F718C"/>
                </a:solidFill>
                <a:latin typeface="Calibri" pitchFamily="34" charset="0"/>
                <a:ea typeface="Calibri" pitchFamily="34" charset="-122"/>
                <a:cs typeface="Calibri" pitchFamily="34" charset="-120"/>
              </a:rPr>
              <a:t>Only Perch carries the ×10 expansion, so the gain is not the embedding alone.</a:t>
            </a:r>
            <a:endParaRPr lang="en-US" sz="1150" dirty="0"/>
          </a:p>
        </p:txBody>
      </p:sp>
      <p:sp>
        <p:nvSpPr>
          <p:cNvPr id="21" name="Shape 19"/>
          <p:cNvSpPr/>
          <p:nvPr/>
        </p:nvSpPr>
        <p:spPr>
          <a:xfrm>
            <a:off x="6309360" y="3657600"/>
            <a:ext cx="5257800" cy="1645920"/>
          </a:xfrm>
          <a:prstGeom prst="roundRect">
            <a:avLst>
              <a:gd name="adj" fmla="val 3333"/>
            </a:avLst>
          </a:prstGeom>
          <a:solidFill>
            <a:srgbClr val="F2F5F9"/>
          </a:solidFill>
          <a:ln w="12700">
            <a:solidFill>
              <a:srgbClr val="D5DEEA"/>
            </a:solidFill>
            <a:prstDash val="solid"/>
          </a:ln>
        </p:spPr>
      </p:sp>
      <p:sp>
        <p:nvSpPr>
          <p:cNvPr id="22" name="Shape 20"/>
          <p:cNvSpPr/>
          <p:nvPr/>
        </p:nvSpPr>
        <p:spPr>
          <a:xfrm>
            <a:off x="6601968" y="3931920"/>
            <a:ext cx="384048" cy="384048"/>
          </a:xfrm>
          <a:prstGeom prst="ellipse">
            <a:avLst/>
          </a:prstGeom>
          <a:solidFill>
            <a:srgbClr val="E76F51"/>
          </a:solidFill>
          <a:ln w="12700">
            <a:solidFill>
              <a:srgbClr val="E76F51"/>
            </a:solidFill>
            <a:prstDash val="solid"/>
          </a:ln>
        </p:spPr>
      </p:sp>
      <p:sp>
        <p:nvSpPr>
          <p:cNvPr id="23" name="Text 21"/>
          <p:cNvSpPr txBox="1"/>
          <p:nvPr/>
        </p:nvSpPr>
        <p:spPr>
          <a:xfrm>
            <a:off x="6601968" y="3931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7150608" y="3913632"/>
            <a:ext cx="4206240" cy="329184"/>
          </a:xfrm>
          <a:prstGeom prst="rect">
            <a:avLst/>
          </a:prstGeom>
          <a:noFill/>
          <a:ln/>
        </p:spPr>
        <p:txBody>
          <a:bodyPr wrap="square" lIns="0" tIns="0" rIns="0" bIns="0" rtlCol="0" anchor="ctr"/>
          <a:lstStyle/>
          <a:p>
            <a:pPr indent="0" marL="0">
              <a:buNone/>
            </a:pPr>
            <a:r>
              <a:rPr lang="en-US" sz="1450" b="1" dirty="0">
                <a:solidFill>
                  <a:srgbClr val="22314D"/>
                </a:solidFill>
                <a:latin typeface="Calibri" pitchFamily="34" charset="0"/>
                <a:ea typeface="Calibri" pitchFamily="34" charset="-122"/>
                <a:cs typeface="Calibri" pitchFamily="34" charset="-120"/>
              </a:rPr>
              <a:t>No Kenya ground truth</a:t>
            </a:r>
            <a:endParaRPr lang="en-US" sz="1450" dirty="0"/>
          </a:p>
        </p:txBody>
      </p:sp>
      <p:sp>
        <p:nvSpPr>
          <p:cNvPr id="25" name="Text 23"/>
          <p:cNvSpPr txBox="1"/>
          <p:nvPr/>
        </p:nvSpPr>
        <p:spPr>
          <a:xfrm>
            <a:off x="7150608" y="4279392"/>
            <a:ext cx="4206240" cy="868680"/>
          </a:xfrm>
          <a:prstGeom prst="rect">
            <a:avLst/>
          </a:prstGeom>
          <a:noFill/>
          <a:ln/>
        </p:spPr>
        <p:txBody>
          <a:bodyPr wrap="square" lIns="0" tIns="0" rIns="0" bIns="0" rtlCol="0" anchor="t"/>
          <a:lstStyle/>
          <a:p>
            <a:pPr indent="0" marL="0">
              <a:lnSpc>
                <a:spcPts val="1600"/>
              </a:lnSpc>
              <a:buNone/>
            </a:pPr>
            <a:r>
              <a:rPr lang="en-US" sz="1150" dirty="0">
                <a:solidFill>
                  <a:srgbClr val="5F718C"/>
                </a:solidFill>
                <a:latin typeface="Calibri" pitchFamily="34" charset="0"/>
                <a:ea typeface="Calibri" pitchFamily="34" charset="-122"/>
                <a:cs typeface="Calibri" pitchFamily="34" charset="-120"/>
              </a:rPr>
              <a:t>Candidates were chosen by score, so no precision or recall can be computed.</a:t>
            </a:r>
            <a:endParaRPr lang="en-US" sz="1150" dirty="0"/>
          </a:p>
        </p:txBody>
      </p:sp>
      <p:sp>
        <p:nvSpPr>
          <p:cNvPr id="26" name="Shape 24"/>
          <p:cNvSpPr/>
          <p:nvPr/>
        </p:nvSpPr>
        <p:spPr>
          <a:xfrm>
            <a:off x="640080" y="5623560"/>
            <a:ext cx="10911535" cy="566928"/>
          </a:xfrm>
          <a:prstGeom prst="roundRect">
            <a:avLst>
              <a:gd name="adj" fmla="val 9677"/>
            </a:avLst>
          </a:prstGeom>
          <a:solidFill>
            <a:srgbClr val="0E1B33"/>
          </a:solidFill>
          <a:ln w="12700">
            <a:solidFill>
              <a:srgbClr val="0E1B33"/>
            </a:solidFill>
            <a:prstDash val="solid"/>
          </a:ln>
        </p:spPr>
      </p:sp>
      <p:sp>
        <p:nvSpPr>
          <p:cNvPr id="27" name="Text 25"/>
          <p:cNvSpPr txBox="1"/>
          <p:nvPr/>
        </p:nvSpPr>
        <p:spPr>
          <a:xfrm>
            <a:off x="914400" y="5623560"/>
            <a:ext cx="10362895" cy="56692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Every one of these has a concrete fix — that is the next project.</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uzz_strip.jpg">    </p:cNvPr>
          <p:cNvPicPr>
            <a:picLocks noChangeAspect="1"/>
          </p:cNvPicPr>
          <p:nvPr/>
        </p:nvPicPr>
        <p:blipFill>
          <a:blip r:embed="rId1">
            <a:alphaModFix amt="55000"/>
          </a:blip>
          <a:stretch>
            <a:fillRect/>
          </a:stretch>
        </p:blipFill>
        <p:spPr>
          <a:xfrm>
            <a:off x="0" y="5897880"/>
            <a:ext cx="12191695" cy="960120"/>
          </a:xfrm>
          <a:prstGeom prst="rect">
            <a:avLst/>
          </a:prstGeom>
        </p:spPr>
      </p:pic>
      <p:sp>
        <p:nvSpPr>
          <p:cNvPr id="3" name="Text 0"/>
          <p:cNvSpPr txBox="1"/>
          <p:nvPr/>
        </p:nvSpPr>
        <p:spPr>
          <a:xfrm>
            <a:off x="640080" y="658368"/>
            <a:ext cx="8229600" cy="292608"/>
          </a:xfrm>
          <a:prstGeom prst="rect">
            <a:avLst/>
          </a:prstGeom>
          <a:noFill/>
          <a:ln/>
        </p:spPr>
        <p:txBody>
          <a:bodyPr wrap="square" lIns="0" tIns="0" rIns="0" bIns="0" rtlCol="0" anchor="ctr"/>
          <a:lstStyle/>
          <a:p>
            <a:pPr indent="0" marL="0">
              <a:buNone/>
            </a:pPr>
            <a:r>
              <a:rPr lang="en-US" sz="1150" b="1" spc="240" kern="0" dirty="0">
                <a:solidFill>
                  <a:srgbClr val="F2A541"/>
                </a:solidFill>
                <a:latin typeface="Calibri" pitchFamily="34" charset="0"/>
                <a:ea typeface="Calibri" pitchFamily="34" charset="-122"/>
                <a:cs typeface="Calibri" pitchFamily="34" charset="-120"/>
              </a:rPr>
              <a:t>SO — WHERE DO BATS FEED?</a:t>
            </a:r>
            <a:endParaRPr lang="en-US" sz="1150" dirty="0"/>
          </a:p>
        </p:txBody>
      </p:sp>
      <p:sp>
        <p:nvSpPr>
          <p:cNvPr id="4" name="Text 1"/>
          <p:cNvSpPr txBox="1"/>
          <p:nvPr/>
        </p:nvSpPr>
        <p:spPr>
          <a:xfrm>
            <a:off x="640080" y="1024128"/>
            <a:ext cx="105156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little closer than we were</a:t>
            </a:r>
            <a:endParaRPr lang="en-US" sz="3400" dirty="0"/>
          </a:p>
        </p:txBody>
      </p:sp>
      <p:sp>
        <p:nvSpPr>
          <p:cNvPr id="5" name="Text 2"/>
          <p:cNvSpPr txBox="1"/>
          <p:nvPr/>
        </p:nvSpPr>
        <p:spPr>
          <a:xfrm>
            <a:off x="640080" y="2057400"/>
            <a:ext cx="731520" cy="82296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01</a:t>
            </a:r>
            <a:endParaRPr lang="en-US" sz="2600" dirty="0"/>
          </a:p>
        </p:txBody>
      </p:sp>
      <p:sp>
        <p:nvSpPr>
          <p:cNvPr id="6" name="Text 3"/>
          <p:cNvSpPr txBox="1"/>
          <p:nvPr/>
        </p:nvSpPr>
        <p:spPr>
          <a:xfrm>
            <a:off x="1417320" y="2093976"/>
            <a:ext cx="457200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Representation decides transfer</a:t>
            </a:r>
            <a:endParaRPr lang="en-US" sz="1600" dirty="0"/>
          </a:p>
        </p:txBody>
      </p:sp>
      <p:sp>
        <p:nvSpPr>
          <p:cNvPr id="7" name="Text 4"/>
          <p:cNvSpPr txBox="1"/>
          <p:nvPr/>
        </p:nvSpPr>
        <p:spPr>
          <a:xfrm>
            <a:off x="6126480" y="2075688"/>
            <a:ext cx="5422392" cy="777240"/>
          </a:xfrm>
          <a:prstGeom prst="rect">
            <a:avLst/>
          </a:prstGeom>
          <a:noFill/>
          <a:ln/>
        </p:spPr>
        <p:txBody>
          <a:bodyPr wrap="square" lIns="0" tIns="0" rIns="0" bIns="0" rtlCol="0" anchor="t"/>
          <a:lstStyle/>
          <a:p>
            <a:pPr indent="0" marL="0">
              <a:lnSpc>
                <a:spcPts val="1800"/>
              </a:lnSpc>
              <a:buNone/>
            </a:pPr>
            <a:r>
              <a:rPr lang="en-US" sz="1300" dirty="0">
                <a:solidFill>
                  <a:srgbClr val="B3C4DC"/>
                </a:solidFill>
                <a:latin typeface="Calibri" pitchFamily="34" charset="0"/>
                <a:ea typeface="Calibri" pitchFamily="34" charset="-122"/>
                <a:cs typeface="Calibri" pitchFamily="34" charset="-120"/>
              </a:rPr>
              <a:t>Frozen, time-expanded Perch: 0.989 mean F1 across held-out sites, worst site 0.950.</a:t>
            </a:r>
            <a:endParaRPr lang="en-US" sz="1300" dirty="0"/>
          </a:p>
        </p:txBody>
      </p:sp>
      <p:sp>
        <p:nvSpPr>
          <p:cNvPr id="8" name="Text 5"/>
          <p:cNvSpPr txBox="1"/>
          <p:nvPr/>
        </p:nvSpPr>
        <p:spPr>
          <a:xfrm>
            <a:off x="640080" y="3108960"/>
            <a:ext cx="731520" cy="82296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02</a:t>
            </a:r>
            <a:endParaRPr lang="en-US" sz="2600" dirty="0"/>
          </a:p>
        </p:txBody>
      </p:sp>
      <p:sp>
        <p:nvSpPr>
          <p:cNvPr id="9" name="Text 6"/>
          <p:cNvSpPr txBox="1"/>
          <p:nvPr/>
        </p:nvSpPr>
        <p:spPr>
          <a:xfrm>
            <a:off x="1417320" y="3145536"/>
            <a:ext cx="457200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It ranks as well as it classifies</a:t>
            </a:r>
            <a:endParaRPr lang="en-US" sz="1600" dirty="0"/>
          </a:p>
        </p:txBody>
      </p:sp>
      <p:sp>
        <p:nvSpPr>
          <p:cNvPr id="10" name="Text 7"/>
          <p:cNvSpPr txBox="1"/>
          <p:nvPr/>
        </p:nvSpPr>
        <p:spPr>
          <a:xfrm>
            <a:off x="6126480" y="3127248"/>
            <a:ext cx="5422392" cy="777240"/>
          </a:xfrm>
          <a:prstGeom prst="rect">
            <a:avLst/>
          </a:prstGeom>
          <a:noFill/>
          <a:ln/>
        </p:spPr>
        <p:txBody>
          <a:bodyPr wrap="square" lIns="0" tIns="0" rIns="0" bIns="0" rtlCol="0" anchor="t"/>
          <a:lstStyle/>
          <a:p>
            <a:pPr indent="0" marL="0">
              <a:lnSpc>
                <a:spcPts val="1800"/>
              </a:lnSpc>
              <a:buNone/>
            </a:pPr>
            <a:r>
              <a:rPr lang="en-US" sz="1300" dirty="0">
                <a:solidFill>
                  <a:srgbClr val="B3C4DC"/>
                </a:solidFill>
                <a:latin typeface="Calibri" pitchFamily="34" charset="0"/>
                <a:ea typeface="Calibri" pitchFamily="34" charset="-122"/>
                <a:cs typeface="Calibri" pitchFamily="34" charset="-120"/>
              </a:rPr>
              <a:t>Precision@10 of 0.984 against 0.831, with the query's own site removed.</a:t>
            </a:r>
            <a:endParaRPr lang="en-US" sz="1300" dirty="0"/>
          </a:p>
        </p:txBody>
      </p:sp>
      <p:sp>
        <p:nvSpPr>
          <p:cNvPr id="11" name="Text 8"/>
          <p:cNvSpPr txBox="1"/>
          <p:nvPr/>
        </p:nvSpPr>
        <p:spPr>
          <a:xfrm>
            <a:off x="640080" y="4160520"/>
            <a:ext cx="731520" cy="822960"/>
          </a:xfrm>
          <a:prstGeom prst="rect">
            <a:avLst/>
          </a:prstGeom>
          <a:noFill/>
          <a:ln/>
        </p:spPr>
        <p:txBody>
          <a:bodyPr wrap="square" lIns="0" tIns="0" rIns="0" bIns="0"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03</a:t>
            </a:r>
            <a:endParaRPr lang="en-US" sz="2600" dirty="0"/>
          </a:p>
        </p:txBody>
      </p:sp>
      <p:sp>
        <p:nvSpPr>
          <p:cNvPr id="12" name="Text 9"/>
          <p:cNvSpPr txBox="1"/>
          <p:nvPr/>
        </p:nvSpPr>
        <p:spPr>
          <a:xfrm>
            <a:off x="1417320" y="4197096"/>
            <a:ext cx="4572000" cy="34747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field still needs a human</a:t>
            </a:r>
            <a:endParaRPr lang="en-US" sz="1600" dirty="0"/>
          </a:p>
        </p:txBody>
      </p:sp>
      <p:sp>
        <p:nvSpPr>
          <p:cNvPr id="13" name="Text 10"/>
          <p:cNvSpPr txBox="1"/>
          <p:nvPr/>
        </p:nvSpPr>
        <p:spPr>
          <a:xfrm>
            <a:off x="6126480" y="4178808"/>
            <a:ext cx="5422392" cy="777240"/>
          </a:xfrm>
          <a:prstGeom prst="rect">
            <a:avLst/>
          </a:prstGeom>
          <a:noFill/>
          <a:ln/>
        </p:spPr>
        <p:txBody>
          <a:bodyPr wrap="square" lIns="0" tIns="0" rIns="0" bIns="0" rtlCol="0" anchor="t"/>
          <a:lstStyle/>
          <a:p>
            <a:pPr indent="0" marL="0">
              <a:lnSpc>
                <a:spcPts val="1800"/>
              </a:lnSpc>
              <a:buNone/>
            </a:pPr>
            <a:r>
              <a:rPr lang="en-US" sz="1300" dirty="0">
                <a:solidFill>
                  <a:srgbClr val="B3C4DC"/>
                </a:solidFill>
                <a:latin typeface="Calibri" pitchFamily="34" charset="0"/>
                <a:ea typeface="Calibri" pitchFamily="34" charset="-122"/>
                <a:cs typeface="Calibri" pitchFamily="34" charset="-120"/>
              </a:rPr>
              <a:t>Insect pulse trains were the largest category among the top-ranked Kenya candidates.</a:t>
            </a:r>
            <a:endParaRPr lang="en-US" sz="1300" dirty="0"/>
          </a:p>
        </p:txBody>
      </p:sp>
      <p:sp>
        <p:nvSpPr>
          <p:cNvPr id="14" name="Shape 11"/>
          <p:cNvSpPr/>
          <p:nvPr/>
        </p:nvSpPr>
        <p:spPr>
          <a:xfrm>
            <a:off x="640080" y="5257800"/>
            <a:ext cx="10911535" cy="658368"/>
          </a:xfrm>
          <a:prstGeom prst="roundRect">
            <a:avLst>
              <a:gd name="adj" fmla="val 8333"/>
            </a:avLst>
          </a:prstGeom>
          <a:solidFill>
            <a:srgbClr val="16294A"/>
          </a:solidFill>
          <a:ln w="12700">
            <a:solidFill>
              <a:srgbClr val="24406B"/>
            </a:solidFill>
            <a:prstDash val="solid"/>
          </a:ln>
        </p:spPr>
      </p:sp>
      <p:sp>
        <p:nvSpPr>
          <p:cNvPr id="15" name="Text 12"/>
          <p:cNvSpPr txBox="1"/>
          <p:nvPr/>
        </p:nvSpPr>
        <p:spPr>
          <a:xfrm>
            <a:off x="914400" y="5257800"/>
            <a:ext cx="10362895" cy="658368"/>
          </a:xfrm>
          <a:prstGeom prst="rect">
            <a:avLst/>
          </a:prstGeom>
          <a:noFill/>
          <a:ln/>
        </p:spPr>
        <p:txBody>
          <a:bodyPr wrap="square" lIns="0" tIns="0" rIns="0" bIns="0" rtlCol="0" anchor="ctr"/>
          <a:lstStyle/>
          <a:p>
            <a:pPr indent="0" marL="0">
              <a:buNone/>
            </a:pPr>
            <a:r>
              <a:rPr lang="en-US" sz="1350" b="1" spc="160" kern="0" dirty="0">
                <a:solidFill>
                  <a:srgbClr val="F2A541"/>
                </a:solidFill>
                <a:latin typeface="Calibri" pitchFamily="34" charset="0"/>
                <a:ea typeface="Calibri" pitchFamily="34" charset="-122"/>
                <a:cs typeface="Calibri" pitchFamily="34" charset="-120"/>
              </a:rPr>
              <a:t>NEXT   </a:t>
            </a:r>
            <a:pPr indent="0" marL="0">
              <a:buNone/>
            </a:pPr>
            <a:r>
              <a:rPr lang="en-US" sz="1350" dirty="0">
                <a:solidFill>
                  <a:srgbClr val="FFFFFF"/>
                </a:solidFill>
                <a:latin typeface="Calibri" pitchFamily="34" charset="0"/>
                <a:ea typeface="Calibri" pitchFamily="34" charset="-122"/>
                <a:cs typeface="Calibri" pitchFamily="34" charset="-120"/>
              </a:rPr>
              <a:t>An independently sampled, exhaustively reviewed Kenya subset — event-level precision and recall, and those insect pulse trains as hard negatives.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B33"/>
        </a:solidFill>
      </p:bgPr>
    </p:bg>
    <p:spTree>
      <p:nvGrpSpPr>
        <p:cNvPr id="1" name=""/>
        <p:cNvGrpSpPr/>
        <p:nvPr/>
      </p:nvGrpSpPr>
      <p:grpSpPr>
        <a:xfrm>
          <a:off x="0" y="0"/>
          <a:ext cx="0" cy="0"/>
          <a:chOff x="0" y="0"/>
          <a:chExt cx="0" cy="0"/>
        </a:xfrm>
      </p:grpSpPr>
      <p:pic>
        <p:nvPicPr>
          <p:cNvPr id="2" name="Image 0" descr="/tmp/claude-0/-home-user-pgs/8689355c-e60c-59e2-8422-64ed5c528138/scratchpad/work/assets/buzz_strip.jpg">    </p:cNvPr>
          <p:cNvPicPr>
            <a:picLocks noChangeAspect="1"/>
          </p:cNvPicPr>
          <p:nvPr/>
        </p:nvPicPr>
        <p:blipFill>
          <a:blip r:embed="rId1"/>
          <a:stretch>
            <a:fillRect/>
          </a:stretch>
        </p:blipFill>
        <p:spPr>
          <a:xfrm>
            <a:off x="0" y="4206240"/>
            <a:ext cx="12191695" cy="960120"/>
          </a:xfrm>
          <a:prstGeom prst="rect">
            <a:avLst/>
          </a:prstGeom>
        </p:spPr>
      </p:pic>
      <p:sp>
        <p:nvSpPr>
          <p:cNvPr id="3" name="Shape 0"/>
          <p:cNvSpPr/>
          <p:nvPr/>
        </p:nvSpPr>
        <p:spPr>
          <a:xfrm>
            <a:off x="0" y="5166360"/>
            <a:ext cx="12191695" cy="1691640"/>
          </a:xfrm>
          <a:prstGeom prst="rect">
            <a:avLst/>
          </a:prstGeom>
          <a:solidFill>
            <a:srgbClr val="0E1B33"/>
          </a:solidFill>
          <a:ln w="12700">
            <a:solidFill>
              <a:srgbClr val="0E1B33"/>
            </a:solidFill>
            <a:prstDash val="solid"/>
          </a:ln>
        </p:spPr>
      </p:sp>
      <p:pic>
        <p:nvPicPr>
          <p:cNvPr id="4" name="Image 1" descr="/tmp/claude-0/-home-user-pgs/8689355c-e60c-59e2-8422-64ed5c528138/scratchpad/work/assets/bat_white.png">    </p:cNvPr>
          <p:cNvPicPr>
            <a:picLocks noChangeAspect="1"/>
          </p:cNvPicPr>
          <p:nvPr/>
        </p:nvPicPr>
        <p:blipFill>
          <a:blip r:embed="rId2">
            <a:alphaModFix amt="85000"/>
          </a:blip>
          <a:stretch>
            <a:fillRect/>
          </a:stretch>
        </p:blipFill>
        <p:spPr>
          <a:xfrm>
            <a:off x="685800" y="4343400"/>
            <a:ext cx="1371600" cy="310896"/>
          </a:xfrm>
          <a:prstGeom prst="rect">
            <a:avLst/>
          </a:prstGeom>
        </p:spPr>
      </p:pic>
      <p:sp>
        <p:nvSpPr>
          <p:cNvPr id="5" name="Text 1"/>
          <p:cNvSpPr txBox="1"/>
          <p:nvPr/>
        </p:nvSpPr>
        <p:spPr>
          <a:xfrm>
            <a:off x="640080" y="169164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6" name="Text 2"/>
          <p:cNvSpPr txBox="1"/>
          <p:nvPr/>
        </p:nvSpPr>
        <p:spPr>
          <a:xfrm>
            <a:off x="640080" y="2743200"/>
            <a:ext cx="8229600" cy="457200"/>
          </a:xfrm>
          <a:prstGeom prst="rect">
            <a:avLst/>
          </a:prstGeom>
          <a:noFill/>
          <a:ln/>
        </p:spPr>
        <p:txBody>
          <a:bodyPr wrap="square" lIns="0" tIns="0" rIns="0" bIns="0" rtlCol="0" anchor="ctr"/>
          <a:lstStyle/>
          <a:p>
            <a:pPr indent="0" marL="0">
              <a:buNone/>
            </a:pPr>
            <a:r>
              <a:rPr lang="en-US" sz="2000" dirty="0">
                <a:solidFill>
                  <a:srgbClr val="F2A541"/>
                </a:solidFill>
                <a:latin typeface="Calibri" pitchFamily="34" charset="0"/>
                <a:ea typeface="Calibri" pitchFamily="34" charset="-122"/>
                <a:cs typeface="Calibri" pitchFamily="34" charset="-120"/>
              </a:rPr>
              <a:t>Questions welcome</a:t>
            </a:r>
            <a:endParaRPr lang="en-US" sz="2000" dirty="0"/>
          </a:p>
        </p:txBody>
      </p:sp>
      <p:sp>
        <p:nvSpPr>
          <p:cNvPr id="7" name="Text 3"/>
          <p:cNvSpPr txBox="1"/>
          <p:nvPr/>
        </p:nvSpPr>
        <p:spPr>
          <a:xfrm>
            <a:off x="640080" y="5440680"/>
            <a:ext cx="7863840" cy="822960"/>
          </a:xfrm>
          <a:prstGeom prst="rect">
            <a:avLst/>
          </a:prstGeom>
          <a:noFill/>
          <a:ln/>
        </p:spPr>
        <p:txBody>
          <a:bodyPr wrap="square" lIns="0" tIns="0" rIns="0" bIns="0" rtlCol="0" anchor="t"/>
          <a:lstStyle/>
          <a:p>
            <a:pPr indent="0" marL="0">
              <a:lnSpc>
                <a:spcPts val="1800"/>
              </a:lnSpc>
              <a:buNone/>
            </a:pPr>
            <a:r>
              <a:rPr lang="en-US" sz="1200" dirty="0">
                <a:solidFill>
                  <a:srgbClr val="B3C4DC"/>
                </a:solidFill>
                <a:latin typeface="Calibri" pitchFamily="34" charset="0"/>
                <a:ea typeface="Calibri" pitchFamily="34" charset="-122"/>
                <a:cs typeface="Calibri" pitchFamily="34" charset="-120"/>
              </a:rPr>
              <a:t>With thanks to Santiago Martinez Balvanera and Kate Jones for their supervision, and to the researchers who collected and shared the Kenya recordings.</a:t>
            </a:r>
            <a:endParaRPr lang="en-US" sz="1200" dirty="0"/>
          </a:p>
        </p:txBody>
      </p:sp>
      <p:sp>
        <p:nvSpPr>
          <p:cNvPr id="8" name="Text 4"/>
          <p:cNvSpPr txBox="1"/>
          <p:nvPr/>
        </p:nvSpPr>
        <p:spPr>
          <a:xfrm>
            <a:off x="8595360" y="5806440"/>
            <a:ext cx="2926080" cy="292608"/>
          </a:xfrm>
          <a:prstGeom prst="rect">
            <a:avLst/>
          </a:prstGeom>
          <a:noFill/>
          <a:ln/>
        </p:spPr>
        <p:txBody>
          <a:bodyPr wrap="square" lIns="0" tIns="0" rIns="0" bIns="0" rtlCol="0" anchor="ctr"/>
          <a:lstStyle/>
          <a:p>
            <a:pPr algn="r" indent="0" marL="0">
              <a:buNone/>
            </a:pPr>
            <a:r>
              <a:rPr lang="en-US" sz="1100" dirty="0">
                <a:solidFill>
                  <a:srgbClr val="5F718C"/>
                </a:solidFill>
                <a:latin typeface="Calibri" pitchFamily="34" charset="0"/>
                <a:ea typeface="Calibri" pitchFamily="34" charset="-122"/>
                <a:cs typeface="Calibri" pitchFamily="34" charset="-120"/>
              </a:rPr>
              <a:t>Backup slides follow →</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E76F51"/>
                </a:solidFill>
                <a:latin typeface="Calibri" pitchFamily="34" charset="0"/>
                <a:ea typeface="Calibri" pitchFamily="34" charset="-122"/>
                <a:cs typeface="Calibri" pitchFamily="34" charset="-120"/>
              </a:rPr>
              <a:t>BACKUP 1</a:t>
            </a:r>
            <a:endParaRPr lang="en-US" sz="1100" dirty="0"/>
          </a:p>
        </p:txBody>
      </p:sp>
      <p:sp>
        <p:nvSpPr>
          <p:cNvPr id="3" name="Text 1"/>
          <p:cNvSpPr txBox="1"/>
          <p:nvPr/>
        </p:nvSpPr>
        <p:spPr>
          <a:xfrm>
            <a:off x="640080" y="658368"/>
            <a:ext cx="10881360" cy="548640"/>
          </a:xfrm>
          <a:prstGeom prst="rect">
            <a:avLst/>
          </a:prstGeom>
          <a:noFill/>
          <a:ln/>
        </p:spPr>
        <p:txBody>
          <a:bodyPr wrap="square" lIns="0" tIns="0" rIns="0" bIns="0" rtlCol="0" anchor="ctr"/>
          <a:lstStyle/>
          <a:p>
            <a:pPr indent="0" marL="0">
              <a:buNone/>
            </a:pPr>
            <a:r>
              <a:rPr lang="en-US" sz="2800" b="1" dirty="0">
                <a:solidFill>
                  <a:srgbClr val="22314D"/>
                </a:solidFill>
                <a:latin typeface="Cambria" pitchFamily="34" charset="0"/>
                <a:ea typeface="Cambria" pitchFamily="34" charset="-122"/>
                <a:cs typeface="Cambria" pitchFamily="34" charset="-120"/>
              </a:rPr>
              <a:t>Detection — full metric set</a:t>
            </a:r>
            <a:endParaRPr lang="en-US" sz="2800" dirty="0"/>
          </a:p>
        </p:txBody>
      </p:sp>
      <p:sp>
        <p:nvSpPr>
          <p:cNvPr id="4" name="Text 2"/>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B1</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11535" cy="914400"/>
        </p:xfrm>
        <a:graphic>
          <a:graphicData uri="http://schemas.openxmlformats.org/drawingml/2006/table">
            <a:tbl>
              <a:tblPr/>
              <a:tblGrid>
                <a:gridCol w="2286000"/>
                <a:gridCol w="1060704"/>
                <a:gridCol w="1234440"/>
                <a:gridCol w="1170432"/>
                <a:gridCol w="868680"/>
                <a:gridCol w="1097280"/>
                <a:gridCol w="1170432"/>
                <a:gridCol w="1188720"/>
                <a:gridCol w="832104"/>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Representation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Random F1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Grouped-site F1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LOFO mean F1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LOFO SD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Worst folder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LOFO accuracy</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LOFO ROC-AUC</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LOFO AP</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r>
              <a:tr h="384048">
                <a:tc>
                  <a:txBody>
                    <a:bodyPr/>
                    <a:lstStyle/>
                    <a:p>
                      <a:pPr algn="l" indent="0" marL="0">
                        <a:buNone/>
                      </a:pPr>
                      <a:r>
                        <a:rPr lang="en-US" sz="1050" dirty="0">
                          <a:solidFill>
                            <a:srgbClr val="22314D"/>
                          </a:solidFill>
                          <a:latin typeface="Calibri" pitchFamily="34" charset="0"/>
                          <a:ea typeface="Calibri" pitchFamily="34" charset="-122"/>
                          <a:cs typeface="Calibri" pitchFamily="34" charset="-120"/>
                        </a:rPr>
                        <a:t>Baseline (1,543-d)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0.930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0.872</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0.101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0.727</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0.883</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0.9728</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0.9744</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1050" dirty="0">
                          <a:solidFill>
                            <a:srgbClr val="22314D"/>
                          </a:solidFill>
                          <a:latin typeface="Calibri" pitchFamily="34" charset="0"/>
                          <a:ea typeface="Calibri" pitchFamily="34" charset="-122"/>
                          <a:cs typeface="Calibri" pitchFamily="34" charset="-120"/>
                        </a:rPr>
                        <a:t>Compact (199-d)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0.905</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0.870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0.114</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0.691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0.881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0.9716</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0.9737</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BFCFE"/>
                    </a:solidFill>
                  </a:tcPr>
                </a:tc>
              </a:tr>
              <a:tr h="384048">
                <a:tc>
                  <a:txBody>
                    <a:bodyPr/>
                    <a:lstStyle/>
                    <a:p>
                      <a:pPr algn="l" indent="0" marL="0">
                        <a:buNone/>
                      </a:pPr>
                      <a:r>
                        <a:rPr lang="en-US" sz="1050" b="1" dirty="0">
                          <a:solidFill>
                            <a:srgbClr val="22314D"/>
                          </a:solidFill>
                          <a:latin typeface="Calibri" pitchFamily="34" charset="0"/>
                          <a:ea typeface="Calibri" pitchFamily="34" charset="-122"/>
                          <a:cs typeface="Calibri" pitchFamily="34" charset="-120"/>
                        </a:rPr>
                        <a:t>Perch v2 (1,536-d)</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0.989</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0.020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0.950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0.990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0.9997</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0.9996</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r>
            </a:tbl>
          </a:graphicData>
        </a:graphic>
      </p:graphicFrame>
      <p:sp>
        <p:nvSpPr>
          <p:cNvPr id="6" name="Text 3"/>
          <p:cNvSpPr txBox="1"/>
          <p:nvPr/>
        </p:nvSpPr>
        <p:spPr>
          <a:xfrm>
            <a:off x="640080" y="3154680"/>
            <a:ext cx="10911535" cy="2011680"/>
          </a:xfrm>
          <a:prstGeom prst="rect">
            <a:avLst/>
          </a:prstGeom>
          <a:noFill/>
          <a:ln/>
        </p:spPr>
        <p:txBody>
          <a:bodyPr wrap="square" lIns="0" tIns="0" rIns="0" bIns="0" rtlCol="0" anchor="t"/>
          <a:lstStyle/>
          <a:p>
            <a:pPr indent="0" marL="0">
              <a:lnSpc>
                <a:spcPts val="1900"/>
              </a:lnSpc>
              <a:buNone/>
            </a:pPr>
            <a:r>
              <a:rPr lang="en-US" sz="1200" b="1" dirty="0">
                <a:solidFill>
                  <a:srgbClr val="22314D"/>
                </a:solidFill>
                <a:latin typeface="Calibri" pitchFamily="34" charset="0"/>
                <a:ea typeface="Calibri" pitchFamily="34" charset="-122"/>
                <a:cs typeface="Calibri" pitchFamily="34" charset="-120"/>
              </a:rPr>
              <a:t>LOFO mean precision / recall  </a:t>
            </a:r>
            <a:pPr indent="0" marL="0">
              <a:lnSpc>
                <a:spcPts val="1900"/>
              </a:lnSpc>
              <a:buNone/>
            </a:pPr>
            <a:r>
              <a:rPr lang="en-US" sz="1200" dirty="0">
                <a:solidFill>
                  <a:srgbClr val="5F718C"/>
                </a:solidFill>
                <a:latin typeface="Calibri" pitchFamily="34" charset="0"/>
                <a:ea typeface="Calibri" pitchFamily="34" charset="-122"/>
                <a:cs typeface="Calibri" pitchFamily="34" charset="-120"/>
              </a:rPr>
              <a:t>0.910 / 0.857 (baseline) · 0.910 / 0.851 (compact) · 0.994 / 0.984 (Perch).</a:t>
            </a:r>
            <a:endParaRPr lang="en-US" sz="1200" dirty="0"/>
          </a:p>
          <a:p>
            <a:pPr indent="0" marL="0">
              <a:lnSpc>
                <a:spcPts val="1900"/>
              </a:lnSpc>
              <a:buNone/>
            </a:pPr>
            <a:r>
              <a:rPr lang="en-US" sz="1200" b="1" dirty="0">
                <a:solidFill>
                  <a:srgbClr val="22314D"/>
                </a:solidFill>
                <a:latin typeface="Calibri" pitchFamily="34" charset="0"/>
                <a:ea typeface="Calibri" pitchFamily="34" charset="-122"/>
                <a:cs typeface="Calibri" pitchFamily="34" charset="-120"/>
              </a:rPr>
              <a:t>Folder-level range  </a:t>
            </a:r>
            <a:pPr indent="0" marL="0">
              <a:lnSpc>
                <a:spcPts val="1900"/>
              </a:lnSpc>
              <a:buNone/>
            </a:pPr>
            <a:r>
              <a:rPr lang="en-US" sz="1200" dirty="0">
                <a:solidFill>
                  <a:srgbClr val="5F718C"/>
                </a:solidFill>
                <a:latin typeface="Calibri" pitchFamily="34" charset="0"/>
                <a:ea typeface="Calibri" pitchFamily="34" charset="-122"/>
                <a:cs typeface="Calibri" pitchFamily="34" charset="-120"/>
              </a:rPr>
              <a:t>baseline F1 0.727 (buzzes_sp) → 1.000 (buzzes_tb); compact low 0.691 (buzzes_sp); Perch 0.950 (buzzes_o), 0.983 (buzzes_sp), 1.000 in the other four rounds.</a:t>
            </a:r>
            <a:endParaRPr lang="en-US" sz="1200" dirty="0"/>
          </a:p>
          <a:p>
            <a:pPr indent="0" marL="0">
              <a:lnSpc>
                <a:spcPts val="1900"/>
              </a:lnSpc>
              <a:buNone/>
            </a:pPr>
            <a:r>
              <a:rPr lang="en-US" sz="1200" b="1" dirty="0">
                <a:solidFill>
                  <a:srgbClr val="22314D"/>
                </a:solidFill>
                <a:latin typeface="Calibri" pitchFamily="34" charset="0"/>
                <a:ea typeface="Calibri" pitchFamily="34" charset="-122"/>
                <a:cs typeface="Calibri" pitchFamily="34" charset="-120"/>
              </a:rPr>
              <a:t>Splits  </a:t>
            </a:r>
            <a:pPr indent="0" marL="0">
              <a:lnSpc>
                <a:spcPts val="1900"/>
              </a:lnSpc>
              <a:buNone/>
            </a:pPr>
            <a:r>
              <a:rPr lang="en-US" sz="1200" dirty="0">
                <a:solidFill>
                  <a:srgbClr val="5F718C"/>
                </a:solidFill>
                <a:latin typeface="Calibri" pitchFamily="34" charset="0"/>
                <a:ea typeface="Calibri" pitchFamily="34" charset="-122"/>
                <a:cs typeface="Calibri" pitchFamily="34" charset="-120"/>
              </a:rPr>
              <a:t>Random: 222 train / 48 validation / 46 test, stratified.  Grouped-site: buzzes_o (Site 3) validation, buzzes_tb (Site 2) test, 229 train.  LOFO: six rounds, scaler and detector refitted inside each round. Representation definitions, detector settings and the 0.5 threshold were fixed independently of the reserved validation set.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E76F51"/>
                </a:solidFill>
                <a:latin typeface="Calibri" pitchFamily="34" charset="0"/>
                <a:ea typeface="Calibri" pitchFamily="34" charset="-122"/>
                <a:cs typeface="Calibri" pitchFamily="34" charset="-120"/>
              </a:rPr>
              <a:t>BACKUP 2</a:t>
            </a:r>
            <a:endParaRPr lang="en-US" sz="1100" dirty="0"/>
          </a:p>
        </p:txBody>
      </p:sp>
      <p:sp>
        <p:nvSpPr>
          <p:cNvPr id="3" name="Text 1"/>
          <p:cNvSpPr txBox="1"/>
          <p:nvPr/>
        </p:nvSpPr>
        <p:spPr>
          <a:xfrm>
            <a:off x="640080" y="658368"/>
            <a:ext cx="10881360" cy="548640"/>
          </a:xfrm>
          <a:prstGeom prst="rect">
            <a:avLst/>
          </a:prstGeom>
          <a:noFill/>
          <a:ln/>
        </p:spPr>
        <p:txBody>
          <a:bodyPr wrap="square" lIns="0" tIns="0" rIns="0" bIns="0" rtlCol="0" anchor="ctr"/>
          <a:lstStyle/>
          <a:p>
            <a:pPr indent="0" marL="0">
              <a:buNone/>
            </a:pPr>
            <a:r>
              <a:rPr lang="en-US" sz="2800" b="1" dirty="0">
                <a:solidFill>
                  <a:srgbClr val="22314D"/>
                </a:solidFill>
                <a:latin typeface="Cambria" pitchFamily="34" charset="0"/>
                <a:ea typeface="Cambria" pitchFamily="34" charset="-122"/>
                <a:cs typeface="Cambria" pitchFamily="34" charset="-120"/>
              </a:rPr>
              <a:t>Retrieval — full metric set</a:t>
            </a:r>
            <a:endParaRPr lang="en-US" sz="2800" dirty="0"/>
          </a:p>
        </p:txBody>
      </p:sp>
      <p:sp>
        <p:nvSpPr>
          <p:cNvPr id="4" name="Text 2"/>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B2</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8595360" cy="914400"/>
        </p:xfrm>
        <a:graphic>
          <a:graphicData uri="http://schemas.openxmlformats.org/drawingml/2006/table">
            <a:tbl>
              <a:tblPr/>
              <a:tblGrid>
                <a:gridCol w="2377440"/>
                <a:gridCol w="1554480"/>
                <a:gridCol w="1554480"/>
                <a:gridCol w="1554480"/>
                <a:gridCol w="155448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Representation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Precision@5</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Precision@10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Precision@20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Average Precision</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r>
              <a:tr h="384048">
                <a:tc>
                  <a:txBody>
                    <a:bodyPr/>
                    <a:lstStyle/>
                    <a:p>
                      <a:pPr algn="l" indent="0" marL="0">
                        <a:buNone/>
                      </a:pPr>
                      <a:r>
                        <a:rPr lang="en-US" sz="1050" dirty="0">
                          <a:solidFill>
                            <a:srgbClr val="22314D"/>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0.834</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0.831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0.822</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0.770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1050" dirty="0">
                          <a:solidFill>
                            <a:srgbClr val="22314D"/>
                          </a:solidFill>
                          <a:latin typeface="Calibri" pitchFamily="34" charset="0"/>
                          <a:ea typeface="Calibri" pitchFamily="34" charset="-122"/>
                          <a:cs typeface="Calibri" pitchFamily="34" charset="-120"/>
                        </a:rPr>
                        <a:t>Compact</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0.839</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0.830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0.821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0.771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1050" b="1" dirty="0">
                          <a:solidFill>
                            <a:srgbClr val="22314D"/>
                          </a:solidFill>
                          <a:latin typeface="Calibri" pitchFamily="34" charset="0"/>
                          <a:ea typeface="Calibri" pitchFamily="34" charset="-122"/>
                          <a:cs typeface="Calibri" pitchFamily="34" charset="-120"/>
                        </a:rPr>
                        <a:t>Perch v2</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0.988</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0.984</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0.968</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0.879</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r>
              <a:tr h="384048">
                <a:tc>
                  <a:txBody>
                    <a:bodyPr/>
                    <a:lstStyle/>
                    <a:p>
                      <a:pPr algn="l" indent="0" marL="0">
                        <a:buNone/>
                      </a:pPr>
                      <a:r>
                        <a:rPr lang="en-US" sz="1050" dirty="0">
                          <a:solidFill>
                            <a:srgbClr val="22314D"/>
                          </a:solidFill>
                          <a:latin typeface="Calibri" pitchFamily="34" charset="0"/>
                          <a:ea typeface="Calibri" pitchFamily="34" charset="-122"/>
                          <a:cs typeface="Calibri" pitchFamily="34" charset="-120"/>
                        </a:rPr>
                        <a:t>Random ranking</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7F9FC"/>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0.500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7F9FC"/>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0.500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7F9FC"/>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0.501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7F9FC"/>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0.510</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7F9FC"/>
                    </a:solidFill>
                  </a:tcPr>
                </a:tc>
              </a:tr>
            </a:tbl>
          </a:graphicData>
        </a:graphic>
      </p:graphicFrame>
      <p:sp>
        <p:nvSpPr>
          <p:cNvPr id="6" name="Text 3"/>
          <p:cNvSpPr txBox="1"/>
          <p:nvPr/>
        </p:nvSpPr>
        <p:spPr>
          <a:xfrm>
            <a:off x="640080" y="3657600"/>
            <a:ext cx="10911535" cy="2194560"/>
          </a:xfrm>
          <a:prstGeom prst="rect">
            <a:avLst/>
          </a:prstGeom>
          <a:noFill/>
          <a:ln/>
        </p:spPr>
        <p:txBody>
          <a:bodyPr wrap="square" lIns="0" tIns="0" rIns="0" bIns="0" rtlCol="0" anchor="t"/>
          <a:lstStyle/>
          <a:p>
            <a:pPr indent="0" marL="0">
              <a:lnSpc>
                <a:spcPts val="2000"/>
              </a:lnSpc>
              <a:buNone/>
            </a:pPr>
            <a:r>
              <a:rPr lang="en-US" sz="1200" dirty="0">
                <a:solidFill>
                  <a:srgbClr val="5F718C"/>
                </a:solidFill>
                <a:latin typeface="Calibri" pitchFamily="34" charset="0"/>
                <a:ea typeface="Calibri" pitchFamily="34" charset="-122"/>
                <a:cs typeface="Calibri" pitchFamily="34" charset="-120"/>
              </a:rPr>
              <a:t>All 158 labelled buzz clips used as queries; every clip from the query's own folder excluded from the candidate pool.</a:t>
            </a:r>
            <a:endParaRPr lang="en-US" sz="1200" dirty="0"/>
          </a:p>
          <a:p>
            <a:pPr indent="0" marL="0">
              <a:lnSpc>
                <a:spcPts val="2000"/>
              </a:lnSpc>
              <a:buNone/>
            </a:pPr>
            <a:r>
              <a:rPr lang="en-US" sz="1200" dirty="0">
                <a:solidFill>
                  <a:srgbClr val="5F718C"/>
                </a:solidFill>
                <a:latin typeface="Calibri" pitchFamily="34" charset="0"/>
                <a:ea typeface="Calibri" pitchFamily="34" charset="-122"/>
                <a:cs typeface="Calibri" pitchFamily="34" charset="-120"/>
              </a:rPr>
              <a:t>StandardScaler fitted on the cross-folder candidate pool only, then applied to both pool and query; vectors L2-normalised and ranked by cosine similarity.</a:t>
            </a:r>
            <a:endParaRPr lang="en-US" sz="1200" dirty="0"/>
          </a:p>
          <a:p>
            <a:pPr indent="0" marL="0">
              <a:lnSpc>
                <a:spcPts val="2000"/>
              </a:lnSpc>
              <a:buNone/>
            </a:pPr>
            <a:r>
              <a:rPr lang="en-US" sz="1200" dirty="0">
                <a:solidFill>
                  <a:srgbClr val="5F718C"/>
                </a:solidFill>
                <a:latin typeface="Calibri" pitchFamily="34" charset="0"/>
                <a:ea typeface="Calibri" pitchFamily="34" charset="-122"/>
                <a:cs typeface="Calibri" pitchFamily="34" charset="-120"/>
              </a:rPr>
              <a:t>Folder-level values macro-averaged so folders with more queries do not dominate.</a:t>
            </a:r>
            <a:endParaRPr lang="en-US" sz="1200" dirty="0"/>
          </a:p>
          <a:p>
            <a:pPr indent="0" marL="0">
              <a:lnSpc>
                <a:spcPts val="2000"/>
              </a:lnSpc>
              <a:buNone/>
            </a:pPr>
            <a:r>
              <a:rPr lang="en-US" sz="1200" dirty="0">
                <a:solidFill>
                  <a:srgbClr val="5F718C"/>
                </a:solidFill>
                <a:latin typeface="Calibri" pitchFamily="34" charset="0"/>
                <a:ea typeface="Calibri" pitchFamily="34" charset="-122"/>
                <a:cs typeface="Calibri" pitchFamily="34" charset="-120"/>
              </a:rPr>
              <a:t>Perch Precision@10 ranged 0.948 (buzzes_o queries) to 1.000 (buzzes_tb); folder-level AP ranged 0.750 to 0.955.</a:t>
            </a:r>
            <a:endParaRPr lang="en-US" sz="1200" dirty="0"/>
          </a:p>
          <a:p>
            <a:pPr indent="0" marL="0">
              <a:lnSpc>
                <a:spcPts val="2000"/>
              </a:lnSpc>
              <a:buNone/>
            </a:pPr>
            <a:r>
              <a:rPr lang="en-US" sz="1200" dirty="0">
                <a:solidFill>
                  <a:srgbClr val="5F718C"/>
                </a:solidFill>
                <a:latin typeface="Calibri" pitchFamily="34" charset="0"/>
                <a:ea typeface="Calibri" pitchFamily="34" charset="-122"/>
                <a:cs typeface="Calibri" pitchFamily="34" charset="-120"/>
              </a:rPr>
              <a:t>Random baseline: 100 seeded permutations per query (seed 42), generator advancing between repetitions. Roughly balanced pools put random Precision@10 at ≈ 0.500 — easier than naturally rare field events.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E76F51"/>
                </a:solidFill>
                <a:latin typeface="Calibri" pitchFamily="34" charset="0"/>
                <a:ea typeface="Calibri" pitchFamily="34" charset="-122"/>
                <a:cs typeface="Calibri" pitchFamily="34" charset="-120"/>
              </a:rPr>
              <a:t>BACKUP 3</a:t>
            </a:r>
            <a:endParaRPr lang="en-US" sz="1100" dirty="0"/>
          </a:p>
        </p:txBody>
      </p:sp>
      <p:sp>
        <p:nvSpPr>
          <p:cNvPr id="3" name="Text 1"/>
          <p:cNvSpPr txBox="1"/>
          <p:nvPr/>
        </p:nvSpPr>
        <p:spPr>
          <a:xfrm>
            <a:off x="640080" y="658368"/>
            <a:ext cx="10881360" cy="548640"/>
          </a:xfrm>
          <a:prstGeom prst="rect">
            <a:avLst/>
          </a:prstGeom>
          <a:noFill/>
          <a:ln/>
        </p:spPr>
        <p:txBody>
          <a:bodyPr wrap="square" lIns="0" tIns="0" rIns="0" bIns="0" rtlCol="0" anchor="ctr"/>
          <a:lstStyle/>
          <a:p>
            <a:pPr indent="0" marL="0">
              <a:buNone/>
            </a:pPr>
            <a:r>
              <a:rPr lang="en-US" sz="2800" b="1" dirty="0">
                <a:solidFill>
                  <a:srgbClr val="22314D"/>
                </a:solidFill>
                <a:latin typeface="Cambria" pitchFamily="34" charset="0"/>
                <a:ea typeface="Cambria" pitchFamily="34" charset="-122"/>
                <a:cs typeface="Cambria" pitchFamily="34" charset="-120"/>
              </a:rPr>
              <a:t>Preprocessing sensitivity</a:t>
            </a:r>
            <a:endParaRPr lang="en-US" sz="2800" dirty="0"/>
          </a:p>
        </p:txBody>
      </p:sp>
      <p:sp>
        <p:nvSpPr>
          <p:cNvPr id="4" name="Text 2"/>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B3</a:t>
            </a:r>
            <a:endParaRPr lang="en-US" sz="900" dirty="0"/>
          </a:p>
        </p:txBody>
      </p:sp>
      <p:graphicFrame>
        <p:nvGraphicFramePr>
          <p:cNvPr id="5" name="Chart 0" descr=""/>
          <p:cNvGraphicFramePr/>
          <p:nvPr/>
        </p:nvGraphicFramePr>
        <p:xfrm>
          <a:off x="548640" y="1554480"/>
          <a:ext cx="603504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766560" y="1600200"/>
            <a:ext cx="4754880" cy="2926080"/>
          </a:xfrm>
          <a:prstGeom prst="rect">
            <a:avLst/>
          </a:prstGeom>
          <a:noFill/>
          <a:ln/>
        </p:spPr>
        <p:txBody>
          <a:bodyPr wrap="square" lIns="0" tIns="0" rIns="0" bIns="0" rtlCol="0" anchor="t"/>
          <a:lstStyle/>
          <a:p>
            <a:pPr indent="0" marL="0">
              <a:lnSpc>
                <a:spcPts val="1700"/>
              </a:lnSpc>
              <a:buNone/>
            </a:pPr>
            <a:r>
              <a:rPr lang="en-US" sz="1150" b="1" dirty="0">
                <a:solidFill>
                  <a:srgbClr val="22314D"/>
                </a:solidFill>
                <a:latin typeface="Calibri" pitchFamily="34" charset="0"/>
                <a:ea typeface="Calibri" pitchFamily="34" charset="-122"/>
                <a:cs typeface="Calibri" pitchFamily="34" charset="-120"/>
              </a:rPr>
              <a:t>Spectrogram resolution</a:t>
            </a:r>
            <a:endParaRPr lang="en-US" sz="1150" dirty="0"/>
          </a:p>
          <a:p>
            <a:pPr indent="0" marL="0">
              <a:lnSpc>
                <a:spcPts val="1700"/>
              </a:lnSpc>
              <a:buNone/>
            </a:pPr>
            <a:r>
              <a:rPr lang="en-US" sz="1150" dirty="0">
                <a:solidFill>
                  <a:srgbClr val="5F718C"/>
                </a:solidFill>
                <a:latin typeface="Calibri" pitchFamily="34" charset="0"/>
                <a:ea typeface="Calibri" pitchFamily="34" charset="-122"/>
                <a:cs typeface="Calibri" pitchFamily="34" charset="-120"/>
              </a:rPr>
              <a:t>1024 / 512 (used): LOFO mean 0.872, worst 0.727</a:t>
            </a:r>
            <a:endParaRPr lang="en-US" sz="1150" dirty="0"/>
          </a:p>
          <a:p>
            <a:pPr indent="0" marL="0">
              <a:lnSpc>
                <a:spcPts val="1700"/>
              </a:lnSpc>
              <a:buNone/>
            </a:pPr>
            <a:r>
              <a:rPr lang="en-US" sz="1150" dirty="0">
                <a:solidFill>
                  <a:srgbClr val="5F718C"/>
                </a:solidFill>
                <a:latin typeface="Calibri" pitchFamily="34" charset="0"/>
                <a:ea typeface="Calibri" pitchFamily="34" charset="-122"/>
                <a:cs typeface="Calibri" pitchFamily="34" charset="-120"/>
              </a:rPr>
              <a:t>256 / 128: LOFO mean 0.881, worst 0.714</a:t>
            </a:r>
            <a:endParaRPr lang="en-US" sz="1150" dirty="0"/>
          </a:p>
          <a:p>
            <a:pPr indent="0" marL="0">
              <a:lnSpc>
                <a:spcPts val="1700"/>
              </a:lnSpc>
              <a:buNone/>
            </a:pPr>
            <a:r>
              <a:rPr lang="en-US" sz="1150" dirty="0">
                <a:solidFill>
                  <a:srgbClr val="5F718C"/>
                </a:solidFill>
                <a:latin typeface="Calibri" pitchFamily="34" charset="0"/>
                <a:ea typeface="Calibri" pitchFamily="34" charset="-122"/>
                <a:cs typeface="Calibri" pitchFamily="34" charset="-120"/>
              </a:rPr>
              <a:t>1024 / 900: LOFO mean 0.864, worst 0.691</a:t>
            </a:r>
            <a:endParaRPr lang="en-US" sz="1150" dirty="0"/>
          </a:p>
          <a:p>
            <a:pPr indent="0" marL="0">
              <a:lnSpc>
                <a:spcPts val="1700"/>
              </a:lnSpc>
              <a:buNone/>
            </a:pPr>
            <a:endParaRPr lang="en-US" sz="1150" dirty="0"/>
          </a:p>
          <a:p>
            <a:pPr indent="0" marL="0">
              <a:lnSpc>
                <a:spcPts val="1700"/>
              </a:lnSpc>
              <a:buNone/>
            </a:pPr>
            <a:r>
              <a:rPr lang="en-US" sz="1150" b="1" dirty="0">
                <a:solidFill>
                  <a:srgbClr val="22314D"/>
                </a:solidFill>
                <a:latin typeface="Calibri" pitchFamily="34" charset="0"/>
                <a:ea typeface="Calibri" pitchFamily="34" charset="-122"/>
                <a:cs typeface="Calibri" pitchFamily="34" charset="-120"/>
              </a:rPr>
              <a:t>Main spectral-statistics settings</a:t>
            </a:r>
            <a:endParaRPr lang="en-US" sz="1150" dirty="0"/>
          </a:p>
          <a:p>
            <a:pPr indent="0" marL="0">
              <a:lnSpc>
                <a:spcPts val="1700"/>
              </a:lnSpc>
              <a:buNone/>
            </a:pPr>
            <a:r>
              <a:rPr lang="en-US" sz="1150" dirty="0">
                <a:solidFill>
                  <a:srgbClr val="5F718C"/>
                </a:solidFill>
                <a:latin typeface="Calibri" pitchFamily="34" charset="0"/>
                <a:ea typeface="Calibri" pitchFamily="34" charset="-122"/>
                <a:cs typeface="Calibri" pitchFamily="34" charset="-120"/>
              </a:rPr>
              <a:t>Periodic Tukey window (α = 0.25), nfft = 1024; 513 frequency bins × 186 time bins per clip; log10(magnitude + 1e-10) applied first. Crop position gave the same pattern.</a:t>
            </a:r>
            <a:endParaRPr lang="en-US" sz="1150" dirty="0"/>
          </a:p>
        </p:txBody>
      </p:sp>
      <p:sp>
        <p:nvSpPr>
          <p:cNvPr id="7" name="Shape 4"/>
          <p:cNvSpPr/>
          <p:nvPr/>
        </p:nvSpPr>
        <p:spPr>
          <a:xfrm>
            <a:off x="640080" y="4800600"/>
            <a:ext cx="10911535" cy="1188720"/>
          </a:xfrm>
          <a:prstGeom prst="roundRect">
            <a:avLst>
              <a:gd name="adj" fmla="val 4615"/>
            </a:avLst>
          </a:prstGeom>
          <a:solidFill>
            <a:srgbClr val="FDF2EE"/>
          </a:solidFill>
          <a:ln w="12700">
            <a:solidFill>
              <a:srgbClr val="F5C7B8"/>
            </a:solidFill>
            <a:prstDash val="solid"/>
          </a:ln>
        </p:spPr>
      </p:sp>
      <p:sp>
        <p:nvSpPr>
          <p:cNvPr id="8" name="Text 5"/>
          <p:cNvSpPr txBox="1"/>
          <p:nvPr/>
        </p:nvSpPr>
        <p:spPr>
          <a:xfrm>
            <a:off x="914400" y="4800600"/>
            <a:ext cx="10362895" cy="1188720"/>
          </a:xfrm>
          <a:prstGeom prst="rect">
            <a:avLst/>
          </a:prstGeom>
          <a:noFill/>
          <a:ln/>
        </p:spPr>
        <p:txBody>
          <a:bodyPr wrap="square" lIns="0" tIns="0" rIns="0" bIns="0" rtlCol="0" anchor="ctr"/>
          <a:lstStyle/>
          <a:p>
            <a:pPr indent="0" marL="0">
              <a:lnSpc>
                <a:spcPts val="1900"/>
              </a:lnSpc>
              <a:buNone/>
            </a:pPr>
            <a:r>
              <a:rPr lang="en-US" sz="1250" dirty="0">
                <a:solidFill>
                  <a:srgbClr val="9A4A32"/>
                </a:solidFill>
                <a:latin typeface="Calibri" pitchFamily="34" charset="0"/>
                <a:ea typeface="Calibri" pitchFamily="34" charset="-122"/>
                <a:cs typeface="Calibri" pitchFamily="34" charset="-120"/>
              </a:rPr>
              <a:t>0.50 s scores highest — and is exactly where the padding shortcut is total: all 158 buzz clips padded, all 158 non-buzz clips cropped. 0.25 s was retained as the compromise (127 buzz clips padded, 189 clips cropped). At 0.10 s, random-test F1 was 0.979 but worst-folder F1 collapsed to 0.050.</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E76F51"/>
                </a:solidFill>
                <a:latin typeface="Calibri" pitchFamily="34" charset="0"/>
                <a:ea typeface="Calibri" pitchFamily="34" charset="-122"/>
                <a:cs typeface="Calibri" pitchFamily="34" charset="-120"/>
              </a:rPr>
              <a:t>BACKUP 4</a:t>
            </a:r>
            <a:endParaRPr lang="en-US" sz="1100" dirty="0"/>
          </a:p>
        </p:txBody>
      </p:sp>
      <p:sp>
        <p:nvSpPr>
          <p:cNvPr id="3" name="Text 1"/>
          <p:cNvSpPr txBox="1"/>
          <p:nvPr/>
        </p:nvSpPr>
        <p:spPr>
          <a:xfrm>
            <a:off x="640080" y="658368"/>
            <a:ext cx="10881360" cy="548640"/>
          </a:xfrm>
          <a:prstGeom prst="rect">
            <a:avLst/>
          </a:prstGeom>
          <a:noFill/>
          <a:ln/>
        </p:spPr>
        <p:txBody>
          <a:bodyPr wrap="square" lIns="0" tIns="0" rIns="0" bIns="0" rtlCol="0" anchor="ctr"/>
          <a:lstStyle/>
          <a:p>
            <a:pPr indent="0" marL="0">
              <a:buNone/>
            </a:pPr>
            <a:r>
              <a:rPr lang="en-US" sz="2800" b="1" dirty="0">
                <a:solidFill>
                  <a:srgbClr val="22314D"/>
                </a:solidFill>
                <a:latin typeface="Cambria" pitchFamily="34" charset="0"/>
                <a:ea typeface="Cambria" pitchFamily="34" charset="-122"/>
                <a:cs typeface="Cambria" pitchFamily="34" charset="-120"/>
              </a:rPr>
              <a:t>Kenya — thresholds, coverage and timing</a:t>
            </a:r>
            <a:endParaRPr lang="en-US" sz="2800" dirty="0"/>
          </a:p>
        </p:txBody>
      </p:sp>
      <p:sp>
        <p:nvSpPr>
          <p:cNvPr id="4" name="Text 2"/>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B4</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9692640" cy="914400"/>
        </p:xfrm>
        <a:graphic>
          <a:graphicData uri="http://schemas.openxmlformats.org/drawingml/2006/table">
            <a:tbl>
              <a:tblPr/>
              <a:tblGrid>
                <a:gridCol w="2011680"/>
                <a:gridCol w="2103120"/>
                <a:gridCol w="2103120"/>
                <a:gridCol w="2103120"/>
                <a:gridCol w="137160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Detector</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0.50 windows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0.80 windows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0.95 windows</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Files with ≥ 0.95</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0E1B33"/>
                    </a:solidFill>
                  </a:tcPr>
                </a:tc>
              </a:tr>
              <a:tr h="384048">
                <a:tc>
                  <a:txBody>
                    <a:bodyPr/>
                    <a:lstStyle/>
                    <a:p>
                      <a:pPr algn="l" indent="0" marL="0">
                        <a:buNone/>
                      </a:pPr>
                      <a:r>
                        <a:rPr lang="en-US" sz="1050" dirty="0">
                          <a:solidFill>
                            <a:srgbClr val="22314D"/>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59,741 (22.11%)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36,110 (13.37%)</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11,978 (4.43%)</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050" dirty="0">
                          <a:solidFill>
                            <a:srgbClr val="22314D"/>
                          </a:solidFill>
                          <a:latin typeface="Calibri" pitchFamily="34" charset="0"/>
                          <a:ea typeface="Calibri" pitchFamily="34" charset="-122"/>
                          <a:cs typeface="Calibri" pitchFamily="34" charset="-120"/>
                        </a:rPr>
                        <a:t>161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1050" b="1" dirty="0">
                          <a:solidFill>
                            <a:srgbClr val="22314D"/>
                          </a:solidFill>
                          <a:latin typeface="Calibri" pitchFamily="34" charset="0"/>
                          <a:ea typeface="Calibri" pitchFamily="34" charset="-122"/>
                          <a:cs typeface="Calibri" pitchFamily="34" charset="-120"/>
                        </a:rPr>
                        <a:t>Perch v2</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43,130 (15.96%)</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17,692 (6.55%)</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5,774 (2.14%)</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c>
                  <a:txBody>
                    <a:bodyPr/>
                    <a:lstStyle/>
                    <a:p>
                      <a:pPr algn="ctr" indent="0" marL="0">
                        <a:buNone/>
                      </a:pPr>
                      <a:r>
                        <a:rPr lang="en-US" sz="1050" b="1" dirty="0">
                          <a:solidFill>
                            <a:srgbClr val="22314D"/>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91440" marR="91440" marT="45720" marB="45720" anchor="ctr">
                    <a:lnL w="0" cap="flat" cmpd="sng" algn="ctr">
                      <a:noFill/>
                    </a:lnL>
                    <a:lnR w="0" cap="flat" cmpd="sng" algn="ctr">
                      <a:noFill/>
                    </a:lnR>
                    <a:lnT w="6350" cap="flat" cmpd="sng" algn="ctr">
                      <a:solidFill>
                        <a:srgbClr val="D5DEEA"/>
                      </a:solidFill>
                      <a:prstDash val="solid"/>
                      <a:round/>
                      <a:headEnd type="none" w="med" len="med"/>
                      <a:tailEnd type="none" w="med" len="med"/>
                    </a:lnT>
                    <a:lnB w="0" cap="flat" cmpd="sng" algn="ctr">
                      <a:noFill/>
                    </a:lnB>
                    <a:solidFill>
                      <a:srgbClr val="E9F3F1"/>
                    </a:solidFill>
                  </a:tcPr>
                </a:tc>
              </a:tr>
            </a:tbl>
          </a:graphicData>
        </a:graphic>
      </p:graphicFrame>
      <p:sp>
        <p:nvSpPr>
          <p:cNvPr id="6" name="Shape 3"/>
          <p:cNvSpPr/>
          <p:nvPr/>
        </p:nvSpPr>
        <p:spPr>
          <a:xfrm>
            <a:off x="640080" y="3063240"/>
            <a:ext cx="5257800" cy="1371600"/>
          </a:xfrm>
          <a:prstGeom prst="roundRect">
            <a:avLst>
              <a:gd name="adj" fmla="val 4000"/>
            </a:avLst>
          </a:prstGeom>
          <a:solidFill>
            <a:srgbClr val="F2F5F9"/>
          </a:solidFill>
          <a:ln w="12700">
            <a:solidFill>
              <a:srgbClr val="D5DEEA"/>
            </a:solidFill>
            <a:prstDash val="solid"/>
          </a:ln>
        </p:spPr>
      </p:sp>
      <p:sp>
        <p:nvSpPr>
          <p:cNvPr id="7" name="Text 4"/>
          <p:cNvSpPr txBox="1"/>
          <p:nvPr/>
        </p:nvSpPr>
        <p:spPr>
          <a:xfrm>
            <a:off x="896112" y="3200400"/>
            <a:ext cx="4754880" cy="292608"/>
          </a:xfrm>
          <a:prstGeom prst="rect">
            <a:avLst/>
          </a:prstGeom>
          <a:noFill/>
          <a:ln/>
        </p:spPr>
        <p:txBody>
          <a:bodyPr wrap="square" lIns="0" tIns="0" rIns="0" bIns="0" rtlCol="0" anchor="ctr"/>
          <a:lstStyle/>
          <a:p>
            <a:pPr indent="0" marL="0">
              <a:buNone/>
            </a:pPr>
            <a:r>
              <a:rPr lang="en-US" sz="1300" b="1" dirty="0">
                <a:solidFill>
                  <a:srgbClr val="22314D"/>
                </a:solidFill>
                <a:latin typeface="Calibri" pitchFamily="34" charset="0"/>
                <a:ea typeface="Calibri" pitchFamily="34" charset="-122"/>
                <a:cs typeface="Calibri" pitchFamily="34" charset="-120"/>
              </a:rPr>
              <a:t>Spread across recordings</a:t>
            </a:r>
            <a:endParaRPr lang="en-US" sz="1300" dirty="0"/>
          </a:p>
        </p:txBody>
      </p:sp>
      <p:sp>
        <p:nvSpPr>
          <p:cNvPr id="8" name="Text 5"/>
          <p:cNvSpPr txBox="1"/>
          <p:nvPr/>
        </p:nvSpPr>
        <p:spPr>
          <a:xfrm>
            <a:off x="896112" y="3511296"/>
            <a:ext cx="4754880" cy="822960"/>
          </a:xfrm>
          <a:prstGeom prst="rect">
            <a:avLst/>
          </a:prstGeom>
          <a:noFill/>
          <a:ln/>
        </p:spPr>
        <p:txBody>
          <a:bodyPr wrap="square" lIns="0" tIns="0" rIns="0" bIns="0" rtlCol="0" anchor="t"/>
          <a:lstStyle/>
          <a:p>
            <a:pPr indent="0" marL="0">
              <a:lnSpc>
                <a:spcPts val="1600"/>
              </a:lnSpc>
              <a:buNone/>
            </a:pPr>
            <a:r>
              <a:rPr lang="en-US" sz="1150" dirty="0">
                <a:solidFill>
                  <a:srgbClr val="5F718C"/>
                </a:solidFill>
                <a:latin typeface="Calibri" pitchFamily="34" charset="0"/>
                <a:ea typeface="Calibri" pitchFamily="34" charset="-122"/>
                <a:cs typeface="Calibri" pitchFamily="34" charset="-120"/>
              </a:rPr>
              <a:t>At the lower two thresholds Perch windows were spread across more recordings despite being fewer in total — 466 files vs 343 at ≥ 0.50, and 328 vs 254 at ≥ 0.80.</a:t>
            </a:r>
            <a:endParaRPr lang="en-US" sz="1150" dirty="0"/>
          </a:p>
        </p:txBody>
      </p:sp>
      <p:sp>
        <p:nvSpPr>
          <p:cNvPr id="9" name="Shape 6"/>
          <p:cNvSpPr/>
          <p:nvPr/>
        </p:nvSpPr>
        <p:spPr>
          <a:xfrm>
            <a:off x="6309360" y="3063240"/>
            <a:ext cx="5257800" cy="1371600"/>
          </a:xfrm>
          <a:prstGeom prst="roundRect">
            <a:avLst>
              <a:gd name="adj" fmla="val 4000"/>
            </a:avLst>
          </a:prstGeom>
          <a:solidFill>
            <a:srgbClr val="F2F5F9"/>
          </a:solidFill>
          <a:ln w="12700">
            <a:solidFill>
              <a:srgbClr val="D5DEEA"/>
            </a:solidFill>
            <a:prstDash val="solid"/>
          </a:ln>
        </p:spPr>
      </p:sp>
      <p:sp>
        <p:nvSpPr>
          <p:cNvPr id="10" name="Text 7"/>
          <p:cNvSpPr txBox="1"/>
          <p:nvPr/>
        </p:nvSpPr>
        <p:spPr>
          <a:xfrm>
            <a:off x="6565392" y="3200400"/>
            <a:ext cx="4754880" cy="292608"/>
          </a:xfrm>
          <a:prstGeom prst="rect">
            <a:avLst/>
          </a:prstGeom>
          <a:noFill/>
          <a:ln/>
        </p:spPr>
        <p:txBody>
          <a:bodyPr wrap="square" lIns="0" tIns="0" rIns="0" bIns="0" rtlCol="0" anchor="ctr"/>
          <a:lstStyle/>
          <a:p>
            <a:pPr indent="0" marL="0">
              <a:buNone/>
            </a:pPr>
            <a:r>
              <a:rPr lang="en-US" sz="1300" b="1" dirty="0">
                <a:solidFill>
                  <a:srgbClr val="22314D"/>
                </a:solidFill>
                <a:latin typeface="Calibri" pitchFamily="34" charset="0"/>
                <a:ea typeface="Calibri" pitchFamily="34" charset="-122"/>
                <a:cs typeface="Calibri" pitchFamily="34" charset="-120"/>
              </a:rPr>
              <a:t>Temporal pattern (EAT, UTC+3)</a:t>
            </a:r>
            <a:endParaRPr lang="en-US" sz="1300" dirty="0"/>
          </a:p>
        </p:txBody>
      </p:sp>
      <p:sp>
        <p:nvSpPr>
          <p:cNvPr id="11" name="Text 8"/>
          <p:cNvSpPr txBox="1"/>
          <p:nvPr/>
        </p:nvSpPr>
        <p:spPr>
          <a:xfrm>
            <a:off x="6565392" y="3511296"/>
            <a:ext cx="4754880" cy="822960"/>
          </a:xfrm>
          <a:prstGeom prst="rect">
            <a:avLst/>
          </a:prstGeom>
          <a:noFill/>
          <a:ln/>
        </p:spPr>
        <p:txBody>
          <a:bodyPr wrap="square" lIns="0" tIns="0" rIns="0" bIns="0" rtlCol="0" anchor="t"/>
          <a:lstStyle/>
          <a:p>
            <a:pPr indent="0" marL="0">
              <a:lnSpc>
                <a:spcPts val="1600"/>
              </a:lnSpc>
              <a:buNone/>
            </a:pPr>
            <a:r>
              <a:rPr lang="en-US" sz="1150" dirty="0">
                <a:solidFill>
                  <a:srgbClr val="5F718C"/>
                </a:solidFill>
                <a:latin typeface="Calibri" pitchFamily="34" charset="0"/>
                <a:ea typeface="Calibri" pitchFamily="34" charset="-122"/>
                <a:cs typeface="Calibri" pitchFamily="34" charset="-120"/>
              </a:rPr>
              <a:t>Highest rates at 23:00 EAT — 30.14% / 17.57% / 7.71% at the 0.50, 0.80 and 0.95 thresholds. Highest daily rates on 24 October 2019. Hours without recordings are not treated as zero.</a:t>
            </a:r>
            <a:endParaRPr lang="en-US" sz="1150" dirty="0"/>
          </a:p>
        </p:txBody>
      </p:sp>
      <p:sp>
        <p:nvSpPr>
          <p:cNvPr id="12" name="Text 9"/>
          <p:cNvSpPr txBox="1"/>
          <p:nvPr/>
        </p:nvSpPr>
        <p:spPr>
          <a:xfrm>
            <a:off x="640080" y="4663440"/>
            <a:ext cx="10911535" cy="1371600"/>
          </a:xfrm>
          <a:prstGeom prst="rect">
            <a:avLst/>
          </a:prstGeom>
          <a:noFill/>
          <a:ln/>
        </p:spPr>
        <p:txBody>
          <a:bodyPr wrap="square" lIns="0" tIns="0" rIns="0" bIns="0" rtlCol="0" anchor="t"/>
          <a:lstStyle/>
          <a:p>
            <a:pPr indent="0" marL="0">
              <a:lnSpc>
                <a:spcPts val="1900"/>
              </a:lnSpc>
              <a:buNone/>
            </a:pPr>
            <a:r>
              <a:rPr lang="en-US" sz="1200" b="1" dirty="0">
                <a:solidFill>
                  <a:srgbClr val="22314D"/>
                </a:solidFill>
                <a:latin typeface="Calibri" pitchFamily="34" charset="0"/>
                <a:ea typeface="Calibri" pitchFamily="34" charset="-122"/>
                <a:cs typeface="Calibri" pitchFamily="34" charset="-120"/>
              </a:rPr>
              <a:t>Candidate selection and review   </a:t>
            </a:r>
            <a:pPr indent="0" marL="0">
              <a:lnSpc>
                <a:spcPts val="1900"/>
              </a:lnSpc>
              <a:buNone/>
            </a:pPr>
            <a:r>
              <a:rPr lang="en-US" sz="1200" dirty="0">
                <a:solidFill>
                  <a:srgbClr val="5F718C"/>
                </a:solidFill>
                <a:latin typeface="Calibri" pitchFamily="34" charset="0"/>
                <a:ea typeface="Calibri" pitchFamily="34" charset="-122"/>
                <a:cs typeface="Calibri" pitchFamily="34" charset="-120"/>
              </a:rPr>
              <a:t>Route 1 — top 50 Perch windows, neighbouring high-scoring windows within 1 s grouped into one event, one representative window kept per event.  Route 2 — eight windows sampled from each of four score bands (0.95–1.00, 0.80–0.95, 0.50–0.80, 0.20–0.50).  De-duplicated to one candidate per one-minute recording: 53 retained plus 16 newly reviewed = 69 candidates from 69 distinct recordings. Each reviewed with its 0.25 s spectrogram, 1.25 s of context, pulse-timing structure and time-expanded audio.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058400" cy="256032"/>
          </a:xfrm>
          <a:prstGeom prst="rect">
            <a:avLst/>
          </a:prstGeom>
          <a:noFill/>
          <a:ln/>
        </p:spPr>
        <p:txBody>
          <a:bodyPr wrap="square" lIns="0" tIns="0" rIns="0" bIns="0" rtlCol="0" anchor="ctr"/>
          <a:lstStyle/>
          <a:p>
            <a:pPr indent="0" marL="0">
              <a:buNone/>
            </a:pPr>
            <a:r>
              <a:rPr lang="en-US" sz="1100" b="1" spc="240" kern="0" dirty="0">
                <a:solidFill>
                  <a:srgbClr val="E76F51"/>
                </a:solidFill>
                <a:latin typeface="Calibri" pitchFamily="34" charset="0"/>
                <a:ea typeface="Calibri" pitchFamily="34" charset="-122"/>
                <a:cs typeface="Calibri" pitchFamily="34" charset="-120"/>
              </a:rPr>
              <a:t>BACKUP 5</a:t>
            </a:r>
            <a:endParaRPr lang="en-US" sz="1100" dirty="0"/>
          </a:p>
        </p:txBody>
      </p:sp>
      <p:sp>
        <p:nvSpPr>
          <p:cNvPr id="3" name="Text 1"/>
          <p:cNvSpPr txBox="1"/>
          <p:nvPr/>
        </p:nvSpPr>
        <p:spPr>
          <a:xfrm>
            <a:off x="640080" y="658368"/>
            <a:ext cx="10881360" cy="548640"/>
          </a:xfrm>
          <a:prstGeom prst="rect">
            <a:avLst/>
          </a:prstGeom>
          <a:noFill/>
          <a:ln/>
        </p:spPr>
        <p:txBody>
          <a:bodyPr wrap="square" lIns="0" tIns="0" rIns="0" bIns="0" rtlCol="0" anchor="ctr"/>
          <a:lstStyle/>
          <a:p>
            <a:pPr indent="0" marL="0">
              <a:buNone/>
            </a:pPr>
            <a:r>
              <a:rPr lang="en-US" sz="2800" b="1" dirty="0">
                <a:solidFill>
                  <a:srgbClr val="22314D"/>
                </a:solidFill>
                <a:latin typeface="Cambria" pitchFamily="34" charset="0"/>
                <a:ea typeface="Cambria" pitchFamily="34" charset="-122"/>
                <a:cs typeface="Cambria" pitchFamily="34" charset="-120"/>
              </a:rPr>
              <a:t>More reviewed Kenya candidates</a:t>
            </a:r>
            <a:endParaRPr lang="en-US" sz="2800" dirty="0"/>
          </a:p>
        </p:txBody>
      </p:sp>
      <p:sp>
        <p:nvSpPr>
          <p:cNvPr id="4" name="Text 2"/>
          <p:cNvSpPr txBox="1"/>
          <p:nvPr/>
        </p:nvSpPr>
        <p:spPr>
          <a:xfrm>
            <a:off x="10637215" y="6327648"/>
            <a:ext cx="914400" cy="274320"/>
          </a:xfrm>
          <a:prstGeom prst="rect">
            <a:avLst/>
          </a:prstGeom>
          <a:noFill/>
          <a:ln/>
        </p:spPr>
        <p:txBody>
          <a:bodyPr wrap="square" lIns="0" tIns="0" rIns="0" bIns="0" rtlCol="0" anchor="ctr"/>
          <a:lstStyle/>
          <a:p>
            <a:pPr algn="r" indent="0" marL="0">
              <a:buNone/>
            </a:pPr>
            <a:r>
              <a:rPr lang="en-US" sz="900" dirty="0">
                <a:solidFill>
                  <a:srgbClr val="5F718C"/>
                </a:solidFill>
                <a:latin typeface="Calibri" pitchFamily="34" charset="0"/>
                <a:ea typeface="Calibri" pitchFamily="34" charset="-122"/>
                <a:cs typeface="Calibri" pitchFamily="34" charset="-120"/>
              </a:rPr>
              <a:t>B5</a:t>
            </a:r>
            <a:endParaRPr lang="en-US" sz="900" dirty="0"/>
          </a:p>
        </p:txBody>
      </p:sp>
      <p:sp>
        <p:nvSpPr>
          <p:cNvPr id="5" name="Shape 3"/>
          <p:cNvSpPr/>
          <p:nvPr/>
        </p:nvSpPr>
        <p:spPr>
          <a:xfrm>
            <a:off x="512064" y="1463040"/>
            <a:ext cx="5330952" cy="2454495"/>
          </a:xfrm>
          <a:prstGeom prst="roundRect">
            <a:avLst>
              <a:gd name="adj" fmla="val 2235"/>
            </a:avLst>
          </a:prstGeom>
          <a:solidFill>
            <a:srgbClr val="F2F5F9"/>
          </a:solidFill>
          <a:ln w="12700">
            <a:solidFill>
              <a:srgbClr val="D5DEEA"/>
            </a:solidFill>
            <a:prstDash val="solid"/>
          </a:ln>
        </p:spPr>
      </p:sp>
      <p:pic>
        <p:nvPicPr>
          <p:cNvPr id="6" name="Image 0" descr="/tmp/claude-0/-home-user-pgs/8689355c-e60c-59e2-8422-64ed5c528138/scratchpad/work/assets/kenya_B.jpg">    </p:cNvPr>
          <p:cNvPicPr>
            <a:picLocks noChangeAspect="1"/>
          </p:cNvPicPr>
          <p:nvPr/>
        </p:nvPicPr>
        <p:blipFill>
          <a:blip r:embed="rId1"/>
          <a:stretch>
            <a:fillRect/>
          </a:stretch>
        </p:blipFill>
        <p:spPr>
          <a:xfrm>
            <a:off x="640080" y="1572768"/>
            <a:ext cx="5074920" cy="1814415"/>
          </a:xfrm>
          <a:prstGeom prst="rect">
            <a:avLst/>
          </a:prstGeom>
        </p:spPr>
      </p:pic>
      <p:sp>
        <p:nvSpPr>
          <p:cNvPr id="7" name="Text 4"/>
          <p:cNvSpPr txBox="1"/>
          <p:nvPr/>
        </p:nvSpPr>
        <p:spPr>
          <a:xfrm>
            <a:off x="640080" y="3460335"/>
            <a:ext cx="5074920" cy="310896"/>
          </a:xfrm>
          <a:prstGeom prst="rect">
            <a:avLst/>
          </a:prstGeom>
          <a:noFill/>
          <a:ln/>
        </p:spPr>
        <p:txBody>
          <a:bodyPr wrap="square" lIns="0" tIns="0" rIns="0" bIns="0" rtlCol="0" anchor="ctr"/>
          <a:lstStyle/>
          <a:p>
            <a:pPr indent="0" marL="0">
              <a:buNone/>
            </a:pPr>
            <a:r>
              <a:rPr lang="en-US" sz="1300" b="1" dirty="0">
                <a:solidFill>
                  <a:srgbClr val="1E7A70"/>
                </a:solidFill>
                <a:latin typeface="Calibri" pitchFamily="34" charset="0"/>
                <a:ea typeface="Calibri" pitchFamily="34" charset="-122"/>
                <a:cs typeface="Calibri" pitchFamily="34" charset="-120"/>
              </a:rPr>
              <a:t>Buzz-like</a:t>
            </a:r>
            <a:pPr indent="0" marL="0">
              <a:buNone/>
            </a:pPr>
            <a:r>
              <a:rPr lang="en-US" sz="1300" dirty="0">
                <a:solidFill>
                  <a:srgbClr val="5F718C"/>
                </a:solidFill>
                <a:latin typeface="Calibri" pitchFamily="34" charset="0"/>
                <a:ea typeface="Calibri" pitchFamily="34" charset="-122"/>
                <a:cs typeface="Calibri" pitchFamily="34" charset="-120"/>
              </a:rPr>
              <a:t>   ·   score 1.000</a:t>
            </a:r>
            <a:endParaRPr lang="en-US" sz="1300" dirty="0"/>
          </a:p>
        </p:txBody>
      </p:sp>
      <p:sp>
        <p:nvSpPr>
          <p:cNvPr id="8" name="Shape 5"/>
          <p:cNvSpPr/>
          <p:nvPr/>
        </p:nvSpPr>
        <p:spPr>
          <a:xfrm>
            <a:off x="6336792" y="1463040"/>
            <a:ext cx="5330952" cy="2454495"/>
          </a:xfrm>
          <a:prstGeom prst="roundRect">
            <a:avLst>
              <a:gd name="adj" fmla="val 2235"/>
            </a:avLst>
          </a:prstGeom>
          <a:solidFill>
            <a:srgbClr val="F2F5F9"/>
          </a:solidFill>
          <a:ln w="12700">
            <a:solidFill>
              <a:srgbClr val="D5DEEA"/>
            </a:solidFill>
            <a:prstDash val="solid"/>
          </a:ln>
        </p:spPr>
      </p:sp>
      <p:pic>
        <p:nvPicPr>
          <p:cNvPr id="9" name="Image 1" descr="/tmp/claude-0/-home-user-pgs/8689355c-e60c-59e2-8422-64ed5c528138/scratchpad/work/assets/kenya_D.jpg">    </p:cNvPr>
          <p:cNvPicPr>
            <a:picLocks noChangeAspect="1"/>
          </p:cNvPicPr>
          <p:nvPr/>
        </p:nvPicPr>
        <p:blipFill>
          <a:blip r:embed="rId2"/>
          <a:stretch>
            <a:fillRect/>
          </a:stretch>
        </p:blipFill>
        <p:spPr>
          <a:xfrm>
            <a:off x="6464808" y="1572768"/>
            <a:ext cx="5074920" cy="1814415"/>
          </a:xfrm>
          <a:prstGeom prst="rect">
            <a:avLst/>
          </a:prstGeom>
        </p:spPr>
      </p:pic>
      <p:sp>
        <p:nvSpPr>
          <p:cNvPr id="10" name="Text 6"/>
          <p:cNvSpPr txBox="1"/>
          <p:nvPr/>
        </p:nvSpPr>
        <p:spPr>
          <a:xfrm>
            <a:off x="6464808" y="3460335"/>
            <a:ext cx="5074920" cy="310896"/>
          </a:xfrm>
          <a:prstGeom prst="rect">
            <a:avLst/>
          </a:prstGeom>
          <a:noFill/>
          <a:ln/>
        </p:spPr>
        <p:txBody>
          <a:bodyPr wrap="square" lIns="0" tIns="0" rIns="0" bIns="0" rtlCol="0" anchor="ctr"/>
          <a:lstStyle/>
          <a:p>
            <a:pPr indent="0" marL="0">
              <a:buNone/>
            </a:pPr>
            <a:r>
              <a:rPr lang="en-US" sz="1300" b="1" dirty="0">
                <a:solidFill>
                  <a:srgbClr val="5F718C"/>
                </a:solidFill>
                <a:latin typeface="Calibri" pitchFamily="34" charset="0"/>
                <a:ea typeface="Calibri" pitchFamily="34" charset="-122"/>
                <a:cs typeface="Calibri" pitchFamily="34" charset="-120"/>
              </a:rPr>
              <a:t>Recording artefact</a:t>
            </a:r>
            <a:pPr indent="0" marL="0">
              <a:buNone/>
            </a:pPr>
            <a:r>
              <a:rPr lang="en-US" sz="1300" dirty="0">
                <a:solidFill>
                  <a:srgbClr val="5F718C"/>
                </a:solidFill>
                <a:latin typeface="Calibri" pitchFamily="34" charset="0"/>
                <a:ea typeface="Calibri" pitchFamily="34" charset="-122"/>
                <a:cs typeface="Calibri" pitchFamily="34" charset="-120"/>
              </a:rPr>
              <a:t>   ·   score 0.857</a:t>
            </a:r>
            <a:endParaRPr lang="en-US" sz="1300" dirty="0"/>
          </a:p>
        </p:txBody>
      </p:sp>
      <p:sp>
        <p:nvSpPr>
          <p:cNvPr id="11" name="Text 7"/>
          <p:cNvSpPr txBox="1"/>
          <p:nvPr/>
        </p:nvSpPr>
        <p:spPr>
          <a:xfrm>
            <a:off x="640080" y="4027263"/>
            <a:ext cx="10881360" cy="457200"/>
          </a:xfrm>
          <a:prstGeom prst="rect">
            <a:avLst/>
          </a:prstGeom>
          <a:noFill/>
          <a:ln/>
        </p:spPr>
        <p:txBody>
          <a:bodyPr wrap="square" lIns="0" tIns="0" rIns="0" bIns="0" rtlCol="0" anchor="t"/>
          <a:lstStyle/>
          <a:p>
            <a:pPr algn="l" indent="0" marL="0">
              <a:buNone/>
            </a:pPr>
            <a:r>
              <a:rPr lang="en-US" sz="1050" i="1" dirty="0">
                <a:solidFill>
                  <a:srgbClr val="5F718C"/>
                </a:solidFill>
                <a:latin typeface="Calibri" pitchFamily="34" charset="0"/>
                <a:ea typeface="Calibri" pitchFamily="34" charset="-122"/>
                <a:cs typeface="Calibri" pitchFamily="34" charset="-120"/>
              </a:rPr>
              <a:t>Each panel: 1.25 s of context; the cyan band is the 0.25 s window scored by the detector.</a:t>
            </a:r>
            <a:endParaRPr lang="en-US" sz="1050" dirty="0"/>
          </a:p>
        </p:txBody>
      </p:sp>
      <p:sp>
        <p:nvSpPr>
          <p:cNvPr id="12" name="Text 8"/>
          <p:cNvSpPr txBox="1"/>
          <p:nvPr/>
        </p:nvSpPr>
        <p:spPr>
          <a:xfrm>
            <a:off x="640080" y="4389120"/>
            <a:ext cx="3429000" cy="274320"/>
          </a:xfrm>
          <a:prstGeom prst="rect">
            <a:avLst/>
          </a:prstGeom>
          <a:noFill/>
          <a:ln/>
        </p:spPr>
        <p:txBody>
          <a:bodyPr wrap="square" lIns="0" tIns="0" rIns="0" bIns="0" rtlCol="0" anchor="ctr"/>
          <a:lstStyle/>
          <a:p>
            <a:pPr indent="0" marL="0">
              <a:buNone/>
            </a:pPr>
            <a:r>
              <a:rPr lang="en-US" sz="1200" b="1" spc="140" kern="0" dirty="0">
                <a:solidFill>
                  <a:srgbClr val="1E7A70"/>
                </a:solidFill>
                <a:latin typeface="Calibri" pitchFamily="34" charset="0"/>
                <a:ea typeface="Calibri" pitchFamily="34" charset="-122"/>
                <a:cs typeface="Calibri" pitchFamily="34" charset="-120"/>
              </a:rPr>
              <a:t>Environment</a:t>
            </a:r>
            <a:endParaRPr lang="en-US" sz="1200" dirty="0"/>
          </a:p>
        </p:txBody>
      </p:sp>
      <p:sp>
        <p:nvSpPr>
          <p:cNvPr id="13" name="Text 9"/>
          <p:cNvSpPr txBox="1"/>
          <p:nvPr/>
        </p:nvSpPr>
        <p:spPr>
          <a:xfrm>
            <a:off x="640080" y="4700016"/>
            <a:ext cx="3429000" cy="1463040"/>
          </a:xfrm>
          <a:prstGeom prst="rect">
            <a:avLst/>
          </a:prstGeom>
          <a:noFill/>
          <a:ln/>
        </p:spPr>
        <p:txBody>
          <a:bodyPr wrap="square" lIns="0" tIns="0" rIns="0" bIns="0" rtlCol="0" anchor="t"/>
          <a:lstStyle/>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Python 3.12.13</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SciPy 1.18.0</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scikit-learn 1.9.0</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Perch-Hoplite 1.0.1</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perch_v2_cpu (frozen)</a:t>
            </a:r>
            <a:endParaRPr lang="en-US" sz="1100" dirty="0"/>
          </a:p>
        </p:txBody>
      </p:sp>
      <p:sp>
        <p:nvSpPr>
          <p:cNvPr id="14" name="Text 10"/>
          <p:cNvSpPr txBox="1"/>
          <p:nvPr/>
        </p:nvSpPr>
        <p:spPr>
          <a:xfrm>
            <a:off x="4343400" y="4389120"/>
            <a:ext cx="3429000" cy="274320"/>
          </a:xfrm>
          <a:prstGeom prst="rect">
            <a:avLst/>
          </a:prstGeom>
          <a:noFill/>
          <a:ln/>
        </p:spPr>
        <p:txBody>
          <a:bodyPr wrap="square" lIns="0" tIns="0" rIns="0" bIns="0" rtlCol="0" anchor="ctr"/>
          <a:lstStyle/>
          <a:p>
            <a:pPr indent="0" marL="0">
              <a:buNone/>
            </a:pPr>
            <a:r>
              <a:rPr lang="en-US" sz="1200" b="1" spc="140" kern="0" dirty="0">
                <a:solidFill>
                  <a:srgbClr val="1E7A70"/>
                </a:solidFill>
                <a:latin typeface="Calibri" pitchFamily="34" charset="0"/>
                <a:ea typeface="Calibri" pitchFamily="34" charset="-122"/>
                <a:cs typeface="Calibri" pitchFamily="34" charset="-120"/>
              </a:rPr>
              <a:t>Detector</a:t>
            </a:r>
            <a:endParaRPr lang="en-US" sz="1200" dirty="0"/>
          </a:p>
        </p:txBody>
      </p:sp>
      <p:sp>
        <p:nvSpPr>
          <p:cNvPr id="15" name="Text 11"/>
          <p:cNvSpPr txBox="1"/>
          <p:nvPr/>
        </p:nvSpPr>
        <p:spPr>
          <a:xfrm>
            <a:off x="4343400" y="4700016"/>
            <a:ext cx="3429000" cy="1463040"/>
          </a:xfrm>
          <a:prstGeom prst="rect">
            <a:avLst/>
          </a:prstGeom>
          <a:noFill/>
          <a:ln/>
        </p:spPr>
        <p:txBody>
          <a:bodyPr wrap="square" lIns="0" tIns="0" rIns="0" bIns="0" rtlCol="0" anchor="t"/>
          <a:lstStyle/>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StandardScaler, training data only</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Logistic regression, L2 penalty</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C = 1.0, solver lbfgs</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class_weight = balanced</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random_state = 42, max_iter = 1000</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Decision threshold 0.5</a:t>
            </a:r>
            <a:endParaRPr lang="en-US" sz="1100" dirty="0"/>
          </a:p>
        </p:txBody>
      </p:sp>
      <p:sp>
        <p:nvSpPr>
          <p:cNvPr id="16" name="Text 12"/>
          <p:cNvSpPr txBox="1"/>
          <p:nvPr/>
        </p:nvSpPr>
        <p:spPr>
          <a:xfrm>
            <a:off x="8046720" y="4389120"/>
            <a:ext cx="3429000" cy="274320"/>
          </a:xfrm>
          <a:prstGeom prst="rect">
            <a:avLst/>
          </a:prstGeom>
          <a:noFill/>
          <a:ln/>
        </p:spPr>
        <p:txBody>
          <a:bodyPr wrap="square" lIns="0" tIns="0" rIns="0" bIns="0" rtlCol="0" anchor="ctr"/>
          <a:lstStyle/>
          <a:p>
            <a:pPr indent="0" marL="0">
              <a:buNone/>
            </a:pPr>
            <a:r>
              <a:rPr lang="en-US" sz="1200" b="1" spc="140" kern="0" dirty="0">
                <a:solidFill>
                  <a:srgbClr val="1E7A70"/>
                </a:solidFill>
                <a:latin typeface="Calibri" pitchFamily="34" charset="0"/>
                <a:ea typeface="Calibri" pitchFamily="34" charset="-122"/>
                <a:cs typeface="Calibri" pitchFamily="34" charset="-120"/>
              </a:rPr>
              <a:t>Field scoring</a:t>
            </a:r>
            <a:endParaRPr lang="en-US" sz="1200" dirty="0"/>
          </a:p>
        </p:txBody>
      </p:sp>
      <p:sp>
        <p:nvSpPr>
          <p:cNvPr id="17" name="Text 13"/>
          <p:cNvSpPr txBox="1"/>
          <p:nvPr/>
        </p:nvSpPr>
        <p:spPr>
          <a:xfrm>
            <a:off x="8046720" y="4700016"/>
            <a:ext cx="3429000" cy="1463040"/>
          </a:xfrm>
          <a:prstGeom prst="rect">
            <a:avLst/>
          </a:prstGeom>
          <a:noFill/>
          <a:ln/>
        </p:spPr>
        <p:txBody>
          <a:bodyPr wrap="square" lIns="0" tIns="0" rIns="0" bIns="0" rtlCol="0" anchor="t"/>
          <a:lstStyle/>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Every 60 s recording peak-normalised</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0.25 s windows, 0.125 s hop</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479 windows per recording</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564 files → 270,156 windows</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Perch: 384→320 kHz, 80,000 samples</a:t>
            </a:r>
            <a:endParaRPr lang="en-US" sz="1100" dirty="0"/>
          </a:p>
          <a:p>
            <a:pPr indent="0" marL="0">
              <a:lnSpc>
                <a:spcPts val="1500"/>
              </a:lnSpc>
              <a:buNone/>
            </a:pPr>
            <a:r>
              <a:rPr lang="en-US" sz="1100" dirty="0">
                <a:solidFill>
                  <a:srgbClr val="5F718C"/>
                </a:solidFill>
                <a:latin typeface="Calibri" pitchFamily="34" charset="0"/>
                <a:ea typeface="Calibri" pitchFamily="34" charset="-122"/>
                <a:cs typeface="Calibri" pitchFamily="34" charset="-120"/>
              </a:rPr>
              <a:t>read as 2.5 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Time-Expanded Perch Embeddings for Feeding-Buzz Detection</dc:title>
  <dc:subject>PptxGenJS Presentation</dc:subject>
  <dc:creator>Candidate WPNS1</dc:creator>
  <cp:lastModifiedBy>Candidate WPNS1</cp:lastModifiedBy>
  <cp:revision>1</cp:revision>
  <dcterms:created xsi:type="dcterms:W3CDTF">2026-09-01T21:41:28Z</dcterms:created>
  <dcterms:modified xsi:type="dcterms:W3CDTF">2026-09-01T21:41:28Z</dcterms:modified>
</cp:coreProperties>
</file>